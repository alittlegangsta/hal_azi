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57" r:id="rId2"/>
    <p:sldId id="258" r:id="rId3"/>
    <p:sldId id="298" r:id="rId4"/>
    <p:sldId id="267" r:id="rId5"/>
    <p:sldId id="290" r:id="rId6"/>
    <p:sldId id="299" r:id="rId7"/>
    <p:sldId id="300" r:id="rId8"/>
    <p:sldId id="301" r:id="rId9"/>
    <p:sldId id="302" r:id="rId10"/>
    <p:sldId id="303" r:id="rId11"/>
    <p:sldId id="284"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6" userDrawn="1">
          <p15:clr>
            <a:srgbClr val="A4A3A4"/>
          </p15:clr>
        </p15:guide>
        <p15:guide id="2" pos="381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n Xiao" initials="JX" lastIdx="16" clrIdx="0">
    <p:extLst>
      <p:ext uri="{19B8F6BF-5375-455C-9EA6-DF929625EA0E}">
        <p15:presenceInfo xmlns:p15="http://schemas.microsoft.com/office/powerpoint/2012/main" userId="ab175223f3c9ff2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9ECF6"/>
    <a:srgbClr val="4874CB"/>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78" autoAdjust="0"/>
    <p:restoredTop sz="84787" autoAdjust="0"/>
  </p:normalViewPr>
  <p:slideViewPr>
    <p:cSldViewPr snapToGrid="0" showGuides="1">
      <p:cViewPr>
        <p:scale>
          <a:sx n="100" d="100"/>
          <a:sy n="100" d="100"/>
        </p:scale>
        <p:origin x="-12" y="924"/>
      </p:cViewPr>
      <p:guideLst>
        <p:guide orient="horz" pos="2306"/>
        <p:guide pos="381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2025/11/16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Good morning and good evening, everyone. My name is Xiao Jun, and I am a second-year graduate student advised by Professor Wang Hua. It's my pleasure to present the results of my work.</a:t>
            </a:r>
          </a:p>
          <a:p>
            <a:endParaRPr lang="en-US" altLang="zh-CN" dirty="0"/>
          </a:p>
          <a:p>
            <a:r>
              <a:rPr lang="en-US" altLang="zh-CN" dirty="0"/>
              <a:t>The topic of my presentation is</a:t>
            </a:r>
            <a:r>
              <a:rPr lang="en-US" altLang="en-US" dirty="0"/>
              <a:t> </a:t>
            </a:r>
            <a:r>
              <a:rPr lang="en-US" altLang="zh-CN" dirty="0"/>
              <a:t>**An Interpretable Deep Learning Framework for Cement Channeling Detection in Sonic Logging*, with the subtitle:</a:t>
            </a:r>
            <a:r>
              <a:rPr lang="en-US" altLang="en-US" dirty="0"/>
              <a:t> </a:t>
            </a:r>
            <a:r>
              <a:rPr lang="en-US" altLang="zh-CN" dirty="0"/>
              <a:t>**A Case Study in Model Development and Diagnostic Analysis using Wavelet Transforms and Grad-CAM**.</a:t>
            </a:r>
          </a:p>
        </p:txBody>
      </p:sp>
      <p:sp>
        <p:nvSpPr>
          <p:cNvPr id="4" name="灯片编号占位符 3"/>
          <p:cNvSpPr>
            <a:spLocks noGrp="1"/>
          </p:cNvSpPr>
          <p:nvPr>
            <p:ph type="sldNum" sz="quarter" idx="10"/>
          </p:nvPr>
        </p:nvSpPr>
        <p:spPr/>
        <p:txBody>
          <a:bodyPr/>
          <a:lstStyle/>
          <a:p>
            <a:fld id="{3EF1C368-0B20-4F48-9B48-546947436950}"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Today's presentation is divided into three parts. The first part is a review of past work, the second part analyzes the existing problems and proposes solutions, and the third part presents the improvements.</a:t>
            </a:r>
          </a:p>
          <a:p>
            <a:r>
              <a:rPr lang="en-US" altLang="zh-CN" sz="1200" b="0" i="0" kern="1200" dirty="0">
                <a:solidFill>
                  <a:schemeClr val="tx1"/>
                </a:solidFill>
                <a:effectLst/>
                <a:latin typeface="+mn-lt"/>
                <a:ea typeface="+mn-ea"/>
                <a:cs typeface="+mn-cs"/>
              </a:rPr>
              <a:t>Here, I will briefly show the work that needs to be reviewed and the corresponding improvements made to that past work.</a:t>
            </a:r>
          </a:p>
          <a:p>
            <a:r>
              <a:rPr lang="en-US" altLang="zh-CN" sz="1200" b="0" i="0" kern="1200" dirty="0">
                <a:solidFill>
                  <a:schemeClr val="tx1"/>
                </a:solidFill>
                <a:effectLst/>
                <a:latin typeface="+mn-lt"/>
                <a:ea typeface="+mn-ea"/>
                <a:cs typeface="+mn-cs"/>
              </a:rPr>
              <a:t>In all of this work, the most critical aspect is how to match the correspondence between ultrasonic and sonic data. How to maximize the use of ultrasonic data, correctly utilize sonic data, and define the relationship between the two is a very important topic.</a:t>
            </a:r>
          </a:p>
          <a:p>
            <a:r>
              <a:rPr lang="en-US" altLang="zh-CN" sz="1200" b="0" i="0" kern="1200" dirty="0">
                <a:solidFill>
                  <a:schemeClr val="tx1"/>
                </a:solidFill>
                <a:effectLst/>
                <a:latin typeface="+mn-lt"/>
                <a:ea typeface="+mn-ea"/>
                <a:cs typeface="+mn-cs"/>
              </a:rPr>
              <a:t>In the presentation before last, which used the SE-</a:t>
            </a:r>
            <a:r>
              <a:rPr lang="en-US" altLang="zh-CN" sz="1200" b="0" i="0" kern="1200" dirty="0" err="1">
                <a:solidFill>
                  <a:schemeClr val="tx1"/>
                </a:solidFill>
                <a:effectLst/>
                <a:latin typeface="+mn-lt"/>
                <a:ea typeface="+mn-ea"/>
                <a:cs typeface="+mn-cs"/>
              </a:rPr>
              <a:t>ResNet</a:t>
            </a:r>
            <a:r>
              <a:rPr lang="en-US" altLang="zh-CN" sz="1200" b="0" i="0" kern="1200" dirty="0">
                <a:solidFill>
                  <a:schemeClr val="tx1"/>
                </a:solidFill>
                <a:effectLst/>
                <a:latin typeface="+mn-lt"/>
                <a:ea typeface="+mn-ea"/>
                <a:cs typeface="+mn-cs"/>
              </a:rPr>
              <a:t> model, I relied on Relative Bearing data to precisely match the sonic and ultrasonic data with a 45-degree azimuthal resolution. However, the problem was that the Relative Bearing data is unreliable in non-</a:t>
            </a:r>
            <a:r>
              <a:rPr lang="en-US" altLang="zh-CN" sz="1200" b="0" i="0" kern="1200" dirty="0" err="1">
                <a:solidFill>
                  <a:schemeClr val="tx1"/>
                </a:solidFill>
                <a:effectLst/>
                <a:latin typeface="+mn-lt"/>
                <a:ea typeface="+mn-ea"/>
                <a:cs typeface="+mn-cs"/>
              </a:rPr>
              <a:t>eccentered</a:t>
            </a:r>
            <a:r>
              <a:rPr lang="en-US" altLang="zh-CN" sz="1200" b="0" i="0" kern="1200" dirty="0">
                <a:solidFill>
                  <a:schemeClr val="tx1"/>
                </a:solidFill>
                <a:effectLst/>
                <a:latin typeface="+mn-lt"/>
                <a:ea typeface="+mn-ea"/>
                <a:cs typeface="+mn-cs"/>
              </a:rPr>
              <a:t> zones.</a:t>
            </a:r>
          </a:p>
          <a:p>
            <a:r>
              <a:rPr lang="en-US" altLang="zh-CN" sz="1200" b="0" i="0" kern="1200" dirty="0">
                <a:solidFill>
                  <a:schemeClr val="tx1"/>
                </a:solidFill>
                <a:effectLst/>
                <a:latin typeface="+mn-lt"/>
                <a:ea typeface="+mn-ea"/>
                <a:cs typeface="+mn-cs"/>
              </a:rPr>
              <a:t>In the last presentation, which used the EfficientNetV2B0 model, I ended up discarding all angular azimuth information and only retained depth information. This ultimately achieved a relatively ideal result, but the obvious problem was the lack of azimuthal resolution.</a:t>
            </a:r>
          </a:p>
          <a:p>
            <a:r>
              <a:rPr lang="en-US" altLang="zh-CN" sz="1200" b="0" i="0" kern="1200" dirty="0">
                <a:solidFill>
                  <a:schemeClr val="tx1"/>
                </a:solidFill>
                <a:effectLst/>
                <a:latin typeface="+mn-lt"/>
                <a:ea typeface="+mn-ea"/>
                <a:cs typeface="+mn-cs"/>
              </a:rPr>
              <a:t>Therefore, improvements were made to both efforts. For the SE-</a:t>
            </a:r>
            <a:r>
              <a:rPr lang="en-US" altLang="zh-CN" sz="1200" b="0" i="0" kern="1200" dirty="0" err="1">
                <a:solidFill>
                  <a:schemeClr val="tx1"/>
                </a:solidFill>
                <a:effectLst/>
                <a:latin typeface="+mn-lt"/>
                <a:ea typeface="+mn-ea"/>
                <a:cs typeface="+mn-cs"/>
              </a:rPr>
              <a:t>ResNet</a:t>
            </a:r>
            <a:r>
              <a:rPr lang="en-US" altLang="zh-CN" sz="1200" b="0" i="0" kern="1200" dirty="0">
                <a:solidFill>
                  <a:schemeClr val="tx1"/>
                </a:solidFill>
                <a:effectLst/>
                <a:latin typeface="+mn-lt"/>
                <a:ea typeface="+mn-ea"/>
                <a:cs typeface="+mn-cs"/>
              </a:rPr>
              <a:t> model project, data from the </a:t>
            </a:r>
            <a:r>
              <a:rPr lang="en-US" altLang="zh-CN" sz="1200" b="0" i="0" kern="1200" dirty="0" err="1">
                <a:solidFill>
                  <a:schemeClr val="tx1"/>
                </a:solidFill>
                <a:effectLst/>
                <a:latin typeface="+mn-lt"/>
                <a:ea typeface="+mn-ea"/>
                <a:cs typeface="+mn-cs"/>
              </a:rPr>
              <a:t>eccentered</a:t>
            </a:r>
            <a:r>
              <a:rPr lang="en-US" altLang="zh-CN" sz="1200" b="0" i="0" kern="1200" dirty="0">
                <a:solidFill>
                  <a:schemeClr val="tx1"/>
                </a:solidFill>
                <a:effectLst/>
                <a:latin typeface="+mn-lt"/>
                <a:ea typeface="+mn-ea"/>
                <a:cs typeface="+mn-cs"/>
              </a:rPr>
              <a:t> interval was used because the Relative Bearing data is more reliable in that zone, but the results were all poor. For the EfficientNetV2B0 model project, an FFT was applied to the ultrasonic data in the azimuthal direction, retaining structural information while discarding positional information. The final result was relatively ideal.</a:t>
            </a:r>
          </a:p>
          <a:p>
            <a:endParaRPr lang="en-US" altLang="zh-CN"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9F36C68-2B7B-44C1-BFA3-C37E28A7DA0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B5F1C-B4B8-9379-25CB-6F90585615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033CAFD-7C4C-BB44-4190-6B8D6E52E3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8AE145-1592-1609-2D64-9E4285611FC8}"/>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In the presentation before last, using the SE-</a:t>
            </a:r>
            <a:r>
              <a:rPr lang="en-US" altLang="zh-CN" sz="1200" b="0" i="0" kern="1200" dirty="0" err="1">
                <a:solidFill>
                  <a:schemeClr val="tx1"/>
                </a:solidFill>
                <a:effectLst/>
                <a:latin typeface="+mn-lt"/>
                <a:ea typeface="+mn-ea"/>
                <a:cs typeface="+mn-cs"/>
              </a:rPr>
              <a:t>ResNet</a:t>
            </a:r>
            <a:r>
              <a:rPr lang="en-US" altLang="zh-CN" sz="1200" b="0" i="0" kern="1200" dirty="0">
                <a:solidFill>
                  <a:schemeClr val="tx1"/>
                </a:solidFill>
                <a:effectLst/>
                <a:latin typeface="+mn-lt"/>
                <a:ea typeface="+mn-ea"/>
                <a:cs typeface="+mn-cs"/>
              </a:rPr>
              <a:t> model, I defined the geological information reflected by a waveform (from one of the 8 azimuthally distributed receivers of an array at a specific depth point) as a 2D area spanning ±0.25 feet vertically and 45 degrees circumferentially/ˌ</a:t>
            </a:r>
            <a:r>
              <a:rPr lang="en-US" altLang="zh-CN" sz="1200" b="0" i="0" kern="1200" dirty="0" err="1">
                <a:solidFill>
                  <a:schemeClr val="tx1"/>
                </a:solidFill>
                <a:effectLst/>
                <a:latin typeface="+mn-lt"/>
                <a:ea typeface="+mn-ea"/>
                <a:cs typeface="+mn-cs"/>
              </a:rPr>
              <a:t>sɝ</a:t>
            </a:r>
            <a:r>
              <a:rPr lang="en-US" altLang="zh-CN" sz="1200" b="0" i="0" kern="1200" dirty="0">
                <a:solidFill>
                  <a:schemeClr val="tx1"/>
                </a:solidFill>
                <a:effectLst/>
                <a:latin typeface="+mn-lt"/>
                <a:ea typeface="+mn-ea"/>
                <a:cs typeface="+mn-cs"/>
              </a:rPr>
              <a:t>ː.</a:t>
            </a:r>
            <a:r>
              <a:rPr lang="en-US" altLang="zh-CN" sz="1200" b="0" i="0" kern="1200" dirty="0" err="1">
                <a:solidFill>
                  <a:schemeClr val="tx1"/>
                </a:solidFill>
                <a:effectLst/>
                <a:latin typeface="+mn-lt"/>
                <a:ea typeface="+mn-ea"/>
                <a:cs typeface="+mn-cs"/>
              </a:rPr>
              <a:t>kəm.fərˈen.ʃəl</a:t>
            </a:r>
            <a:r>
              <a:rPr lang="en-US" altLang="zh-CN" sz="1200" b="0" i="0" kern="1200" dirty="0">
                <a:solidFill>
                  <a:schemeClr val="tx1"/>
                </a:solidFill>
                <a:effectLst/>
                <a:latin typeface="+mn-lt"/>
                <a:ea typeface="+mn-ea"/>
                <a:cs typeface="+mn-cs"/>
              </a:rPr>
              <a:t>/. Therefore, for the corresponding ultrasonic information, I sampled an identical 2D area and calculated a CSI value as the label. However, in the non-</a:t>
            </a:r>
            <a:r>
              <a:rPr lang="en-US" altLang="zh-CN" sz="1200" b="0" i="0" kern="1200" dirty="0" err="1">
                <a:solidFill>
                  <a:schemeClr val="tx1"/>
                </a:solidFill>
                <a:effectLst/>
                <a:latin typeface="+mn-lt"/>
                <a:ea typeface="+mn-ea"/>
                <a:cs typeface="+mn-cs"/>
              </a:rPr>
              <a:t>eccentered</a:t>
            </a:r>
            <a:r>
              <a:rPr lang="en-US" altLang="zh-CN" sz="1200" b="0" i="0" kern="1200" dirty="0">
                <a:solidFill>
                  <a:schemeClr val="tx1"/>
                </a:solidFill>
                <a:effectLst/>
                <a:latin typeface="+mn-lt"/>
                <a:ea typeface="+mn-ea"/>
                <a:cs typeface="+mn-cs"/>
              </a:rPr>
              <a:t> depth interval, the Relative Bearing value is unreliable, leading to an azimuth mismatch issue, which made the conclusions unreliable.</a:t>
            </a:r>
          </a:p>
          <a:p>
            <a:r>
              <a:rPr lang="en-US" altLang="zh-CN" sz="1200" b="0" i="0" kern="1200" dirty="0">
                <a:solidFill>
                  <a:schemeClr val="tx1"/>
                </a:solidFill>
                <a:effectLst/>
                <a:latin typeface="+mn-lt"/>
                <a:ea typeface="+mn-ea"/>
                <a:cs typeface="+mn-cs"/>
              </a:rPr>
              <a:t>In the last presentation, using the EfficientNetV2B0 model, I defined the geological information reflected by the 8 waveforms from the 8 azimuthally distributed receivers as a 2D area covering the entire reception depth range and 360 degrees. The resulting match discarded all azimuthal information, retaining only depth resolution.</a:t>
            </a:r>
          </a:p>
          <a:p>
            <a:endParaRPr lang="en-US" altLang="zh-CN" dirty="0"/>
          </a:p>
        </p:txBody>
      </p:sp>
      <p:sp>
        <p:nvSpPr>
          <p:cNvPr id="4" name="灯片编号占位符 3">
            <a:extLst>
              <a:ext uri="{FF2B5EF4-FFF2-40B4-BE49-F238E27FC236}">
                <a16:creationId xmlns:a16="http://schemas.microsoft.com/office/drawing/2014/main" id="{01841DD9-B388-BD1D-50FE-FDDBF2ED62E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9F36C68-2B7B-44C1-BFA3-C37E28A7DA0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02485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This page provides a specific demonstration of the problems mentioned earlier.</a:t>
            </a:r>
          </a:p>
          <a:p>
            <a:r>
              <a:rPr lang="en-US" altLang="zh-CN" sz="1200" b="0" i="0" kern="1200" dirty="0">
                <a:solidFill>
                  <a:schemeClr val="tx1"/>
                </a:solidFill>
                <a:effectLst/>
                <a:latin typeface="+mn-lt"/>
                <a:ea typeface="+mn-ea"/>
                <a:cs typeface="+mn-cs"/>
              </a:rPr>
              <a:t>A contradictory situation can be observed: in the </a:t>
            </a:r>
            <a:r>
              <a:rPr lang="en-US" altLang="zh-CN" sz="1200" b="0" i="0" kern="1200" dirty="0" err="1">
                <a:solidFill>
                  <a:schemeClr val="tx1"/>
                </a:solidFill>
                <a:effectLst/>
                <a:latin typeface="+mn-lt"/>
                <a:ea typeface="+mn-ea"/>
                <a:cs typeface="+mn-cs"/>
              </a:rPr>
              <a:t>eccentered</a:t>
            </a:r>
            <a:r>
              <a:rPr lang="en-US" altLang="zh-CN" sz="1200" b="0" i="0" kern="1200" dirty="0">
                <a:solidFill>
                  <a:schemeClr val="tx1"/>
                </a:solidFill>
                <a:effectLst/>
                <a:latin typeface="+mn-lt"/>
                <a:ea typeface="+mn-ea"/>
                <a:cs typeface="+mn-cs"/>
              </a:rPr>
              <a:t> zone, the Rb data is reliable, but the waveform is affected; in the non-</a:t>
            </a:r>
            <a:r>
              <a:rPr lang="en-US" altLang="zh-CN" sz="1200" b="0" i="0" kern="1200" dirty="0" err="1">
                <a:solidFill>
                  <a:schemeClr val="tx1"/>
                </a:solidFill>
                <a:effectLst/>
                <a:latin typeface="+mn-lt"/>
                <a:ea typeface="+mn-ea"/>
                <a:cs typeface="+mn-cs"/>
              </a:rPr>
              <a:t>eccentered</a:t>
            </a:r>
            <a:r>
              <a:rPr lang="en-US" altLang="zh-CN" sz="1200" b="0" i="0" kern="1200" dirty="0">
                <a:solidFill>
                  <a:schemeClr val="tx1"/>
                </a:solidFill>
                <a:effectLst/>
                <a:latin typeface="+mn-lt"/>
                <a:ea typeface="+mn-ea"/>
                <a:cs typeface="+mn-cs"/>
              </a:rPr>
              <a:t> zone, the Rb data is unreliable, but the waveform is good. We can see from the CWT scalograms that in the eccentric zone, there is no obvious difference between the 'Good Bond' and 'Very Poor Bond' cases.</a:t>
            </a:r>
          </a:p>
          <a:p>
            <a:endParaRPr lang="en-US" altLang="zh-CN"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9F36C68-2B7B-44C1-BFA3-C37E28A7DA0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D68D-36D5-2AE3-EF28-5F4355E66D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144892-D05B-1197-2344-925E32F6CEF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C2A1EA6-B46E-9125-B683-A3518C1EA28A}"/>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First, let's look at the first improvement: the dual-channel, hybrid-input model.</a:t>
            </a:r>
          </a:p>
          <a:p>
            <a:r>
              <a:rPr lang="en-US" altLang="zh-CN" sz="1200" b="0" i="0" kern="1200" dirty="0">
                <a:solidFill>
                  <a:schemeClr val="tx1"/>
                </a:solidFill>
                <a:effectLst/>
                <a:latin typeface="+mn-lt"/>
                <a:ea typeface="+mn-ea"/>
                <a:cs typeface="+mn-cs"/>
              </a:rPr>
              <a:t>Given that in the 4200-5600 ft depth range, we simultaneously have 'bad' CWT features and 'good' metadata clues, can we then build a smarter dual-input model that learns on its own how to use the 'good' metadata to 'decouple' or 'correct' the 'bad' CWT features?</a:t>
            </a:r>
          </a:p>
          <a:p>
            <a:r>
              <a:rPr lang="en-US" altLang="zh-CN" sz="1200" b="0" i="0" kern="1200" dirty="0">
                <a:solidFill>
                  <a:schemeClr val="tx1"/>
                </a:solidFill>
                <a:effectLst/>
                <a:latin typeface="+mn-lt"/>
                <a:ea typeface="+mn-ea"/>
                <a:cs typeface="+mn-cs"/>
              </a:rPr>
              <a:t>Azimuth is a cyclical (ˈ</a:t>
            </a:r>
            <a:r>
              <a:rPr lang="en-US" altLang="zh-CN" sz="1200" b="0" i="0" kern="1200" dirty="0" err="1">
                <a:solidFill>
                  <a:schemeClr val="tx1"/>
                </a:solidFill>
                <a:effectLst/>
                <a:latin typeface="+mn-lt"/>
                <a:ea typeface="+mn-ea"/>
                <a:cs typeface="+mn-cs"/>
              </a:rPr>
              <a:t>siklək</a:t>
            </a:r>
            <a:r>
              <a:rPr lang="en-US" altLang="zh-CN" sz="1200" b="0" i="0" kern="1200" dirty="0">
                <a:solidFill>
                  <a:schemeClr val="tx1"/>
                </a:solidFill>
                <a:effectLst/>
                <a:latin typeface="+mn-lt"/>
                <a:ea typeface="+mn-ea"/>
                <a:cs typeface="+mn-cs"/>
              </a:rPr>
              <a:t>(ə)l ) datum (ˈ</a:t>
            </a:r>
            <a:r>
              <a:rPr lang="en-US" altLang="zh-CN" sz="1200" b="0" i="0" kern="1200" dirty="0" err="1">
                <a:solidFill>
                  <a:schemeClr val="tx1"/>
                </a:solidFill>
                <a:effectLst/>
                <a:latin typeface="+mn-lt"/>
                <a:ea typeface="+mn-ea"/>
                <a:cs typeface="+mn-cs"/>
              </a:rPr>
              <a:t>dadəm</a:t>
            </a:r>
            <a:r>
              <a:rPr lang="en-US" altLang="zh-CN" sz="1200" b="0" i="0" kern="1200" dirty="0">
                <a:solidFill>
                  <a:schemeClr val="tx1"/>
                </a:solidFill>
                <a:effectLst/>
                <a:latin typeface="+mn-lt"/>
                <a:ea typeface="+mn-ea"/>
                <a:cs typeface="+mn-cs"/>
              </a:rPr>
              <a:t>). Physically, 359° and 1° are very close (only 2° apart).</a:t>
            </a:r>
          </a:p>
          <a:p>
            <a:r>
              <a:rPr lang="en-US" altLang="zh-CN" sz="1200" b="0" i="0" kern="1200" dirty="0">
                <a:solidFill>
                  <a:schemeClr val="tx1"/>
                </a:solidFill>
                <a:effectLst/>
                <a:latin typeface="+mn-lt"/>
                <a:ea typeface="+mn-ea"/>
                <a:cs typeface="+mn-cs"/>
              </a:rPr>
              <a:t>However, if we just feed the numbers [359, 1] into the model, the model will think they are distinctly different and far apart (359 - 1 = 358). The model cannot understand that 359 'wraps around' back to 0.</a:t>
            </a:r>
          </a:p>
          <a:p>
            <a:r>
              <a:rPr lang="en-US" altLang="zh-CN" sz="1200" b="0" i="0" kern="1200" dirty="0">
                <a:solidFill>
                  <a:schemeClr val="tx1"/>
                </a:solidFill>
                <a:effectLst/>
                <a:latin typeface="+mn-lt"/>
                <a:ea typeface="+mn-ea"/>
                <a:cs typeface="+mn-cs"/>
              </a:rPr>
              <a:t>By converting an angle $\theta$ into sin(theta) and cos(theta), we are mapping this 1D 'ring' onto a 2D 'circle'. Now, in the new (x, y) coordinate system, the points 1° and 359° become mathematically very close.</a:t>
            </a:r>
          </a:p>
          <a:p>
            <a:r>
              <a:rPr lang="en-US" altLang="zh-CN" sz="1200" b="0" i="0" kern="1200" dirty="0">
                <a:solidFill>
                  <a:schemeClr val="tx1"/>
                </a:solidFill>
                <a:effectLst/>
                <a:latin typeface="+mn-lt"/>
                <a:ea typeface="+mn-ea"/>
                <a:cs typeface="+mn-cs"/>
              </a:rPr>
              <a:t>The first input channel is the standard CWT scalogram, and the second input channel is a series of metadata. The features extracted from both branches are then fused before being passed to the output head for prediction.</a:t>
            </a:r>
          </a:p>
          <a:p>
            <a:r>
              <a:rPr lang="en-US" altLang="zh-CN" sz="1200" b="0" i="0" kern="1200" dirty="0">
                <a:solidFill>
                  <a:schemeClr val="tx1"/>
                </a:solidFill>
                <a:effectLst/>
                <a:latin typeface="+mn-lt"/>
                <a:ea typeface="+mn-ea"/>
                <a:cs typeface="+mn-cs"/>
              </a:rPr>
              <a:t>However, the final model failed to learn any effective information; the model was unable to learn anything useful from the 'bad' CWT input features.</a:t>
            </a:r>
            <a:endParaRPr lang="en-US" altLang="zh-CN" dirty="0"/>
          </a:p>
        </p:txBody>
      </p:sp>
      <p:sp>
        <p:nvSpPr>
          <p:cNvPr id="4" name="灯片编号占位符 3">
            <a:extLst>
              <a:ext uri="{FF2B5EF4-FFF2-40B4-BE49-F238E27FC236}">
                <a16:creationId xmlns:a16="http://schemas.microsoft.com/office/drawing/2014/main" id="{CE422FF6-D223-119B-0FB2-401EE7DA9BB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9F36C68-2B7B-44C1-BFA3-C37E28A7DA0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9544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2FA17-96C0-4851-952D-DD97E65E4D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EBFADF-5ED8-75A8-0B06-FB1F65CAFBE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04C63E-156F-2F69-7D07-A395F2786142}"/>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Next is the second improvement: the eccentricity pre-correction model.</a:t>
            </a:r>
          </a:p>
          <a:p>
            <a:r>
              <a:rPr lang="en-US" altLang="zh-CN" sz="1200" b="0" i="0" kern="1200" dirty="0">
                <a:solidFill>
                  <a:schemeClr val="tx1"/>
                </a:solidFill>
                <a:effectLst/>
                <a:latin typeface="+mn-lt"/>
                <a:ea typeface="+mn-ea"/>
                <a:cs typeface="+mn-cs"/>
              </a:rPr>
              <a:t>We no longer rely on the model to 'guess'. Instead, during the preprocessing stage, we first use the 'good' metadata to build an eccentricity correction model. We use this model to 'cleanse' the 'bad' waveform data, and finally, we feed only the 'clean' CWT features into a simple, single-input model.</a:t>
            </a:r>
          </a:p>
          <a:p>
            <a:r>
              <a:rPr lang="en-US" altLang="zh-CN" sz="1200" b="0" i="0" kern="1200" dirty="0">
                <a:solidFill>
                  <a:schemeClr val="tx1"/>
                </a:solidFill>
                <a:effectLst/>
                <a:latin typeface="+mn-lt"/>
                <a:ea typeface="+mn-ea"/>
                <a:cs typeface="+mn-cs"/>
              </a:rPr>
              <a:t>We extract the waveform peak amplitude from all 'perfect bond' samples (CSI &lt; 0.05) as one input, and the previously extracted metadata as another input. We then let the machine learning model, </a:t>
            </a:r>
            <a:r>
              <a:rPr lang="en-US" altLang="zh-CN" sz="1200" b="0" i="0" kern="1200" dirty="0" err="1">
                <a:solidFill>
                  <a:schemeClr val="tx1"/>
                </a:solidFill>
                <a:effectLst/>
                <a:latin typeface="+mn-lt"/>
                <a:ea typeface="+mn-ea"/>
                <a:cs typeface="+mn-cs"/>
              </a:rPr>
              <a:t>GradientBoostingRegressor</a:t>
            </a:r>
            <a:r>
              <a:rPr lang="en-US" altLang="zh-CN" sz="1200" b="0" i="0" kern="1200" dirty="0">
                <a:solidFill>
                  <a:schemeClr val="tx1"/>
                </a:solidFill>
                <a:effectLst/>
                <a:latin typeface="+mn-lt"/>
                <a:ea typeface="+mn-ea"/>
                <a:cs typeface="+mn-cs"/>
              </a:rPr>
              <a:t>, fit the $\epsilon$-function (epsilon function) caused by the eccentricity effects, and use this $\epsilon$-function to correct all other waveforms.</a:t>
            </a:r>
          </a:p>
          <a:p>
            <a:r>
              <a:rPr lang="en-US" altLang="zh-CN" sz="1200" b="0" i="0" kern="1200" dirty="0">
                <a:solidFill>
                  <a:schemeClr val="tx1"/>
                </a:solidFill>
                <a:effectLst/>
                <a:latin typeface="+mn-lt"/>
                <a:ea typeface="+mn-ea"/>
                <a:cs typeface="+mn-cs"/>
              </a:rPr>
              <a:t>The model is able to learn, but its performance is very poor. This proves that our correction model itself is not sophisticated enough (or 'is insufficient') and cannot completely 'wash away' (or 'remove') all of the contamination.</a:t>
            </a:r>
          </a:p>
          <a:p>
            <a:endParaRPr lang="en-US" altLang="zh-CN" dirty="0"/>
          </a:p>
        </p:txBody>
      </p:sp>
      <p:sp>
        <p:nvSpPr>
          <p:cNvPr id="4" name="灯片编号占位符 3">
            <a:extLst>
              <a:ext uri="{FF2B5EF4-FFF2-40B4-BE49-F238E27FC236}">
                <a16:creationId xmlns:a16="http://schemas.microsoft.com/office/drawing/2014/main" id="{176CFBA7-3544-C3C2-E8E8-C149D80FF6B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9F36C68-2B7B-44C1-BFA3-C37E28A7DA0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0430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EE23B-6F9A-1AD5-AF8A-B2048CFFB3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9DAF4F-521E-4CDC-77C2-5345B67745A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B00000-23D8-3524-44C5-2C5EC28951B9}"/>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For the project in the non-</a:t>
            </a:r>
            <a:r>
              <a:rPr lang="en-US" altLang="zh-CN" sz="1200" b="0" i="0" kern="1200" dirty="0" err="1">
                <a:solidFill>
                  <a:schemeClr val="tx1"/>
                </a:solidFill>
                <a:effectLst/>
                <a:latin typeface="+mn-lt"/>
                <a:ea typeface="+mn-ea"/>
                <a:cs typeface="+mn-cs"/>
              </a:rPr>
              <a:t>eccentered</a:t>
            </a:r>
            <a:r>
              <a:rPr lang="en-US" altLang="zh-CN" sz="1200" b="0" i="0" kern="1200" dirty="0">
                <a:solidFill>
                  <a:schemeClr val="tx1"/>
                </a:solidFill>
                <a:effectLst/>
                <a:latin typeface="+mn-lt"/>
                <a:ea typeface="+mn-ea"/>
                <a:cs typeface="+mn-cs"/>
              </a:rPr>
              <a:t> zone, the following preprocessing improvements were made first.</a:t>
            </a:r>
          </a:p>
          <a:p>
            <a:r>
              <a:rPr lang="en-US" altLang="zh-CN" sz="1200" b="0" i="0" kern="1200" dirty="0">
                <a:solidFill>
                  <a:schemeClr val="tx1"/>
                </a:solidFill>
                <a:effectLst/>
                <a:latin typeface="+mn-lt"/>
                <a:ea typeface="+mn-ea"/>
                <a:cs typeface="+mn-cs"/>
              </a:rPr>
              <a:t>For the 2D slice corresponding to the 8 azimuthally distributed receivers (covering 360 degrees) and their corresponding send-receive depth interval, we first apply the severity transformation to the ultrasonic data: points with acoustic impedance (</a:t>
            </a:r>
            <a:r>
              <a:rPr lang="en-US" altLang="zh-CN" sz="1200" b="0" i="0" kern="1200" dirty="0" err="1">
                <a:solidFill>
                  <a:schemeClr val="tx1"/>
                </a:solidFill>
                <a:effectLst/>
                <a:latin typeface="+mn-lt"/>
                <a:ea typeface="+mn-ea"/>
                <a:cs typeface="+mn-cs"/>
              </a:rPr>
              <a:t>Zc</a:t>
            </a:r>
            <a:r>
              <a:rPr lang="en-US" altLang="zh-CN" sz="1200" b="0" i="0" kern="1200" dirty="0">
                <a:solidFill>
                  <a:schemeClr val="tx1"/>
                </a:solidFill>
                <a:effectLst/>
                <a:latin typeface="+mn-lt"/>
                <a:ea typeface="+mn-ea"/>
                <a:cs typeface="+mn-cs"/>
              </a:rPr>
              <a:t>) greater than 2.5 are uniformly set to 0, while values less than 2.5, like 2.3, become 0.2 (i.e., Severity(</a:t>
            </a:r>
            <a:r>
              <a:rPr lang="en-US" altLang="zh-CN" sz="1200" b="0" i="0" kern="1200" dirty="0" err="1">
                <a:solidFill>
                  <a:schemeClr val="tx1"/>
                </a:solidFill>
                <a:effectLst/>
                <a:latin typeface="+mn-lt"/>
                <a:ea typeface="+mn-ea"/>
                <a:cs typeface="+mn-cs"/>
              </a:rPr>
              <a:t>Zc</a:t>
            </a:r>
            <a:r>
              <a:rPr lang="en-US" altLang="zh-CN" sz="1200" b="0" i="0" kern="1200" dirty="0">
                <a:solidFill>
                  <a:schemeClr val="tx1"/>
                </a:solidFill>
                <a:effectLst/>
                <a:latin typeface="+mn-lt"/>
                <a:ea typeface="+mn-ea"/>
                <a:cs typeface="+mn-cs"/>
              </a:rPr>
              <a:t>) = max(0, 2.5 - </a:t>
            </a:r>
            <a:r>
              <a:rPr lang="en-US" altLang="zh-CN" sz="1200" b="0" i="0" kern="1200" dirty="0" err="1">
                <a:solidFill>
                  <a:schemeClr val="tx1"/>
                </a:solidFill>
                <a:effectLst/>
                <a:latin typeface="+mn-lt"/>
                <a:ea typeface="+mn-ea"/>
                <a:cs typeface="+mn-cs"/>
              </a:rPr>
              <a:t>Zc</a:t>
            </a:r>
            <a:r>
              <a:rPr lang="en-US" altLang="zh-CN" sz="1200" b="0" i="0" kern="1200" dirty="0">
                <a:solidFill>
                  <a:schemeClr val="tx1"/>
                </a:solidFill>
                <a:effectLst/>
                <a:latin typeface="+mn-lt"/>
                <a:ea typeface="+mn-ea"/>
                <a:cs typeface="+mn-cs"/>
              </a:rPr>
              <a:t>)).</a:t>
            </a:r>
          </a:p>
          <a:p>
            <a:r>
              <a:rPr lang="en-US" altLang="zh-CN" sz="1200" b="0" i="0" kern="1200" dirty="0">
                <a:solidFill>
                  <a:schemeClr val="tx1"/>
                </a:solidFill>
                <a:effectLst/>
                <a:latin typeface="+mn-lt"/>
                <a:ea typeface="+mn-ea"/>
                <a:cs typeface="+mn-cs"/>
              </a:rPr>
              <a:t>Afterward, we apply an FFT to the ultrasonic data in the azimuthal direction to get the FFT coefficients and then apply a log transform to them.</a:t>
            </a:r>
          </a:p>
          <a:p>
            <a:r>
              <a:rPr lang="en-US" altLang="zh-CN" sz="1200" b="0" i="0" kern="1200" dirty="0">
                <a:solidFill>
                  <a:schemeClr val="tx1"/>
                </a:solidFill>
                <a:effectLst/>
                <a:latin typeface="+mn-lt"/>
                <a:ea typeface="+mn-ea"/>
                <a:cs typeface="+mn-cs"/>
              </a:rPr>
              <a:t>Finally, we keep the magnitude and discard the phase information; that is, we retain the structural information in the azimuth while discarding the positional information.</a:t>
            </a:r>
          </a:p>
          <a:p>
            <a:r>
              <a:rPr lang="en-US" altLang="zh-CN" sz="1200" b="0" i="0" kern="1200" dirty="0">
                <a:solidFill>
                  <a:schemeClr val="tx1"/>
                </a:solidFill>
                <a:effectLst/>
                <a:latin typeface="+mn-lt"/>
                <a:ea typeface="+mn-ea"/>
                <a:cs typeface="+mn-cs"/>
              </a:rPr>
              <a:t>The resulting FFT labels are shown in the figure below. The vertical axis is depth, and the horizontal axis is the FFT coefficients.</a:t>
            </a:r>
          </a:p>
          <a:p>
            <a:endParaRPr lang="en-US" altLang="zh-CN" dirty="0"/>
          </a:p>
        </p:txBody>
      </p:sp>
      <p:sp>
        <p:nvSpPr>
          <p:cNvPr id="4" name="灯片编号占位符 3">
            <a:extLst>
              <a:ext uri="{FF2B5EF4-FFF2-40B4-BE49-F238E27FC236}">
                <a16:creationId xmlns:a16="http://schemas.microsoft.com/office/drawing/2014/main" id="{96268F42-5C14-CCEE-40A3-13AADF864BA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9F36C68-2B7B-44C1-BFA3-C37E28A7DA0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884950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4096B-E8D0-55B2-157A-844BB73534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BFA436A-B8E6-96D5-29F0-FC0BF31D35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CCB7D3-9ED5-789B-626C-23E553838053}"/>
              </a:ext>
            </a:extLst>
          </p:cNvPr>
          <p:cNvSpPr>
            <a:spLocks noGrp="1"/>
          </p:cNvSpPr>
          <p:nvPr>
            <p:ph type="body" idx="1"/>
          </p:nvPr>
        </p:nvSpPr>
        <p:spPr/>
        <p:txBody>
          <a:bodyPr/>
          <a:lstStyle/>
          <a:p>
            <a:r>
              <a:rPr lang="en-US" altLang="zh-CN" dirty="0"/>
              <a:t>Then, the CWT scalograms (as input) and the FFT-transformed labels (as target) are fed into the </a:t>
            </a:r>
            <a:r>
              <a:rPr lang="en-US" altLang="zh-CN" dirty="0" err="1"/>
              <a:t>EfficientNet</a:t>
            </a:r>
            <a:r>
              <a:rPr lang="en-US" altLang="zh-CN" dirty="0"/>
              <a:t> model used in the last presentation, which, after a regression head, outputs the corresponding prediction.</a:t>
            </a:r>
          </a:p>
        </p:txBody>
      </p:sp>
      <p:sp>
        <p:nvSpPr>
          <p:cNvPr id="4" name="灯片编号占位符 3">
            <a:extLst>
              <a:ext uri="{FF2B5EF4-FFF2-40B4-BE49-F238E27FC236}">
                <a16:creationId xmlns:a16="http://schemas.microsoft.com/office/drawing/2014/main" id="{8DA84746-D0E8-5935-D96B-CB0D8CC6533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9F36C68-2B7B-44C1-BFA3-C37E28A7DA0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94243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4533D-A35B-E8B4-C3E4-E6F505E100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D19005-55AB-40ED-CE6B-81ECD313F0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309001F-9479-26F4-04C8-DD775E9C4674}"/>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The first chart is a scatter plot evaluating the overall model performance. As you can see, the result is as before: the model's prediction performance is good for good cement bonding; however, the worse the cementing condition, the worse the model's prediction performance.</a:t>
            </a:r>
          </a:p>
          <a:p>
            <a:r>
              <a:rPr lang="en-US" altLang="zh-CN" sz="1200" b="0" i="0" kern="1200" dirty="0">
                <a:solidFill>
                  <a:schemeClr val="tx1"/>
                </a:solidFill>
                <a:effectLst/>
                <a:latin typeface="+mn-lt"/>
                <a:ea typeface="+mn-ea"/>
                <a:cs typeface="+mn-cs"/>
              </a:rPr>
              <a:t>The second chart is a curve plot of the average severity vs. depth. The blue curve is the ground truth, and the red curve is the prediction. It can be seen that the result is quite good, providing a relatively close prediction in most intervals.</a:t>
            </a:r>
          </a:p>
          <a:p>
            <a:r>
              <a:rPr lang="en-US" altLang="zh-CN" sz="1200" b="0" i="0" kern="1200" dirty="0">
                <a:solidFill>
                  <a:schemeClr val="tx1"/>
                </a:solidFill>
                <a:effectLst/>
                <a:latin typeface="+mn-lt"/>
                <a:ea typeface="+mn-ea"/>
                <a:cs typeface="+mn-cs"/>
              </a:rPr>
              <a:t>The third chart shows, from left to right, the FFT coefficient maps for the ground truth, the prediction, and the difference between the two (error).</a:t>
            </a:r>
          </a:p>
          <a:p>
            <a:endParaRPr lang="en-US" altLang="zh-CN" dirty="0"/>
          </a:p>
        </p:txBody>
      </p:sp>
      <p:sp>
        <p:nvSpPr>
          <p:cNvPr id="4" name="灯片编号占位符 3">
            <a:extLst>
              <a:ext uri="{FF2B5EF4-FFF2-40B4-BE49-F238E27FC236}">
                <a16:creationId xmlns:a16="http://schemas.microsoft.com/office/drawing/2014/main" id="{089F110B-1BED-6561-F5BD-F0D7C32149E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9F36C68-2B7B-44C1-BFA3-C37E28A7DA0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48228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C994A-0D76-04AA-2FBF-11954C88B8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64F0EE-D654-DF57-F0E5-D0C01A2A2D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EBB3721-79AB-54AF-1828-E5952D32B24F}"/>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This time, regardless of the cementing condition, the model's high-attention regions are consistently located on the time-frequency features between 0.5ms-1ms and 20-23kHz. As a next step, we can apply high-resolution filtering to individual samples based on their specific high-attention regions, in order to observe which wave is critical for the model's channeling assessment.</a:t>
            </a:r>
            <a:endParaRPr lang="en-US" altLang="zh-CN" dirty="0"/>
          </a:p>
        </p:txBody>
      </p:sp>
      <p:sp>
        <p:nvSpPr>
          <p:cNvPr id="4" name="灯片编号占位符 3">
            <a:extLst>
              <a:ext uri="{FF2B5EF4-FFF2-40B4-BE49-F238E27FC236}">
                <a16:creationId xmlns:a16="http://schemas.microsoft.com/office/drawing/2014/main" id="{778C1190-48DB-18D0-5B84-7213F96836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9F36C68-2B7B-44C1-BFA3-C37E28A7DA0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05903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Thank you all for your time. Any questions?</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2025/11/16</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2025/11/16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2025/11/16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2025/11/16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2025/11/16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2025/11/16</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2025/11/16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2025/11/16</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7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7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7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7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8.sv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5.sv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img1.baidu.com/it/u=2173176014,2019548800&amp;fm=253&amp;fmt=auto&amp;app=138&amp;f=JPEG?w=500&amp;h=376"/>
          <p:cNvPicPr>
            <a:picLocks noChangeAspect="1" noChangeArrowheads="1"/>
          </p:cNvPicPr>
          <p:nvPr/>
        </p:nvPicPr>
        <p:blipFill rotWithShape="1">
          <a:blip r:embed="rId3">
            <a:extLst>
              <a:ext uri="{28A0092B-C50C-407E-A947-70E740481C1C}">
                <a14:useLocalDpi xmlns:a14="http://schemas.microsoft.com/office/drawing/2010/main" val="0"/>
              </a:ext>
            </a:extLst>
          </a:blip>
          <a:srcRect l="10813" t="43901" r="9187" b="46454"/>
          <a:stretch>
            <a:fillRect/>
          </a:stretch>
        </p:blipFill>
        <p:spPr bwMode="auto">
          <a:xfrm>
            <a:off x="8152874" y="64503"/>
            <a:ext cx="3810001" cy="56860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s://img2.baidu.com/it/u=517451520,836587309&amp;fm=253&amp;fmt=auto&amp;app=138&amp;f=JPEG?w=681&amp;h=389"/>
          <p:cNvPicPr>
            <a:picLocks noChangeAspect="1" noChangeArrowheads="1"/>
          </p:cNvPicPr>
          <p:nvPr/>
        </p:nvPicPr>
        <p:blipFill rotWithShape="1">
          <a:blip r:embed="rId4">
            <a:extLst>
              <a:ext uri="{28A0092B-C50C-407E-A947-70E740481C1C}">
                <a14:useLocalDpi xmlns:a14="http://schemas.microsoft.com/office/drawing/2010/main" val="0"/>
              </a:ext>
            </a:extLst>
          </a:blip>
          <a:srcRect l="157" t="30624" r="-157" b="28793"/>
          <a:stretch>
            <a:fillRect/>
          </a:stretch>
        </p:blipFill>
        <p:spPr bwMode="auto">
          <a:xfrm>
            <a:off x="0" y="64503"/>
            <a:ext cx="2974340" cy="689499"/>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426720" y="1393825"/>
            <a:ext cx="11643360" cy="769441"/>
          </a:xfrm>
          <a:prstGeom prst="rect">
            <a:avLst/>
          </a:prstGeom>
          <a:noFill/>
        </p:spPr>
        <p:txBody>
          <a:bodyPr wrap="square" rtlCol="0">
            <a:spAutoFit/>
          </a:bodyPr>
          <a:lstStyle/>
          <a:p>
            <a:r>
              <a:rPr lang="en-US" altLang="zh-CN" sz="4400" b="1" dirty="0">
                <a:latin typeface="Times New Roman" panose="02020603050405020304" pitchFamily="18" charset="0"/>
                <a:cs typeface="Times New Roman" panose="02020603050405020304" pitchFamily="18" charset="0"/>
              </a:rPr>
              <a:t>Azimuthal barrier evaluation based on XSI tool</a:t>
            </a:r>
            <a:endParaRPr lang="zh-CN" altLang="en-US" sz="4400" b="1" dirty="0">
              <a:latin typeface="Times New Roman" panose="02020603050405020304" pitchFamily="18" charset="0"/>
              <a:cs typeface="Times New Roman" panose="02020603050405020304" pitchFamily="18" charset="0"/>
            </a:endParaRPr>
          </a:p>
        </p:txBody>
      </p:sp>
      <p:sp>
        <p:nvSpPr>
          <p:cNvPr id="7" name="文本框 6"/>
          <p:cNvSpPr txBox="1"/>
          <p:nvPr/>
        </p:nvSpPr>
        <p:spPr>
          <a:xfrm>
            <a:off x="2974340" y="4186555"/>
            <a:ext cx="6573520" cy="460375"/>
          </a:xfrm>
          <a:prstGeom prst="rect">
            <a:avLst/>
          </a:prstGeom>
          <a:noFill/>
        </p:spPr>
        <p:txBody>
          <a:bodyPr wrap="square" rtlCol="0">
            <a:spAutoFit/>
          </a:bodyPr>
          <a:lstStyle/>
          <a:p>
            <a:r>
              <a:rPr lang="en-US" altLang="zh-CN" sz="2400" dirty="0">
                <a:latin typeface="微软雅黑" charset="-122"/>
                <a:ea typeface="微软雅黑" charset="-122"/>
                <a:sym typeface="+mn-ea"/>
              </a:rPr>
              <a:t>Jun Xiao</a:t>
            </a:r>
            <a:r>
              <a:rPr lang="zh-CN" altLang="en-US" sz="2400" dirty="0">
                <a:latin typeface="微软雅黑" charset="-122"/>
                <a:ea typeface="微软雅黑" charset="-122"/>
                <a:sym typeface="+mn-ea"/>
              </a:rPr>
              <a:t>，</a:t>
            </a:r>
            <a:r>
              <a:rPr lang="en-US" altLang="zh-CN" sz="2400" dirty="0">
                <a:latin typeface="微软雅黑" charset="-122"/>
                <a:ea typeface="微软雅黑" charset="-122"/>
                <a:sym typeface="+mn-ea"/>
              </a:rPr>
              <a:t>Qizhi Bi</a:t>
            </a:r>
            <a:r>
              <a:rPr lang="zh-CN" altLang="en-US" sz="2400" dirty="0">
                <a:latin typeface="微软雅黑" charset="-122"/>
                <a:ea typeface="微软雅黑" charset="-122"/>
                <a:sym typeface="+mn-ea"/>
              </a:rPr>
              <a:t>，</a:t>
            </a:r>
            <a:r>
              <a:rPr lang="en-US" altLang="zh-CN" sz="2400" dirty="0">
                <a:latin typeface="微软雅黑" charset="-122"/>
                <a:ea typeface="微软雅黑" charset="-122"/>
                <a:sym typeface="+mn-ea"/>
              </a:rPr>
              <a:t>Hua Wang</a:t>
            </a:r>
            <a:r>
              <a:rPr lang="zh-CN" altLang="en-US" sz="2400" dirty="0">
                <a:latin typeface="微软雅黑" charset="-122"/>
                <a:ea typeface="微软雅黑" charset="-122"/>
                <a:sym typeface="+mn-ea"/>
              </a:rPr>
              <a:t>，</a:t>
            </a:r>
            <a:r>
              <a:rPr lang="en-US" altLang="zh-CN" sz="2400" dirty="0">
                <a:latin typeface="微软雅黑" charset="-122"/>
                <a:ea typeface="微软雅黑" charset="-122"/>
              </a:rPr>
              <a:t>Yunjia Ji, </a:t>
            </a:r>
            <a:endParaRPr lang="zh-CN" altLang="en-US" sz="2400" dirty="0">
              <a:latin typeface="微软雅黑" charset="-122"/>
              <a:ea typeface="微软雅黑" charset="-122"/>
            </a:endParaRPr>
          </a:p>
        </p:txBody>
      </p:sp>
      <p:sp>
        <p:nvSpPr>
          <p:cNvPr id="8" name="文本框 7"/>
          <p:cNvSpPr txBox="1"/>
          <p:nvPr/>
        </p:nvSpPr>
        <p:spPr>
          <a:xfrm>
            <a:off x="2028355" y="4790493"/>
            <a:ext cx="8240393" cy="369332"/>
          </a:xfrm>
          <a:prstGeom prst="rect">
            <a:avLst/>
          </a:prstGeom>
          <a:noFill/>
        </p:spPr>
        <p:txBody>
          <a:bodyPr wrap="square" rtlCol="0">
            <a:spAutoFit/>
          </a:bodyPr>
          <a:lstStyle/>
          <a:p>
            <a:pPr algn="ctr"/>
            <a:r>
              <a:rPr lang="en-US" altLang="zh-CN" dirty="0">
                <a:latin typeface="微软雅黑" charset="-122"/>
                <a:ea typeface="微软雅黑" charset="-122"/>
              </a:rPr>
              <a:t>UESTC acoustic information intelligent perception and imaging team</a:t>
            </a:r>
            <a:endParaRPr lang="zh-CN" altLang="en-US" dirty="0">
              <a:latin typeface="微软雅黑" charset="-122"/>
              <a:ea typeface="微软雅黑" charset="-122"/>
            </a:endParaRPr>
          </a:p>
        </p:txBody>
      </p:sp>
      <p:sp>
        <p:nvSpPr>
          <p:cNvPr id="9" name="文本框 8"/>
          <p:cNvSpPr txBox="1"/>
          <p:nvPr/>
        </p:nvSpPr>
        <p:spPr>
          <a:xfrm>
            <a:off x="4965700" y="5401310"/>
            <a:ext cx="3105958" cy="52322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November 18, 2025</a:t>
            </a:r>
            <a:endParaRPr lang="zh-CN" altLang="en-US" sz="2800" b="1"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1706245" y="2225675"/>
            <a:ext cx="6791325" cy="368300"/>
          </a:xfrm>
          <a:prstGeom prst="rect">
            <a:avLst/>
          </a:prstGeom>
          <a:noFill/>
        </p:spPr>
        <p:txBody>
          <a:bodyPr wrap="square" rtlCol="0">
            <a:spAutoFit/>
          </a:bodyPr>
          <a:lstStyle/>
          <a:p>
            <a:endParaRPr lang="zh-CN" altLang="en-US"/>
          </a:p>
        </p:txBody>
      </p:sp>
      <p:sp>
        <p:nvSpPr>
          <p:cNvPr id="3" name="文本框 2"/>
          <p:cNvSpPr txBox="1"/>
          <p:nvPr/>
        </p:nvSpPr>
        <p:spPr>
          <a:xfrm>
            <a:off x="1367155" y="2155825"/>
            <a:ext cx="9639935" cy="829945"/>
          </a:xfrm>
          <a:prstGeom prst="rect">
            <a:avLst/>
          </a:prstGeom>
          <a:noFill/>
        </p:spPr>
        <p:txBody>
          <a:bodyPr wrap="square" rtlCol="0">
            <a:spAutoFit/>
          </a:bodyPr>
          <a:lstStyle/>
          <a:p>
            <a:pPr algn="ctr"/>
            <a:r>
              <a:rPr lang="en-US" altLang="zh-CN" sz="2400" dirty="0">
                <a:latin typeface="Times New Roman Regular" panose="02020603050405020304" charset="0"/>
                <a:cs typeface="Times New Roman Regular" panose="02020603050405020304" charset="0"/>
              </a:rPr>
              <a:t> An Interpretable Deep Learning Framework for Cement Channeling Detection in Sonic Logging</a:t>
            </a:r>
          </a:p>
        </p:txBody>
      </p:sp>
      <p:sp>
        <p:nvSpPr>
          <p:cNvPr id="10" name="文本框 9"/>
          <p:cNvSpPr txBox="1"/>
          <p:nvPr/>
        </p:nvSpPr>
        <p:spPr>
          <a:xfrm>
            <a:off x="1367155" y="3061970"/>
            <a:ext cx="9639935" cy="706755"/>
          </a:xfrm>
          <a:prstGeom prst="rect">
            <a:avLst/>
          </a:prstGeom>
          <a:noFill/>
        </p:spPr>
        <p:txBody>
          <a:bodyPr wrap="square" rtlCol="0">
            <a:spAutoFit/>
          </a:bodyPr>
          <a:lstStyle/>
          <a:p>
            <a:pPr algn="ctr"/>
            <a:r>
              <a:rPr lang="en-US" altLang="zh-CN" sz="2000" dirty="0">
                <a:latin typeface="Times New Roman Regular" panose="02020603050405020304" charset="0"/>
                <a:cs typeface="Times New Roman Regular" panose="02020603050405020304" charset="0"/>
              </a:rPr>
              <a:t>A Case Study in Model Development and Diagnostic Analysis </a:t>
            </a:r>
            <a:br>
              <a:rPr lang="en-US" altLang="zh-CN" sz="2000" dirty="0">
                <a:latin typeface="Times New Roman Regular" panose="02020603050405020304" charset="0"/>
                <a:cs typeface="Times New Roman Regular" panose="02020603050405020304" charset="0"/>
              </a:rPr>
            </a:br>
            <a:r>
              <a:rPr lang="en-US" altLang="zh-CN" sz="2000" dirty="0">
                <a:latin typeface="Times New Roman Regular" panose="02020603050405020304" charset="0"/>
                <a:cs typeface="Times New Roman Regular" panose="02020603050405020304" charset="0"/>
              </a:rPr>
              <a:t>using Wavelet Transforms and Grad-CAM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2D696AF1-D82B-D775-BA53-27AC26186A6C}"/>
              </a:ext>
            </a:extLst>
          </p:cNvPr>
          <p:cNvGraphicFramePr>
            <a:graphicFrameLocks noGrp="1"/>
          </p:cNvGraphicFramePr>
          <p:nvPr>
            <p:extLst>
              <p:ext uri="{D42A27DB-BD31-4B8C-83A1-F6EECF244321}">
                <p14:modId xmlns:p14="http://schemas.microsoft.com/office/powerpoint/2010/main" val="2037370556"/>
              </p:ext>
            </p:extLst>
          </p:nvPr>
        </p:nvGraphicFramePr>
        <p:xfrm>
          <a:off x="0" y="4"/>
          <a:ext cx="12192002" cy="6857997"/>
        </p:xfrm>
        <a:graphic>
          <a:graphicData uri="http://schemas.openxmlformats.org/drawingml/2006/table">
            <a:tbl>
              <a:tblPr firstRow="1" bandRow="1">
                <a:tableStyleId>{5C22544A-7EE6-4342-B048-85BDC9FD1C3A}</a:tableStyleId>
              </a:tblPr>
              <a:tblGrid>
                <a:gridCol w="1743075">
                  <a:extLst>
                    <a:ext uri="{9D8B030D-6E8A-4147-A177-3AD203B41FA5}">
                      <a16:colId xmlns:a16="http://schemas.microsoft.com/office/drawing/2014/main" val="4091592346"/>
                    </a:ext>
                  </a:extLst>
                </a:gridCol>
                <a:gridCol w="1733550">
                  <a:extLst>
                    <a:ext uri="{9D8B030D-6E8A-4147-A177-3AD203B41FA5}">
                      <a16:colId xmlns:a16="http://schemas.microsoft.com/office/drawing/2014/main" val="1018512722"/>
                    </a:ext>
                  </a:extLst>
                </a:gridCol>
                <a:gridCol w="6305550">
                  <a:extLst>
                    <a:ext uri="{9D8B030D-6E8A-4147-A177-3AD203B41FA5}">
                      <a16:colId xmlns:a16="http://schemas.microsoft.com/office/drawing/2014/main" val="401428023"/>
                    </a:ext>
                  </a:extLst>
                </a:gridCol>
                <a:gridCol w="2409827">
                  <a:extLst>
                    <a:ext uri="{9D8B030D-6E8A-4147-A177-3AD203B41FA5}">
                      <a16:colId xmlns:a16="http://schemas.microsoft.com/office/drawing/2014/main" val="173391456"/>
                    </a:ext>
                  </a:extLst>
                </a:gridCol>
              </a:tblGrid>
              <a:tr h="468300">
                <a:tc>
                  <a:txBody>
                    <a:bodyPr/>
                    <a:lstStyle/>
                    <a:p>
                      <a:pPr algn="ctr"/>
                      <a:r>
                        <a:rPr lang="en-US" altLang="zh-CN" baseline="0" dirty="0">
                          <a:latin typeface="Times New Roman" panose="02020603050405020304" pitchFamily="18" charset="0"/>
                        </a:rPr>
                        <a:t>Review</a:t>
                      </a:r>
                      <a:endParaRPr lang="zh-CN" altLang="en-US" baseline="0" dirty="0">
                        <a:latin typeface="Times New Roman" panose="02020603050405020304" pitchFamily="18" charset="0"/>
                      </a:endParaRPr>
                    </a:p>
                  </a:txBody>
                  <a:tcPr marL="0" marR="0" marT="0" marB="0" anchor="ctr"/>
                </a:tc>
                <a:tc>
                  <a:txBody>
                    <a:bodyPr/>
                    <a:lstStyle/>
                    <a:p>
                      <a:pPr algn="ctr"/>
                      <a:r>
                        <a:rPr lang="en-US" altLang="zh-CN" baseline="0" dirty="0">
                          <a:latin typeface="Times New Roman" panose="02020603050405020304" pitchFamily="18" charset="0"/>
                        </a:rPr>
                        <a:t>Model</a:t>
                      </a:r>
                      <a:endParaRPr lang="zh-CN" altLang="en-US" baseline="0" dirty="0">
                        <a:latin typeface="Times New Roman" panose="02020603050405020304" pitchFamily="18" charset="0"/>
                      </a:endParaRPr>
                    </a:p>
                  </a:txBody>
                  <a:tcPr marL="0" marR="0" marT="0" marB="0" anchor="ctr"/>
                </a:tc>
                <a:tc>
                  <a:txBody>
                    <a:bodyPr/>
                    <a:lstStyle/>
                    <a:p>
                      <a:pPr algn="ctr"/>
                      <a:r>
                        <a:rPr lang="en-US" altLang="zh-CN" baseline="0" dirty="0">
                          <a:latin typeface="Times New Roman" panose="02020603050405020304" pitchFamily="18" charset="0"/>
                        </a:rPr>
                        <a:t>Correspondence</a:t>
                      </a:r>
                      <a:endParaRPr lang="zh-CN" altLang="en-US" baseline="0" dirty="0">
                        <a:latin typeface="Times New Roman" panose="02020603050405020304" pitchFamily="18" charset="0"/>
                      </a:endParaRPr>
                    </a:p>
                  </a:txBody>
                  <a:tcPr marL="0" marR="0" marT="0" marB="0" anchor="ctr"/>
                </a:tc>
                <a:tc>
                  <a:txBody>
                    <a:bodyPr/>
                    <a:lstStyle/>
                    <a:p>
                      <a:pPr algn="ctr"/>
                      <a:r>
                        <a:rPr lang="en-US" altLang="zh-CN" baseline="0" dirty="0">
                          <a:latin typeface="Times New Roman" panose="02020603050405020304" pitchFamily="18" charset="0"/>
                        </a:rPr>
                        <a:t>Problem</a:t>
                      </a:r>
                      <a:endParaRPr lang="zh-CN" altLang="en-US" baseline="0" dirty="0">
                        <a:latin typeface="Times New Roman" panose="02020603050405020304" pitchFamily="18" charset="0"/>
                      </a:endParaRPr>
                    </a:p>
                  </a:txBody>
                  <a:tcPr marL="0" marR="0" marT="0" marB="0" anchor="ctr"/>
                </a:tc>
                <a:extLst>
                  <a:ext uri="{0D108BD9-81ED-4DB2-BD59-A6C34878D82A}">
                    <a16:rowId xmlns:a16="http://schemas.microsoft.com/office/drawing/2014/main" val="3131126854"/>
                  </a:ext>
                </a:extLst>
              </a:tr>
              <a:tr h="1217201">
                <a:tc>
                  <a:txBody>
                    <a:bodyPr/>
                    <a:lstStyle/>
                    <a:p>
                      <a:pPr algn="ctr"/>
                      <a:r>
                        <a:rPr lang="en-US" altLang="zh-CN" baseline="0" dirty="0">
                          <a:latin typeface="Times New Roman" panose="02020603050405020304" pitchFamily="18" charset="0"/>
                        </a:rPr>
                        <a:t>Proj1</a:t>
                      </a:r>
                      <a:endParaRPr lang="zh-CN" altLang="en-US" baseline="0" dirty="0">
                        <a:latin typeface="Times New Roman" panose="02020603050405020304" pitchFamily="18" charset="0"/>
                      </a:endParaRPr>
                    </a:p>
                  </a:txBody>
                  <a:tcPr marL="0" marR="0" marT="0" marB="0" anchor="ctr">
                    <a:solidFill>
                      <a:srgbClr val="E9ECF6"/>
                    </a:solidFill>
                  </a:tcPr>
                </a:tc>
                <a:tc>
                  <a:txBody>
                    <a:bodyPr/>
                    <a:lstStyle/>
                    <a:p>
                      <a:pPr algn="ctr"/>
                      <a:r>
                        <a:rPr lang="en-US" altLang="zh-CN" baseline="0" dirty="0">
                          <a:latin typeface="Times New Roman" panose="02020603050405020304" pitchFamily="18" charset="0"/>
                        </a:rPr>
                        <a:t>SE-</a:t>
                      </a:r>
                      <a:r>
                        <a:rPr lang="en-US" altLang="zh-CN" baseline="0" dirty="0" err="1">
                          <a:latin typeface="Times New Roman" panose="02020603050405020304" pitchFamily="18" charset="0"/>
                        </a:rPr>
                        <a:t>ResNet</a:t>
                      </a:r>
                      <a:endParaRPr lang="zh-CN" altLang="en-US" baseline="0" dirty="0">
                        <a:latin typeface="Times New Roman" panose="02020603050405020304" pitchFamily="18" charset="0"/>
                      </a:endParaRPr>
                    </a:p>
                  </a:txBody>
                  <a:tcPr marL="0" marR="0" marT="0" marB="0" anchor="ctr">
                    <a:solidFill>
                      <a:srgbClr val="E9ECF6"/>
                    </a:solidFill>
                  </a:tcPr>
                </a:tc>
                <a:tc>
                  <a:txBody>
                    <a:bodyPr/>
                    <a:lstStyle/>
                    <a:p>
                      <a:pPr algn="ctr"/>
                      <a:endParaRPr lang="zh-CN" altLang="en-US" baseline="0" dirty="0">
                        <a:latin typeface="Times New Roman" panose="02020603050405020304" pitchFamily="18" charset="0"/>
                      </a:endParaRPr>
                    </a:p>
                  </a:txBody>
                  <a:tcPr marL="0" marR="0" marT="0" marB="0" anchor="ctr">
                    <a:solidFill>
                      <a:srgbClr val="E9ECF6"/>
                    </a:solidFill>
                  </a:tcPr>
                </a:tc>
                <a:tc>
                  <a:txBody>
                    <a:bodyPr/>
                    <a:lstStyle/>
                    <a:p>
                      <a:pPr algn="ctr"/>
                      <a:r>
                        <a:rPr lang="en-US" altLang="zh-CN" baseline="0" dirty="0">
                          <a:latin typeface="Times New Roman" panose="02020603050405020304" pitchFamily="18" charset="0"/>
                        </a:rPr>
                        <a:t>Miss match in azimuth</a:t>
                      </a:r>
                      <a:endParaRPr lang="zh-CN" altLang="en-US" baseline="0" dirty="0">
                        <a:latin typeface="Times New Roman" panose="02020603050405020304" pitchFamily="18" charset="0"/>
                      </a:endParaRPr>
                    </a:p>
                  </a:txBody>
                  <a:tcPr marL="0" marR="0" marT="0" marB="0" anchor="ctr">
                    <a:solidFill>
                      <a:srgbClr val="E9ECF6"/>
                    </a:solidFill>
                  </a:tcPr>
                </a:tc>
                <a:extLst>
                  <a:ext uri="{0D108BD9-81ED-4DB2-BD59-A6C34878D82A}">
                    <a16:rowId xmlns:a16="http://schemas.microsoft.com/office/drawing/2014/main" val="1409426102"/>
                  </a:ext>
                </a:extLst>
              </a:tr>
              <a:tr h="1280262">
                <a:tc>
                  <a:txBody>
                    <a:bodyPr/>
                    <a:lstStyle/>
                    <a:p>
                      <a:pPr algn="ctr"/>
                      <a:r>
                        <a:rPr lang="en-US" altLang="zh-CN" baseline="0" dirty="0">
                          <a:latin typeface="Times New Roman" panose="02020603050405020304" pitchFamily="18" charset="0"/>
                        </a:rPr>
                        <a:t>Proj2</a:t>
                      </a:r>
                      <a:endParaRPr lang="zh-CN" altLang="en-US" baseline="0" dirty="0">
                        <a:latin typeface="Times New Roman" panose="02020603050405020304" pitchFamily="18" charset="0"/>
                      </a:endParaRPr>
                    </a:p>
                  </a:txBody>
                  <a:tcPr marL="0" marR="0" marT="0" marB="0" anchor="ctr"/>
                </a:tc>
                <a:tc>
                  <a:txBody>
                    <a:bodyPr/>
                    <a:lstStyle/>
                    <a:p>
                      <a:pPr algn="ctr"/>
                      <a:r>
                        <a:rPr lang="en-US" altLang="zh-CN" baseline="0" dirty="0">
                          <a:latin typeface="Times New Roman" panose="02020603050405020304" pitchFamily="18" charset="0"/>
                        </a:rPr>
                        <a:t>EfficientNetV2B0</a:t>
                      </a:r>
                      <a:endParaRPr lang="zh-CN" altLang="en-US" baseline="0" dirty="0">
                        <a:latin typeface="Times New Roman" panose="02020603050405020304" pitchFamily="18" charset="0"/>
                      </a:endParaRPr>
                    </a:p>
                  </a:txBody>
                  <a:tcPr marL="0" marR="0" marT="0" marB="0" anchor="ctr"/>
                </a:tc>
                <a:tc>
                  <a:txBody>
                    <a:bodyPr/>
                    <a:lstStyle/>
                    <a:p>
                      <a:pPr algn="ctr"/>
                      <a:endParaRPr lang="zh-CN" altLang="en-US" baseline="0" dirty="0">
                        <a:latin typeface="Times New Roman" panose="02020603050405020304" pitchFamily="18" charset="0"/>
                      </a:endParaRPr>
                    </a:p>
                  </a:txBody>
                  <a:tcPr marL="0" marR="0" marT="0" marB="0" anchor="ctr"/>
                </a:tc>
                <a:tc>
                  <a:txBody>
                    <a:bodyPr/>
                    <a:lstStyle/>
                    <a:p>
                      <a:pPr algn="ctr"/>
                      <a:r>
                        <a:rPr lang="en-US" altLang="zh-CN" baseline="0" dirty="0">
                          <a:latin typeface="Times New Roman" panose="02020603050405020304" pitchFamily="18" charset="0"/>
                        </a:rPr>
                        <a:t>Discard all azimuth information</a:t>
                      </a:r>
                      <a:endParaRPr lang="zh-CN" altLang="en-US" baseline="0" dirty="0">
                        <a:latin typeface="Times New Roman" panose="02020603050405020304" pitchFamily="18" charset="0"/>
                      </a:endParaRPr>
                    </a:p>
                  </a:txBody>
                  <a:tcPr marL="0" marR="0" marT="0" marB="0" anchor="ctr"/>
                </a:tc>
                <a:extLst>
                  <a:ext uri="{0D108BD9-81ED-4DB2-BD59-A6C34878D82A}">
                    <a16:rowId xmlns:a16="http://schemas.microsoft.com/office/drawing/2014/main" val="2794694655"/>
                  </a:ext>
                </a:extLst>
              </a:tr>
              <a:tr h="584535">
                <a:tc>
                  <a:txBody>
                    <a:bodyPr/>
                    <a:lstStyle/>
                    <a:p>
                      <a:pPr algn="ctr"/>
                      <a:r>
                        <a:rPr lang="en-US" altLang="zh-CN" b="1" i="0" baseline="0" dirty="0">
                          <a:solidFill>
                            <a:schemeClr val="bg1"/>
                          </a:solidFill>
                          <a:latin typeface="Times New Roman" panose="02020603050405020304" pitchFamily="18" charset="0"/>
                        </a:rPr>
                        <a:t>Improvement</a:t>
                      </a:r>
                      <a:endParaRPr lang="zh-CN" altLang="en-US" b="1" i="0" baseline="0" dirty="0">
                        <a:solidFill>
                          <a:schemeClr val="bg1"/>
                        </a:solidFill>
                        <a:latin typeface="Times New Roman" panose="02020603050405020304" pitchFamily="18" charset="0"/>
                      </a:endParaRPr>
                    </a:p>
                  </a:txBody>
                  <a:tcPr marL="0" marR="0" marT="0" marB="0" anchor="ctr">
                    <a:solidFill>
                      <a:srgbClr val="4874CB"/>
                    </a:solidFill>
                  </a:tcPr>
                </a:tc>
                <a:tc>
                  <a:txBody>
                    <a:bodyPr/>
                    <a:lstStyle/>
                    <a:p>
                      <a:pPr algn="ctr"/>
                      <a:r>
                        <a:rPr lang="en-US" altLang="zh-CN" b="1" i="0" baseline="0" dirty="0">
                          <a:solidFill>
                            <a:schemeClr val="bg1"/>
                          </a:solidFill>
                          <a:latin typeface="Times New Roman" panose="02020603050405020304" pitchFamily="18" charset="0"/>
                        </a:rPr>
                        <a:t>Model</a:t>
                      </a:r>
                      <a:endParaRPr lang="zh-CN" altLang="en-US" b="1" i="0" baseline="0" dirty="0">
                        <a:solidFill>
                          <a:schemeClr val="bg1"/>
                        </a:solidFill>
                        <a:latin typeface="Times New Roman" panose="02020603050405020304" pitchFamily="18" charset="0"/>
                      </a:endParaRPr>
                    </a:p>
                  </a:txBody>
                  <a:tcPr marL="0" marR="0" marT="0" marB="0" anchor="ctr">
                    <a:solidFill>
                      <a:srgbClr val="4874CB"/>
                    </a:solidFill>
                  </a:tcPr>
                </a:tc>
                <a:tc>
                  <a:txBody>
                    <a:bodyPr/>
                    <a:lstStyle/>
                    <a:p>
                      <a:pPr algn="ctr"/>
                      <a:r>
                        <a:rPr lang="en-US" altLang="zh-CN" b="1" i="0" baseline="0" dirty="0">
                          <a:solidFill>
                            <a:schemeClr val="bg1"/>
                          </a:solidFill>
                          <a:latin typeface="Times New Roman" panose="02020603050405020304" pitchFamily="18" charset="0"/>
                        </a:rPr>
                        <a:t>Method</a:t>
                      </a:r>
                      <a:endParaRPr lang="zh-CN" altLang="en-US" b="1" i="0" baseline="0" dirty="0">
                        <a:solidFill>
                          <a:schemeClr val="bg1"/>
                        </a:solidFill>
                        <a:latin typeface="Times New Roman" panose="02020603050405020304" pitchFamily="18" charset="0"/>
                      </a:endParaRPr>
                    </a:p>
                  </a:txBody>
                  <a:tcPr marL="0" marR="0" marT="0" marB="0" anchor="ctr">
                    <a:solidFill>
                      <a:srgbClr val="4874CB"/>
                    </a:solidFill>
                  </a:tcPr>
                </a:tc>
                <a:tc>
                  <a:txBody>
                    <a:bodyPr/>
                    <a:lstStyle/>
                    <a:p>
                      <a:pPr algn="ctr"/>
                      <a:r>
                        <a:rPr lang="en-US" altLang="zh-CN" b="1" i="0" baseline="0" dirty="0">
                          <a:solidFill>
                            <a:schemeClr val="bg1"/>
                          </a:solidFill>
                          <a:latin typeface="Times New Roman" panose="02020603050405020304" pitchFamily="18" charset="0"/>
                        </a:rPr>
                        <a:t>Results</a:t>
                      </a:r>
                      <a:endParaRPr lang="zh-CN" altLang="en-US" b="1" i="0" baseline="0" dirty="0">
                        <a:solidFill>
                          <a:schemeClr val="bg1"/>
                        </a:solidFill>
                        <a:latin typeface="Times New Roman" panose="02020603050405020304" pitchFamily="18" charset="0"/>
                      </a:endParaRPr>
                    </a:p>
                  </a:txBody>
                  <a:tcPr marL="0" marR="0" marT="0" marB="0" anchor="ctr">
                    <a:solidFill>
                      <a:srgbClr val="4874CB"/>
                    </a:solidFill>
                  </a:tcPr>
                </a:tc>
                <a:extLst>
                  <a:ext uri="{0D108BD9-81ED-4DB2-BD59-A6C34878D82A}">
                    <a16:rowId xmlns:a16="http://schemas.microsoft.com/office/drawing/2014/main" val="1083617287"/>
                  </a:ext>
                </a:extLst>
              </a:tr>
              <a:tr h="1062654">
                <a:tc rowSpan="2">
                  <a:txBody>
                    <a:bodyPr/>
                    <a:lstStyle/>
                    <a:p>
                      <a:pPr algn="ctr"/>
                      <a:r>
                        <a:rPr lang="en-US" altLang="zh-CN" baseline="0" dirty="0">
                          <a:latin typeface="Times New Roman" panose="02020603050405020304" pitchFamily="18" charset="0"/>
                        </a:rPr>
                        <a:t>Proj1</a:t>
                      </a:r>
                      <a:endParaRPr lang="zh-CN" altLang="en-US" baseline="0" dirty="0">
                        <a:latin typeface="Times New Roman" panose="02020603050405020304" pitchFamily="18" charset="0"/>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aseline="0" dirty="0">
                          <a:latin typeface="Times New Roman" panose="02020603050405020304" pitchFamily="18" charset="0"/>
                        </a:rPr>
                        <a:t>SE-</a:t>
                      </a:r>
                      <a:r>
                        <a:rPr lang="en-US" altLang="zh-CN" baseline="0" dirty="0" err="1">
                          <a:latin typeface="Times New Roman" panose="02020603050405020304" pitchFamily="18" charset="0"/>
                        </a:rPr>
                        <a:t>ResNet</a:t>
                      </a:r>
                      <a:r>
                        <a:rPr lang="en-US" altLang="zh-CN" baseline="0" dirty="0">
                          <a:latin typeface="Times New Roman" panose="02020603050405020304" pitchFamily="18" charset="0"/>
                        </a:rPr>
                        <a:t> &amp;</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aseline="0" dirty="0" err="1">
                          <a:latin typeface="Times New Roman" panose="02020603050405020304" pitchFamily="18" charset="0"/>
                        </a:rPr>
                        <a:t>GradientBoostingRegressor</a:t>
                      </a:r>
                      <a:endParaRPr lang="zh-CN" altLang="en-US" baseline="0" dirty="0">
                        <a:latin typeface="Times New Roman" panose="02020603050405020304" pitchFamily="18" charset="0"/>
                      </a:endParaRPr>
                    </a:p>
                  </a:txBody>
                  <a:tcPr marL="0" marR="0" marT="0" marB="0" anchor="ctr"/>
                </a:tc>
                <a:tc>
                  <a:txBody>
                    <a:bodyPr/>
                    <a:lstStyle/>
                    <a:p>
                      <a:pPr algn="ctr"/>
                      <a:r>
                        <a:rPr lang="en-US" altLang="zh-CN" baseline="0" dirty="0">
                          <a:latin typeface="Times New Roman" panose="02020603050405020304" pitchFamily="18" charset="0"/>
                        </a:rPr>
                        <a:t>Using </a:t>
                      </a:r>
                      <a:r>
                        <a:rPr lang="en-US" altLang="zh-CN" baseline="0" dirty="0" err="1">
                          <a:latin typeface="Times New Roman" panose="02020603050405020304" pitchFamily="18" charset="0"/>
                        </a:rPr>
                        <a:t>GradientBoostingRegressor</a:t>
                      </a:r>
                      <a:r>
                        <a:rPr lang="en-US" altLang="zh-CN" baseline="0" dirty="0">
                          <a:latin typeface="Times New Roman" panose="02020603050405020304" pitchFamily="18" charset="0"/>
                        </a:rPr>
                        <a:t> to fit the ɛ-function (epsilon function) derived from eccentricity effects, in order to cleanse the waveforms and produce clean waveforms.</a:t>
                      </a:r>
                      <a:endParaRPr lang="zh-CN" altLang="en-US" baseline="0" dirty="0">
                        <a:latin typeface="Times New Roman" panose="02020603050405020304" pitchFamily="18" charset="0"/>
                      </a:endParaRPr>
                    </a:p>
                  </a:txBody>
                  <a:tcPr marL="0" marR="0" marT="0" marB="0" anchor="ctr"/>
                </a:tc>
                <a:tc>
                  <a:txBody>
                    <a:bodyPr/>
                    <a:lstStyle/>
                    <a:p>
                      <a:pPr algn="ctr"/>
                      <a:r>
                        <a:rPr lang="en-US" altLang="zh-CN" b="0" dirty="0">
                          <a:latin typeface="Times New Roman" panose="02020603050405020304" pitchFamily="18" charset="0"/>
                          <a:cs typeface="Times New Roman" panose="02020603050405020304" pitchFamily="18" charset="0"/>
                        </a:rPr>
                        <a:t>The model is able to learn, but its performance is very poor.</a:t>
                      </a:r>
                      <a:endParaRPr lang="zh-CN" altLang="en-US" b="0" dirty="0">
                        <a:latin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845901604"/>
                  </a:ext>
                </a:extLst>
              </a:tr>
              <a:tr h="1062654">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aseline="0" dirty="0">
                          <a:latin typeface="Times New Roman" panose="02020603050405020304" pitchFamily="18" charset="0"/>
                        </a:rPr>
                        <a:t>Hybrid Input SE-</a:t>
                      </a:r>
                      <a:r>
                        <a:rPr lang="en-US" altLang="zh-CN" baseline="0" dirty="0" err="1">
                          <a:latin typeface="Times New Roman" panose="02020603050405020304" pitchFamily="18" charset="0"/>
                        </a:rPr>
                        <a:t>ResNet</a:t>
                      </a:r>
                      <a:endParaRPr lang="zh-CN" altLang="en-US" baseline="0" dirty="0">
                        <a:latin typeface="Times New Roman" panose="02020603050405020304" pitchFamily="18" charset="0"/>
                      </a:endParaRPr>
                    </a:p>
                  </a:txBody>
                  <a:tcPr marL="0" marR="0" marT="0" marB="0" anchor="ctr">
                    <a:solidFill>
                      <a:srgbClr val="E9ECF6"/>
                    </a:solidFill>
                  </a:tcPr>
                </a:tc>
                <a:tc>
                  <a:txBody>
                    <a:bodyPr/>
                    <a:lstStyle/>
                    <a:p>
                      <a:pPr algn="ctr"/>
                      <a:r>
                        <a:rPr lang="en-US" altLang="zh-CN" baseline="0" dirty="0">
                          <a:latin typeface="Times New Roman" panose="02020603050405020304" pitchFamily="18" charset="0"/>
                        </a:rPr>
                        <a:t>Feeding the normalized eccentricity metadata as another input channel to the model, allowing the model to learn the relationship between the waveforms and the eccentricity metadata on its own.</a:t>
                      </a:r>
                      <a:endParaRPr lang="zh-CN" altLang="en-US" baseline="0" dirty="0">
                        <a:latin typeface="Times New Roman" panose="02020603050405020304" pitchFamily="18" charset="0"/>
                      </a:endParaRPr>
                    </a:p>
                  </a:txBody>
                  <a:tcPr marL="0" marR="0" marT="0" marB="0" anchor="ctr">
                    <a:solidFill>
                      <a:srgbClr val="E9ECF6"/>
                    </a:solidFill>
                  </a:tcPr>
                </a:tc>
                <a:tc>
                  <a:txBody>
                    <a:bodyPr/>
                    <a:lstStyle/>
                    <a:p>
                      <a:pPr algn="ctr"/>
                      <a:r>
                        <a:rPr lang="en-US" altLang="zh-CN" b="0" dirty="0" err="1">
                          <a:latin typeface="Times New Roman" panose="02020603050405020304" pitchFamily="18" charset="0"/>
                          <a:cs typeface="Times New Roman" panose="02020603050405020304" pitchFamily="18" charset="0"/>
                        </a:rPr>
                        <a:t>Themodel</a:t>
                      </a:r>
                      <a:r>
                        <a:rPr lang="en-US" altLang="zh-CN" b="0" dirty="0">
                          <a:latin typeface="Times New Roman" panose="02020603050405020304" pitchFamily="18" charset="0"/>
                          <a:cs typeface="Times New Roman" panose="02020603050405020304" pitchFamily="18" charset="0"/>
                        </a:rPr>
                        <a:t> is unable to learn any effective features.</a:t>
                      </a:r>
                      <a:endParaRPr lang="zh-CN" altLang="en-US" b="0" dirty="0">
                        <a:latin typeface="Times New Roman" panose="02020603050405020304" pitchFamily="18" charset="0"/>
                        <a:cs typeface="Times New Roman" panose="02020603050405020304" pitchFamily="18" charset="0"/>
                      </a:endParaRPr>
                    </a:p>
                  </a:txBody>
                  <a:tcPr marL="0" marR="0" marT="0" marB="0" anchor="ctr">
                    <a:solidFill>
                      <a:srgbClr val="E9ECF6"/>
                    </a:solidFill>
                  </a:tcPr>
                </a:tc>
                <a:extLst>
                  <a:ext uri="{0D108BD9-81ED-4DB2-BD59-A6C34878D82A}">
                    <a16:rowId xmlns:a16="http://schemas.microsoft.com/office/drawing/2014/main" val="36066037"/>
                  </a:ext>
                </a:extLst>
              </a:tr>
              <a:tr h="1182391">
                <a:tc>
                  <a:txBody>
                    <a:bodyPr/>
                    <a:lstStyle/>
                    <a:p>
                      <a:pPr algn="ctr"/>
                      <a:r>
                        <a:rPr lang="en-US" altLang="zh-CN" baseline="0" dirty="0">
                          <a:latin typeface="Times New Roman" panose="02020603050405020304" pitchFamily="18" charset="0"/>
                        </a:rPr>
                        <a:t>Proj2</a:t>
                      </a:r>
                      <a:endParaRPr lang="zh-CN" altLang="en-US" baseline="0" dirty="0">
                        <a:latin typeface="Times New Roman" panose="02020603050405020304" pitchFamily="18" charset="0"/>
                      </a:endParaRPr>
                    </a:p>
                  </a:txBody>
                  <a:tcPr marL="0" marR="0" marT="0" marB="0" anchor="ctr">
                    <a:solidFill>
                      <a:srgbClr val="E9EC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aseline="0" dirty="0">
                          <a:latin typeface="Times New Roman" panose="02020603050405020304" pitchFamily="18" charset="0"/>
                        </a:rPr>
                        <a:t>EfficientNetV2B0</a:t>
                      </a:r>
                      <a:endParaRPr lang="zh-CN" altLang="en-US" baseline="0" dirty="0">
                        <a:latin typeface="Times New Roman" panose="02020603050405020304" pitchFamily="18" charset="0"/>
                      </a:endParaRPr>
                    </a:p>
                    <a:p>
                      <a:pPr algn="ctr"/>
                      <a:endParaRPr lang="zh-CN" altLang="en-US" baseline="0" dirty="0">
                        <a:latin typeface="Times New Roman" panose="02020603050405020304" pitchFamily="18" charset="0"/>
                      </a:endParaRPr>
                    </a:p>
                  </a:txBody>
                  <a:tcPr marL="0" marR="0" marT="0" marB="0" anchor="ctr">
                    <a:solidFill>
                      <a:srgbClr val="E9ECF6"/>
                    </a:solidFill>
                  </a:tcPr>
                </a:tc>
                <a:tc>
                  <a:txBody>
                    <a:bodyPr/>
                    <a:lstStyle/>
                    <a:p>
                      <a:pPr algn="ctr"/>
                      <a:r>
                        <a:rPr lang="en-US" altLang="zh-CN" baseline="0" dirty="0">
                          <a:latin typeface="Times New Roman" panose="02020603050405020304" pitchFamily="18" charset="0"/>
                        </a:rPr>
                        <a:t>FFT &amp; The Severity(</a:t>
                      </a:r>
                      <a:r>
                        <a:rPr lang="en-US" altLang="zh-CN" baseline="0" dirty="0" err="1">
                          <a:latin typeface="Times New Roman" panose="02020603050405020304" pitchFamily="18" charset="0"/>
                        </a:rPr>
                        <a:t>Zc</a:t>
                      </a:r>
                      <a:r>
                        <a:rPr lang="en-US" altLang="zh-CN" baseline="0" dirty="0">
                          <a:latin typeface="Times New Roman" panose="02020603050405020304" pitchFamily="18" charset="0"/>
                        </a:rPr>
                        <a:t>) = max(0, 2.5 - </a:t>
                      </a:r>
                      <a:r>
                        <a:rPr lang="en-US" altLang="zh-CN" baseline="0" dirty="0" err="1">
                          <a:latin typeface="Times New Roman" panose="02020603050405020304" pitchFamily="18" charset="0"/>
                        </a:rPr>
                        <a:t>Zc</a:t>
                      </a:r>
                      <a:r>
                        <a:rPr lang="en-US" altLang="zh-CN" baseline="0" dirty="0">
                          <a:latin typeface="Times New Roman" panose="02020603050405020304" pitchFamily="18" charset="0"/>
                        </a:rPr>
                        <a:t>) transformation</a:t>
                      </a:r>
                      <a:endParaRPr lang="zh-CN" altLang="en-US" baseline="0" dirty="0">
                        <a:latin typeface="Times New Roman" panose="02020603050405020304" pitchFamily="18" charset="0"/>
                      </a:endParaRPr>
                    </a:p>
                  </a:txBody>
                  <a:tcPr marL="0" marR="0" marT="0" marB="0" anchor="ctr">
                    <a:solidFill>
                      <a:srgbClr val="E9ECF6"/>
                    </a:solidFill>
                  </a:tcPr>
                </a:tc>
                <a:tc>
                  <a:txBody>
                    <a:bodyPr/>
                    <a:lstStyle/>
                    <a:p>
                      <a:pPr algn="ctr"/>
                      <a:r>
                        <a:rPr lang="en-US" altLang="zh-CN" baseline="0" dirty="0">
                          <a:latin typeface="Times New Roman" panose="02020603050405020304" pitchFamily="18" charset="0"/>
                        </a:rPr>
                        <a:t>The model performance is good, with a high degree of task completion.</a:t>
                      </a:r>
                      <a:endParaRPr lang="zh-CN" altLang="en-US" baseline="0" dirty="0">
                        <a:latin typeface="Times New Roman" panose="02020603050405020304" pitchFamily="18" charset="0"/>
                      </a:endParaRPr>
                    </a:p>
                  </a:txBody>
                  <a:tcPr marL="0" marR="0" marT="0" marB="0" anchor="ctr">
                    <a:solidFill>
                      <a:srgbClr val="E9ECF6"/>
                    </a:solidFill>
                  </a:tcPr>
                </a:tc>
                <a:extLst>
                  <a:ext uri="{0D108BD9-81ED-4DB2-BD59-A6C34878D82A}">
                    <a16:rowId xmlns:a16="http://schemas.microsoft.com/office/drawing/2014/main" val="164967801"/>
                  </a:ext>
                </a:extLst>
              </a:tr>
            </a:tbl>
          </a:graphicData>
        </a:graphic>
      </p:graphicFrame>
      <p:pic>
        <p:nvPicPr>
          <p:cNvPr id="6" name="图片 5" descr="绘图 2">
            <a:extLst>
              <a:ext uri="{FF2B5EF4-FFF2-40B4-BE49-F238E27FC236}">
                <a16:creationId xmlns:a16="http://schemas.microsoft.com/office/drawing/2014/main" id="{0175271F-E6E0-CF39-AD65-C4E870AD07EB}"/>
              </a:ext>
            </a:extLst>
          </p:cNvPr>
          <p:cNvPicPr>
            <a:picLocks/>
          </p:cNvPicPr>
          <p:nvPr/>
        </p:nvPicPr>
        <p:blipFill>
          <a:blip r:embed="rId3"/>
          <a:srcRect b="52067"/>
          <a:stretch>
            <a:fillRect/>
          </a:stretch>
        </p:blipFill>
        <p:spPr>
          <a:xfrm>
            <a:off x="3489960" y="458811"/>
            <a:ext cx="6292215" cy="1266824"/>
          </a:xfrm>
          <a:prstGeom prst="rect">
            <a:avLst/>
          </a:prstGeom>
        </p:spPr>
      </p:pic>
      <p:pic>
        <p:nvPicPr>
          <p:cNvPr id="11" name="图片 10">
            <a:extLst>
              <a:ext uri="{FF2B5EF4-FFF2-40B4-BE49-F238E27FC236}">
                <a16:creationId xmlns:a16="http://schemas.microsoft.com/office/drawing/2014/main" id="{C1500A1C-463A-9398-66E5-1462D6B817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9959" y="1695451"/>
            <a:ext cx="6292215" cy="12668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37727-539F-C161-CE06-E000383EF0CD}"/>
            </a:ext>
          </a:extLst>
        </p:cNvPr>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B55CB73-9E01-2B31-93F7-DB075AF454CC}"/>
              </a:ext>
            </a:extLst>
          </p:cNvPr>
          <p:cNvCxnSpPr/>
          <p:nvPr/>
        </p:nvCxnSpPr>
        <p:spPr>
          <a:xfrm>
            <a:off x="879029" y="476882"/>
            <a:ext cx="3343275" cy="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sp>
        <p:nvSpPr>
          <p:cNvPr id="4" name="文本框 3">
            <a:extLst>
              <a:ext uri="{FF2B5EF4-FFF2-40B4-BE49-F238E27FC236}">
                <a16:creationId xmlns:a16="http://schemas.microsoft.com/office/drawing/2014/main" id="{81ABE636-D367-5215-527E-55E3B50D8048}"/>
              </a:ext>
            </a:extLst>
          </p:cNvPr>
          <p:cNvSpPr txBox="1"/>
          <p:nvPr/>
        </p:nvSpPr>
        <p:spPr>
          <a:xfrm>
            <a:off x="879029" y="97787"/>
            <a:ext cx="6096000" cy="368300"/>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Review</a:t>
            </a:r>
          </a:p>
        </p:txBody>
      </p:sp>
      <p:pic>
        <p:nvPicPr>
          <p:cNvPr id="24" name="图片 23" descr="绘图 2">
            <a:extLst>
              <a:ext uri="{FF2B5EF4-FFF2-40B4-BE49-F238E27FC236}">
                <a16:creationId xmlns:a16="http://schemas.microsoft.com/office/drawing/2014/main" id="{8BA80EB5-941C-5C45-7981-87AFA6F0CABF}"/>
              </a:ext>
            </a:extLst>
          </p:cNvPr>
          <p:cNvPicPr>
            <a:picLocks/>
          </p:cNvPicPr>
          <p:nvPr/>
        </p:nvPicPr>
        <p:blipFill>
          <a:blip r:embed="rId3"/>
          <a:srcRect b="52067"/>
          <a:stretch>
            <a:fillRect/>
          </a:stretch>
        </p:blipFill>
        <p:spPr>
          <a:xfrm>
            <a:off x="285624" y="1012869"/>
            <a:ext cx="6078872" cy="2213544"/>
          </a:xfrm>
          <a:prstGeom prst="rect">
            <a:avLst/>
          </a:prstGeom>
        </p:spPr>
      </p:pic>
      <p:pic>
        <p:nvPicPr>
          <p:cNvPr id="3" name="图片 2">
            <a:extLst>
              <a:ext uri="{FF2B5EF4-FFF2-40B4-BE49-F238E27FC236}">
                <a16:creationId xmlns:a16="http://schemas.microsoft.com/office/drawing/2014/main" id="{9F5CB0B2-237F-55C5-8D1A-127E4D0061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7674" y="1016583"/>
            <a:ext cx="5201939" cy="2213544"/>
          </a:xfrm>
          <a:prstGeom prst="rect">
            <a:avLst/>
          </a:prstGeom>
        </p:spPr>
      </p:pic>
      <p:sp>
        <p:nvSpPr>
          <p:cNvPr id="5" name="文本框 4">
            <a:extLst>
              <a:ext uri="{FF2B5EF4-FFF2-40B4-BE49-F238E27FC236}">
                <a16:creationId xmlns:a16="http://schemas.microsoft.com/office/drawing/2014/main" id="{3CDF6B9A-7755-8A04-0867-4DB1255C1B0D}"/>
              </a:ext>
            </a:extLst>
          </p:cNvPr>
          <p:cNvSpPr txBox="1"/>
          <p:nvPr/>
        </p:nvSpPr>
        <p:spPr>
          <a:xfrm>
            <a:off x="2228732" y="528184"/>
            <a:ext cx="2192655" cy="368300"/>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CSI &amp; SE-</a:t>
            </a:r>
            <a:r>
              <a:rPr lang="en-US" altLang="zh-CN" b="1" noProof="0" dirty="0" err="1">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ResNet</a:t>
            </a:r>
            <a:endPar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sp>
        <p:nvSpPr>
          <p:cNvPr id="7" name="文本框 6">
            <a:extLst>
              <a:ext uri="{FF2B5EF4-FFF2-40B4-BE49-F238E27FC236}">
                <a16:creationId xmlns:a16="http://schemas.microsoft.com/office/drawing/2014/main" id="{2A04D2F4-C3E5-1E33-FD2C-32EFCE400765}"/>
              </a:ext>
            </a:extLst>
          </p:cNvPr>
          <p:cNvSpPr txBox="1"/>
          <p:nvPr/>
        </p:nvSpPr>
        <p:spPr>
          <a:xfrm>
            <a:off x="7298712" y="446092"/>
            <a:ext cx="4179862" cy="369332"/>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1D percentage label &amp; </a:t>
            </a:r>
            <a:r>
              <a:rPr lang="en-US" altLang="zh-CN" b="1" noProof="0" dirty="0" err="1">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EfficientNet</a:t>
            </a:r>
            <a:endPar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pic>
        <p:nvPicPr>
          <p:cNvPr id="11" name="图形 10">
            <a:extLst>
              <a:ext uri="{FF2B5EF4-FFF2-40B4-BE49-F238E27FC236}">
                <a16:creationId xmlns:a16="http://schemas.microsoft.com/office/drawing/2014/main" id="{5E0F84EF-1E17-7971-9B7B-D3E9C61BE01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2387" y="3526150"/>
            <a:ext cx="6245346" cy="2424722"/>
          </a:xfrm>
          <a:prstGeom prst="rect">
            <a:avLst/>
          </a:prstGeom>
        </p:spPr>
      </p:pic>
      <p:pic>
        <p:nvPicPr>
          <p:cNvPr id="13" name="图形 12">
            <a:extLst>
              <a:ext uri="{FF2B5EF4-FFF2-40B4-BE49-F238E27FC236}">
                <a16:creationId xmlns:a16="http://schemas.microsoft.com/office/drawing/2014/main" id="{80AAEAD0-14F7-6113-6256-ADAC5F11EE5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87674" y="3496282"/>
            <a:ext cx="5201939" cy="2513068"/>
          </a:xfrm>
          <a:prstGeom prst="rect">
            <a:avLst/>
          </a:prstGeom>
        </p:spPr>
      </p:pic>
      <p:sp>
        <p:nvSpPr>
          <p:cNvPr id="20" name="矩形 19">
            <a:extLst>
              <a:ext uri="{FF2B5EF4-FFF2-40B4-BE49-F238E27FC236}">
                <a16:creationId xmlns:a16="http://schemas.microsoft.com/office/drawing/2014/main" id="{D21D9FFA-B701-5DAD-8563-04D4442E81D8}"/>
              </a:ext>
            </a:extLst>
          </p:cNvPr>
          <p:cNvSpPr/>
          <p:nvPr/>
        </p:nvSpPr>
        <p:spPr>
          <a:xfrm>
            <a:off x="149441" y="904429"/>
            <a:ext cx="6367467" cy="24247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847CF8E-0154-3EB9-B0CA-C1E080401B74}"/>
              </a:ext>
            </a:extLst>
          </p:cNvPr>
          <p:cNvSpPr/>
          <p:nvPr/>
        </p:nvSpPr>
        <p:spPr>
          <a:xfrm>
            <a:off x="6669321" y="904429"/>
            <a:ext cx="5396259" cy="24247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ABF0403-5989-0A69-2B96-46B5D402A4A3}"/>
              </a:ext>
            </a:extLst>
          </p:cNvPr>
          <p:cNvSpPr/>
          <p:nvPr/>
        </p:nvSpPr>
        <p:spPr>
          <a:xfrm>
            <a:off x="148052" y="3431052"/>
            <a:ext cx="6354016" cy="26149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2EE147BB-7F7C-3D99-6D8C-547D698AFAB4}"/>
              </a:ext>
            </a:extLst>
          </p:cNvPr>
          <p:cNvSpPr/>
          <p:nvPr/>
        </p:nvSpPr>
        <p:spPr>
          <a:xfrm>
            <a:off x="6669320" y="3431052"/>
            <a:ext cx="5396259" cy="26149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9C1089A6-2BA9-BCD3-003F-45D7A511DA08}"/>
              </a:ext>
            </a:extLst>
          </p:cNvPr>
          <p:cNvSpPr txBox="1"/>
          <p:nvPr/>
        </p:nvSpPr>
        <p:spPr>
          <a:xfrm>
            <a:off x="134600" y="6080329"/>
            <a:ext cx="6367467" cy="646331"/>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Azimuth mismatch issue</a:t>
            </a:r>
            <a:r>
              <a:rPr lang="zh-CN" altLang="en-US"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a:t>
            </a: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In non-</a:t>
            </a:r>
            <a:r>
              <a:rPr lang="en-US" altLang="zh-CN" b="1" noProof="0" dirty="0" err="1">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eccentered</a:t>
            </a: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 zones, the Relative Bearing data is unreliable.</a:t>
            </a:r>
          </a:p>
        </p:txBody>
      </p:sp>
      <p:sp>
        <p:nvSpPr>
          <p:cNvPr id="26" name="文本框 25">
            <a:extLst>
              <a:ext uri="{FF2B5EF4-FFF2-40B4-BE49-F238E27FC236}">
                <a16:creationId xmlns:a16="http://schemas.microsoft.com/office/drawing/2014/main" id="{7C7469AE-0C15-0065-A287-CFCFC22F21A5}"/>
              </a:ext>
            </a:extLst>
          </p:cNvPr>
          <p:cNvSpPr txBox="1"/>
          <p:nvPr/>
        </p:nvSpPr>
        <p:spPr>
          <a:xfrm>
            <a:off x="6669320" y="6080329"/>
            <a:ext cx="5388080" cy="369332"/>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All azimuth information is lost.</a:t>
            </a:r>
          </a:p>
        </p:txBody>
      </p:sp>
    </p:spTree>
    <p:extLst>
      <p:ext uri="{BB962C8B-B14F-4D97-AF65-F5344CB8AC3E}">
        <p14:creationId xmlns:p14="http://schemas.microsoft.com/office/powerpoint/2010/main" val="1202162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901198" y="418509"/>
            <a:ext cx="2209165" cy="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sp>
        <p:nvSpPr>
          <p:cNvPr id="4" name="文本框 3"/>
          <p:cNvSpPr txBox="1"/>
          <p:nvPr/>
        </p:nvSpPr>
        <p:spPr>
          <a:xfrm>
            <a:off x="901198" y="39414"/>
            <a:ext cx="2209165" cy="368300"/>
          </a:xfrm>
          <a:prstGeom prst="rect">
            <a:avLst/>
          </a:prstGeom>
          <a:noFill/>
        </p:spPr>
        <p:txBody>
          <a:bodyPr wrap="square" rtlCol="0" anchor="t">
            <a:spAutoFit/>
          </a:bodyPr>
          <a:lstStyle/>
          <a:p>
            <a:pPr lvl="0">
              <a:lnSpc>
                <a:spcPct val="100000"/>
              </a:lnSpc>
              <a:defRPr/>
            </a:pPr>
            <a:r>
              <a:rPr lang="en-US" altLang="zh-CN" b="1" dirty="0">
                <a:solidFill>
                  <a:sysClr val="windowText" lastClr="000000"/>
                </a:solidFill>
                <a:latin typeface="Times New Roman Bold" panose="02020603050405020304" charset="0"/>
                <a:ea typeface="宋体" pitchFamily="2" charset="-122"/>
                <a:cs typeface="Times New Roman Bold" panose="02020603050405020304" charset="0"/>
                <a:sym typeface="+mn-ea"/>
              </a:rPr>
              <a:t>Problems</a:t>
            </a:r>
            <a:endPar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graphicFrame>
        <p:nvGraphicFramePr>
          <p:cNvPr id="3" name="表格 2">
            <a:extLst>
              <a:ext uri="{FF2B5EF4-FFF2-40B4-BE49-F238E27FC236}">
                <a16:creationId xmlns:a16="http://schemas.microsoft.com/office/drawing/2014/main" id="{8523A1FD-611C-328E-3E25-3F59CDA9C2F5}"/>
              </a:ext>
            </a:extLst>
          </p:cNvPr>
          <p:cNvGraphicFramePr>
            <a:graphicFrameLocks noGrp="1"/>
          </p:cNvGraphicFramePr>
          <p:nvPr>
            <p:extLst>
              <p:ext uri="{D42A27DB-BD31-4B8C-83A1-F6EECF244321}">
                <p14:modId xmlns:p14="http://schemas.microsoft.com/office/powerpoint/2010/main" val="1563885833"/>
              </p:ext>
            </p:extLst>
          </p:nvPr>
        </p:nvGraphicFramePr>
        <p:xfrm>
          <a:off x="816076" y="562728"/>
          <a:ext cx="5499602" cy="1918654"/>
        </p:xfrm>
        <a:graphic>
          <a:graphicData uri="http://schemas.openxmlformats.org/drawingml/2006/table">
            <a:tbl>
              <a:tblPr firstRow="1" bandRow="1">
                <a:tableStyleId>{5C22544A-7EE6-4342-B048-85BDC9FD1C3A}</a:tableStyleId>
              </a:tblPr>
              <a:tblGrid>
                <a:gridCol w="1833200">
                  <a:extLst>
                    <a:ext uri="{9D8B030D-6E8A-4147-A177-3AD203B41FA5}">
                      <a16:colId xmlns:a16="http://schemas.microsoft.com/office/drawing/2014/main" val="3132802782"/>
                    </a:ext>
                  </a:extLst>
                </a:gridCol>
                <a:gridCol w="1833201">
                  <a:extLst>
                    <a:ext uri="{9D8B030D-6E8A-4147-A177-3AD203B41FA5}">
                      <a16:colId xmlns:a16="http://schemas.microsoft.com/office/drawing/2014/main" val="2233457898"/>
                    </a:ext>
                  </a:extLst>
                </a:gridCol>
                <a:gridCol w="1833201">
                  <a:extLst>
                    <a:ext uri="{9D8B030D-6E8A-4147-A177-3AD203B41FA5}">
                      <a16:colId xmlns:a16="http://schemas.microsoft.com/office/drawing/2014/main" val="3243266948"/>
                    </a:ext>
                  </a:extLst>
                </a:gridCol>
              </a:tblGrid>
              <a:tr h="609064">
                <a:tc>
                  <a:txBody>
                    <a:bodyPr/>
                    <a:lstStyle/>
                    <a:p>
                      <a:pPr algn="ctr"/>
                      <a:endParaRPr lang="zh-CN" altLang="en-US" baseline="0" dirty="0">
                        <a:latin typeface="Times New Roman" panose="02020603050405020304" pitchFamily="18" charset="0"/>
                        <a:ea typeface="华文宋体" panose="02010600040101010101" pitchFamily="2" charset="-122"/>
                      </a:endParaRPr>
                    </a:p>
                  </a:txBody>
                  <a:tcPr marL="45720" marR="45720" anchor="ctr"/>
                </a:tc>
                <a:tc>
                  <a:txBody>
                    <a:bodyPr/>
                    <a:lstStyle/>
                    <a:p>
                      <a:pPr algn="ctr"/>
                      <a:r>
                        <a:rPr lang="en-US" altLang="zh-CN" baseline="0" dirty="0">
                          <a:latin typeface="Times New Roman" panose="02020603050405020304" pitchFamily="18" charset="0"/>
                          <a:ea typeface="华文宋体" panose="02010600040101010101" pitchFamily="2" charset="-122"/>
                        </a:rPr>
                        <a:t>Eccentricity Condition</a:t>
                      </a:r>
                      <a:endParaRPr lang="zh-CN" altLang="en-US" baseline="0" dirty="0">
                        <a:latin typeface="Times New Roman" panose="02020603050405020304" pitchFamily="18" charset="0"/>
                        <a:ea typeface="华文宋体" panose="02010600040101010101" pitchFamily="2" charset="-122"/>
                      </a:endParaRPr>
                    </a:p>
                  </a:txBody>
                  <a:tcPr marL="45720" marR="45720" anchor="ctr"/>
                </a:tc>
                <a:tc>
                  <a:txBody>
                    <a:bodyPr/>
                    <a:lstStyle/>
                    <a:p>
                      <a:pPr algn="ctr"/>
                      <a:r>
                        <a:rPr lang="en-US" altLang="zh-CN" baseline="0" dirty="0">
                          <a:latin typeface="Times New Roman" panose="02020603050405020304" pitchFamily="18" charset="0"/>
                          <a:ea typeface="华文宋体" panose="02010600040101010101" pitchFamily="2" charset="-122"/>
                        </a:rPr>
                        <a:t>Non-Eccentricity Condition</a:t>
                      </a:r>
                      <a:endParaRPr lang="zh-CN" altLang="en-US" baseline="0" dirty="0">
                        <a:latin typeface="Times New Roman" panose="02020603050405020304" pitchFamily="18" charset="0"/>
                        <a:ea typeface="华文宋体" panose="02010600040101010101" pitchFamily="2" charset="-122"/>
                      </a:endParaRPr>
                    </a:p>
                  </a:txBody>
                  <a:tcPr marL="45720" marR="45720" anchor="ctr"/>
                </a:tc>
                <a:extLst>
                  <a:ext uri="{0D108BD9-81ED-4DB2-BD59-A6C34878D82A}">
                    <a16:rowId xmlns:a16="http://schemas.microsoft.com/office/drawing/2014/main" val="1865015398"/>
                  </a:ext>
                </a:extLst>
              </a:tr>
              <a:tr h="609064">
                <a:tc>
                  <a:txBody>
                    <a:bodyPr/>
                    <a:lstStyle/>
                    <a:p>
                      <a:pPr algn="ctr"/>
                      <a:r>
                        <a:rPr lang="en-US" altLang="zh-CN" baseline="0" dirty="0">
                          <a:latin typeface="Times New Roman" panose="02020603050405020304" pitchFamily="18" charset="0"/>
                          <a:ea typeface="华文宋体" panose="02010600040101010101" pitchFamily="2" charset="-122"/>
                        </a:rPr>
                        <a:t>Feature</a:t>
                      </a:r>
                      <a:r>
                        <a:rPr lang="zh-CN" altLang="en-US" baseline="0" dirty="0">
                          <a:latin typeface="Times New Roman" panose="02020603050405020304" pitchFamily="18" charset="0"/>
                          <a:ea typeface="华文宋体" panose="02010600040101010101" pitchFamily="2" charset="-122"/>
                        </a:rPr>
                        <a:t> </a:t>
                      </a:r>
                      <a:r>
                        <a:rPr lang="en-US" altLang="zh-CN" baseline="0" dirty="0">
                          <a:latin typeface="Times New Roman" panose="02020603050405020304" pitchFamily="18" charset="0"/>
                          <a:ea typeface="华文宋体" panose="02010600040101010101" pitchFamily="2" charset="-122"/>
                        </a:rPr>
                        <a:t>Information</a:t>
                      </a:r>
                      <a:endParaRPr lang="zh-CN" altLang="en-US" baseline="0" dirty="0">
                        <a:latin typeface="Times New Roman" panose="02020603050405020304" pitchFamily="18" charset="0"/>
                        <a:ea typeface="华文宋体" panose="02010600040101010101" pitchFamily="2" charset="-122"/>
                      </a:endParaRPr>
                    </a:p>
                  </a:txBody>
                  <a:tcPr marL="45720" marR="45720" anchor="ctr"/>
                </a:tc>
                <a:tc>
                  <a:txBody>
                    <a:bodyPr/>
                    <a:lstStyle/>
                    <a:p>
                      <a:pPr algn="ctr"/>
                      <a:r>
                        <a:rPr lang="en-US" altLang="zh-CN" baseline="0" dirty="0">
                          <a:latin typeface="Times New Roman" panose="02020603050405020304" pitchFamily="18" charset="0"/>
                          <a:ea typeface="华文宋体" panose="02010600040101010101" pitchFamily="2" charset="-122"/>
                        </a:rPr>
                        <a:t>Contaminated</a:t>
                      </a:r>
                      <a:endParaRPr lang="zh-CN" altLang="en-US" baseline="0" dirty="0">
                        <a:latin typeface="Times New Roman" panose="02020603050405020304" pitchFamily="18" charset="0"/>
                        <a:ea typeface="华文宋体" panose="02010600040101010101" pitchFamily="2" charset="-122"/>
                      </a:endParaRPr>
                    </a:p>
                  </a:txBody>
                  <a:tcPr marL="45720" marR="45720" anchor="ctr"/>
                </a:tc>
                <a:tc>
                  <a:txBody>
                    <a:bodyPr/>
                    <a:lstStyle/>
                    <a:p>
                      <a:pPr algn="ctr"/>
                      <a:r>
                        <a:rPr lang="en-US" altLang="zh-CN" baseline="0" dirty="0">
                          <a:latin typeface="Times New Roman" panose="02020603050405020304" pitchFamily="18" charset="0"/>
                          <a:ea typeface="华文宋体" panose="02010600040101010101" pitchFamily="2" charset="-122"/>
                        </a:rPr>
                        <a:t>Good</a:t>
                      </a:r>
                      <a:endParaRPr lang="zh-CN" altLang="en-US" baseline="0" dirty="0">
                        <a:latin typeface="Times New Roman" panose="02020603050405020304" pitchFamily="18" charset="0"/>
                        <a:ea typeface="华文宋体" panose="02010600040101010101" pitchFamily="2" charset="-122"/>
                      </a:endParaRPr>
                    </a:p>
                  </a:txBody>
                  <a:tcPr marL="45720" marR="45720" anchor="ctr"/>
                </a:tc>
                <a:extLst>
                  <a:ext uri="{0D108BD9-81ED-4DB2-BD59-A6C34878D82A}">
                    <a16:rowId xmlns:a16="http://schemas.microsoft.com/office/drawing/2014/main" val="1845178628"/>
                  </a:ext>
                </a:extLst>
              </a:tr>
              <a:tr h="638494">
                <a:tc>
                  <a:txBody>
                    <a:bodyPr/>
                    <a:lstStyle/>
                    <a:p>
                      <a:pPr algn="ctr"/>
                      <a:r>
                        <a:rPr lang="en-US" altLang="zh-CN" baseline="0" dirty="0">
                          <a:latin typeface="Times New Roman" panose="02020603050405020304" pitchFamily="18" charset="0"/>
                          <a:ea typeface="华文宋体" panose="02010600040101010101" pitchFamily="2" charset="-122"/>
                        </a:rPr>
                        <a:t>Relative Bearing</a:t>
                      </a:r>
                      <a:endParaRPr lang="zh-CN" altLang="en-US" baseline="0" dirty="0">
                        <a:latin typeface="Times New Roman" panose="02020603050405020304" pitchFamily="18" charset="0"/>
                        <a:ea typeface="华文宋体" panose="02010600040101010101" pitchFamily="2" charset="-122"/>
                      </a:endParaRPr>
                    </a:p>
                  </a:txBody>
                  <a:tcPr marL="45720" marR="45720" anchor="ctr"/>
                </a:tc>
                <a:tc>
                  <a:txBody>
                    <a:bodyPr/>
                    <a:lstStyle/>
                    <a:p>
                      <a:pPr algn="ctr"/>
                      <a:r>
                        <a:rPr lang="en-US" altLang="zh-CN" baseline="0" dirty="0">
                          <a:latin typeface="Times New Roman" panose="02020603050405020304" pitchFamily="18" charset="0"/>
                          <a:ea typeface="华文宋体" panose="02010600040101010101" pitchFamily="2" charset="-122"/>
                        </a:rPr>
                        <a:t>Good</a:t>
                      </a:r>
                      <a:endParaRPr lang="zh-CN" altLang="en-US" baseline="0" dirty="0">
                        <a:latin typeface="Times New Roman" panose="02020603050405020304" pitchFamily="18" charset="0"/>
                        <a:ea typeface="华文宋体" panose="02010600040101010101" pitchFamily="2" charset="-122"/>
                      </a:endParaRPr>
                    </a:p>
                  </a:txBody>
                  <a:tcPr marL="45720" marR="45720" anchor="ctr"/>
                </a:tc>
                <a:tc>
                  <a:txBody>
                    <a:bodyPr/>
                    <a:lstStyle/>
                    <a:p>
                      <a:pPr algn="ctr"/>
                      <a:r>
                        <a:rPr lang="en-US" altLang="zh-CN" baseline="0" dirty="0">
                          <a:latin typeface="Times New Roman" panose="02020603050405020304" pitchFamily="18" charset="0"/>
                          <a:ea typeface="华文宋体" panose="02010600040101010101" pitchFamily="2" charset="-122"/>
                        </a:rPr>
                        <a:t>Unreliable</a:t>
                      </a:r>
                      <a:endParaRPr lang="zh-CN" altLang="en-US" baseline="0" dirty="0">
                        <a:latin typeface="Times New Roman" panose="02020603050405020304" pitchFamily="18" charset="0"/>
                        <a:ea typeface="华文宋体" panose="02010600040101010101" pitchFamily="2" charset="-122"/>
                      </a:endParaRPr>
                    </a:p>
                  </a:txBody>
                  <a:tcPr marL="45720" marR="45720" anchor="ctr"/>
                </a:tc>
                <a:extLst>
                  <a:ext uri="{0D108BD9-81ED-4DB2-BD59-A6C34878D82A}">
                    <a16:rowId xmlns:a16="http://schemas.microsoft.com/office/drawing/2014/main" val="2446578916"/>
                  </a:ext>
                </a:extLst>
              </a:tr>
            </a:tbl>
          </a:graphicData>
        </a:graphic>
      </p:graphicFrame>
      <p:pic>
        <p:nvPicPr>
          <p:cNvPr id="7" name="图片 6">
            <a:extLst>
              <a:ext uri="{FF2B5EF4-FFF2-40B4-BE49-F238E27FC236}">
                <a16:creationId xmlns:a16="http://schemas.microsoft.com/office/drawing/2014/main" id="{1F75F852-9D42-41FA-651D-04FDA6D194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0402" y="3429000"/>
            <a:ext cx="4685521" cy="2957341"/>
          </a:xfrm>
          <a:prstGeom prst="rect">
            <a:avLst/>
          </a:prstGeom>
        </p:spPr>
      </p:pic>
      <p:sp>
        <p:nvSpPr>
          <p:cNvPr id="8" name="文本框 7">
            <a:extLst>
              <a:ext uri="{FF2B5EF4-FFF2-40B4-BE49-F238E27FC236}">
                <a16:creationId xmlns:a16="http://schemas.microsoft.com/office/drawing/2014/main" id="{3CA487C0-F380-F288-BFC3-2A86618FB531}"/>
              </a:ext>
            </a:extLst>
          </p:cNvPr>
          <p:cNvSpPr txBox="1"/>
          <p:nvPr/>
        </p:nvSpPr>
        <p:spPr>
          <a:xfrm>
            <a:off x="8739718" y="6480572"/>
            <a:ext cx="586887" cy="369332"/>
          </a:xfrm>
          <a:prstGeom prst="rect">
            <a:avLst/>
          </a:prstGeom>
          <a:noFill/>
        </p:spPr>
        <p:txBody>
          <a:bodyPr wrap="square" rtlCol="0" anchor="t">
            <a:spAutoFit/>
          </a:bodyPr>
          <a:lstStyle/>
          <a:p>
            <a:pPr lvl="0">
              <a:lnSpc>
                <a:spcPct val="100000"/>
              </a:lnSpc>
              <a:defRPr/>
            </a:pPr>
            <a:r>
              <a:rPr lang="en-US" altLang="zh-CN" b="1" dirty="0">
                <a:solidFill>
                  <a:sysClr val="windowText" lastClr="000000"/>
                </a:solidFill>
                <a:latin typeface="Times New Roman Bold" panose="02020603050405020304" charset="0"/>
                <a:ea typeface="宋体" pitchFamily="2" charset="-122"/>
                <a:cs typeface="Times New Roman Bold" panose="02020603050405020304" charset="0"/>
                <a:sym typeface="+mn-ea"/>
              </a:rPr>
              <a:t>Inc</a:t>
            </a:r>
            <a:endPar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pic>
        <p:nvPicPr>
          <p:cNvPr id="12" name="图片 11">
            <a:extLst>
              <a:ext uri="{FF2B5EF4-FFF2-40B4-BE49-F238E27FC236}">
                <a16:creationId xmlns:a16="http://schemas.microsoft.com/office/drawing/2014/main" id="{2F5ECD22-2ACB-7153-B8F8-037E3D833F2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90402" y="377428"/>
            <a:ext cx="4685521" cy="2939218"/>
          </a:xfrm>
          <a:prstGeom prst="rect">
            <a:avLst/>
          </a:prstGeom>
        </p:spPr>
      </p:pic>
      <p:sp>
        <p:nvSpPr>
          <p:cNvPr id="13" name="文本框 12">
            <a:extLst>
              <a:ext uri="{FF2B5EF4-FFF2-40B4-BE49-F238E27FC236}">
                <a16:creationId xmlns:a16="http://schemas.microsoft.com/office/drawing/2014/main" id="{0263D442-515B-2231-0DA8-D939DFB6F2D0}"/>
              </a:ext>
            </a:extLst>
          </p:cNvPr>
          <p:cNvSpPr txBox="1"/>
          <p:nvPr/>
        </p:nvSpPr>
        <p:spPr>
          <a:xfrm>
            <a:off x="8332225" y="38382"/>
            <a:ext cx="1853994" cy="369332"/>
          </a:xfrm>
          <a:prstGeom prst="rect">
            <a:avLst/>
          </a:prstGeom>
          <a:noFill/>
        </p:spPr>
        <p:txBody>
          <a:bodyPr wrap="square" rtlCol="0" anchor="t">
            <a:spAutoFit/>
          </a:bodyPr>
          <a:lstStyle/>
          <a:p>
            <a:pPr lvl="0">
              <a:lnSpc>
                <a:spcPct val="100000"/>
              </a:lnSpc>
              <a:defRPr/>
            </a:pPr>
            <a:r>
              <a:rPr lang="en-US" altLang="zh-CN" b="1" dirty="0">
                <a:solidFill>
                  <a:sysClr val="windowText" lastClr="000000"/>
                </a:solidFill>
                <a:latin typeface="Times New Roman Bold" panose="02020603050405020304" charset="0"/>
                <a:ea typeface="宋体" pitchFamily="2" charset="-122"/>
                <a:cs typeface="Times New Roman Bold" panose="02020603050405020304" charset="0"/>
                <a:sym typeface="+mn-ea"/>
              </a:rPr>
              <a:t>Relative Bearing</a:t>
            </a:r>
            <a:endPar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pic>
        <p:nvPicPr>
          <p:cNvPr id="19" name="图片 18">
            <a:extLst>
              <a:ext uri="{FF2B5EF4-FFF2-40B4-BE49-F238E27FC236}">
                <a16:creationId xmlns:a16="http://schemas.microsoft.com/office/drawing/2014/main" id="{850FF66F-753D-DCA6-4CF8-E69749AB09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6077" y="2481382"/>
            <a:ext cx="5499602" cy="43372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BA6FB-69EE-8E6A-243D-7E5293CEC3A1}"/>
            </a:ext>
          </a:extLst>
        </p:cNvPr>
        <p:cNvGrpSpPr/>
        <p:nvPr/>
      </p:nvGrpSpPr>
      <p:grpSpPr>
        <a:xfrm>
          <a:off x="0" y="0"/>
          <a:ext cx="0" cy="0"/>
          <a:chOff x="0" y="0"/>
          <a:chExt cx="0" cy="0"/>
        </a:xfrm>
      </p:grpSpPr>
      <p:pic>
        <p:nvPicPr>
          <p:cNvPr id="1024" name="图形 1023">
            <a:extLst>
              <a:ext uri="{FF2B5EF4-FFF2-40B4-BE49-F238E27FC236}">
                <a16:creationId xmlns:a16="http://schemas.microsoft.com/office/drawing/2014/main" id="{B44E1F9E-CEBB-9324-B537-F59008283A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4085" y="2122823"/>
            <a:ext cx="7112621" cy="3461895"/>
          </a:xfrm>
          <a:prstGeom prst="rect">
            <a:avLst/>
          </a:prstGeom>
        </p:spPr>
      </p:pic>
      <p:cxnSp>
        <p:nvCxnSpPr>
          <p:cNvPr id="2" name="直接连接符 1">
            <a:extLst>
              <a:ext uri="{FF2B5EF4-FFF2-40B4-BE49-F238E27FC236}">
                <a16:creationId xmlns:a16="http://schemas.microsoft.com/office/drawing/2014/main" id="{F55CF253-63CB-C79A-84F6-1543E8F3D67C}"/>
              </a:ext>
            </a:extLst>
          </p:cNvPr>
          <p:cNvCxnSpPr>
            <a:cxnSpLocks/>
          </p:cNvCxnSpPr>
          <p:nvPr/>
        </p:nvCxnSpPr>
        <p:spPr>
          <a:xfrm>
            <a:off x="969645" y="1014730"/>
            <a:ext cx="2373323" cy="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sp>
        <p:nvSpPr>
          <p:cNvPr id="4" name="文本框 3">
            <a:extLst>
              <a:ext uri="{FF2B5EF4-FFF2-40B4-BE49-F238E27FC236}">
                <a16:creationId xmlns:a16="http://schemas.microsoft.com/office/drawing/2014/main" id="{135038E5-3158-A249-8076-703C3AF6CA40}"/>
              </a:ext>
            </a:extLst>
          </p:cNvPr>
          <p:cNvSpPr txBox="1"/>
          <p:nvPr/>
        </p:nvSpPr>
        <p:spPr>
          <a:xfrm>
            <a:off x="969645" y="635635"/>
            <a:ext cx="2520807" cy="368300"/>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Eccentricity Condition</a:t>
            </a:r>
          </a:p>
        </p:txBody>
      </p:sp>
      <p:sp>
        <p:nvSpPr>
          <p:cNvPr id="10" name="文本框 9">
            <a:extLst>
              <a:ext uri="{FF2B5EF4-FFF2-40B4-BE49-F238E27FC236}">
                <a16:creationId xmlns:a16="http://schemas.microsoft.com/office/drawing/2014/main" id="{716D0D1D-5C8B-057F-72D3-84B3D572B0B2}"/>
              </a:ext>
            </a:extLst>
          </p:cNvPr>
          <p:cNvSpPr txBox="1"/>
          <p:nvPr/>
        </p:nvSpPr>
        <p:spPr>
          <a:xfrm>
            <a:off x="969645" y="1099185"/>
            <a:ext cx="2294665" cy="368300"/>
          </a:xfrm>
          <a:prstGeom prst="rect">
            <a:avLst/>
          </a:prstGeom>
          <a:noFill/>
        </p:spPr>
        <p:txBody>
          <a:bodyPr wrap="square" rtlCol="0" anchor="t">
            <a:spAutoFit/>
          </a:bodyPr>
          <a:lstStyle/>
          <a:p>
            <a:pPr lvl="0">
              <a:lnSpc>
                <a:spcPct val="100000"/>
              </a:lnSpc>
              <a:defRPr/>
            </a:pPr>
            <a:r>
              <a:rPr lang="en-US" altLang="zh-CN" b="1" dirty="0">
                <a:solidFill>
                  <a:sysClr val="windowText" lastClr="000000"/>
                </a:solidFill>
                <a:latin typeface="Times New Roman Bold" panose="02020603050405020304" charset="0"/>
                <a:ea typeface="宋体" pitchFamily="2" charset="-122"/>
                <a:cs typeface="Times New Roman Bold" panose="02020603050405020304" charset="0"/>
                <a:sym typeface="+mn-ea"/>
              </a:rPr>
              <a:t>Hybrid Input Model</a:t>
            </a:r>
            <a:endPar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pic>
        <p:nvPicPr>
          <p:cNvPr id="1026" name="Picture 2">
            <a:extLst>
              <a:ext uri="{FF2B5EF4-FFF2-40B4-BE49-F238E27FC236}">
                <a16:creationId xmlns:a16="http://schemas.microsoft.com/office/drawing/2014/main" id="{5664251B-1154-A45F-5938-84E56581CC0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184" y="2586373"/>
            <a:ext cx="2451987" cy="1395096"/>
          </a:xfrm>
          <a:prstGeom prst="rect">
            <a:avLst/>
          </a:prstGeom>
          <a:noFill/>
          <a:extLst>
            <a:ext uri="{909E8E84-426E-40DD-AFC4-6F175D3DCCD1}">
              <a14:hiddenFill xmlns:a14="http://schemas.microsoft.com/office/drawing/2010/main">
                <a:solidFill>
                  <a:srgbClr val="FFFFFF"/>
                </a:solidFill>
              </a14:hiddenFill>
            </a:ext>
          </a:extLst>
        </p:spPr>
      </p:pic>
      <p:sp>
        <p:nvSpPr>
          <p:cNvPr id="21" name="对话气泡: 矩形 20">
            <a:extLst>
              <a:ext uri="{FF2B5EF4-FFF2-40B4-BE49-F238E27FC236}">
                <a16:creationId xmlns:a16="http://schemas.microsoft.com/office/drawing/2014/main" id="{4230D501-9D60-8601-D4CD-58EA5E1790EF}"/>
              </a:ext>
            </a:extLst>
          </p:cNvPr>
          <p:cNvSpPr/>
          <p:nvPr/>
        </p:nvSpPr>
        <p:spPr>
          <a:xfrm>
            <a:off x="5738843" y="151529"/>
            <a:ext cx="6243484" cy="2451487"/>
          </a:xfrm>
          <a:prstGeom prst="wedgeRect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文本框 23">
            <a:extLst>
              <a:ext uri="{FF2B5EF4-FFF2-40B4-BE49-F238E27FC236}">
                <a16:creationId xmlns:a16="http://schemas.microsoft.com/office/drawing/2014/main" id="{22B6721F-8A67-3D25-FDA9-0169D55B6307}"/>
              </a:ext>
            </a:extLst>
          </p:cNvPr>
          <p:cNvSpPr txBox="1"/>
          <p:nvPr/>
        </p:nvSpPr>
        <p:spPr>
          <a:xfrm>
            <a:off x="5812431" y="151529"/>
            <a:ext cx="6169896" cy="3031196"/>
          </a:xfrm>
          <a:prstGeom prst="rect">
            <a:avLst/>
          </a:prstGeom>
          <a:noFill/>
        </p:spPr>
        <p:txBody>
          <a:bodyPr wrap="square" rtlCol="0">
            <a:noAutofit/>
          </a:bodyPr>
          <a:lstStyle/>
          <a:p>
            <a:pPr indent="0">
              <a:lnSpc>
                <a:spcPct val="130000"/>
              </a:lnSpc>
              <a:buFont typeface="Arial" panose="020B0704020202020204" pitchFamily="34" charset="0"/>
              <a:buNone/>
            </a:pPr>
            <a:r>
              <a:rPr lang="en-US" altLang="zh-CN" sz="2000" dirty="0">
                <a:solidFill>
                  <a:schemeClr val="tx1"/>
                </a:solidFill>
                <a:uFillTx/>
                <a:latin typeface="Times New Roman" panose="02020603050405020304" pitchFamily="18" charset="0"/>
              </a:rPr>
              <a:t>Given that in the 4200-5600 ft depth range, we simultaneously have </a:t>
            </a:r>
            <a:r>
              <a:rPr lang="en-US" altLang="zh-CN" sz="2000" b="1" dirty="0">
                <a:solidFill>
                  <a:schemeClr val="tx1"/>
                </a:solidFill>
                <a:uFillTx/>
                <a:latin typeface="Times New Roman" panose="02020603050405020304" pitchFamily="18" charset="0"/>
              </a:rPr>
              <a:t>'bad' CWT features and 'good' metadata clues</a:t>
            </a:r>
            <a:r>
              <a:rPr lang="en-US" altLang="zh-CN" sz="2000" dirty="0">
                <a:solidFill>
                  <a:schemeClr val="tx1"/>
                </a:solidFill>
                <a:uFillTx/>
                <a:latin typeface="Times New Roman" panose="02020603050405020304" pitchFamily="18" charset="0"/>
              </a:rPr>
              <a:t>, can we then build a smarter dual-input model that learns on its own how to use the 'good' metadata to 'decouple' or 'correct' the 'bad' CWT features?</a:t>
            </a:r>
          </a:p>
        </p:txBody>
      </p:sp>
      <p:sp>
        <p:nvSpPr>
          <p:cNvPr id="28" name="矩形 27">
            <a:extLst>
              <a:ext uri="{FF2B5EF4-FFF2-40B4-BE49-F238E27FC236}">
                <a16:creationId xmlns:a16="http://schemas.microsoft.com/office/drawing/2014/main" id="{52DFB95E-6654-D159-B396-E0EF48C1017B}"/>
              </a:ext>
            </a:extLst>
          </p:cNvPr>
          <p:cNvSpPr/>
          <p:nvPr/>
        </p:nvSpPr>
        <p:spPr>
          <a:xfrm>
            <a:off x="232832" y="5971355"/>
            <a:ext cx="4063258" cy="4635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CBC2D686-0AC5-6FD6-B6CF-CBC0F0A0F821}"/>
              </a:ext>
            </a:extLst>
          </p:cNvPr>
          <p:cNvSpPr txBox="1"/>
          <p:nvPr/>
        </p:nvSpPr>
        <p:spPr>
          <a:xfrm>
            <a:off x="232832" y="5885632"/>
            <a:ext cx="3994432" cy="634997"/>
          </a:xfrm>
          <a:prstGeom prst="rect">
            <a:avLst/>
          </a:prstGeom>
          <a:noFill/>
        </p:spPr>
        <p:txBody>
          <a:bodyPr wrap="square" rtlCol="0">
            <a:noAutofit/>
          </a:bodyPr>
          <a:lstStyle/>
          <a:p>
            <a:pPr indent="0">
              <a:lnSpc>
                <a:spcPct val="130000"/>
              </a:lnSpc>
              <a:buFont typeface="Arial" panose="020B0704020202020204" pitchFamily="34" charset="0"/>
              <a:buNone/>
            </a:pPr>
            <a:r>
              <a:rPr lang="en-US" altLang="zh-CN" sz="2400" b="1" dirty="0">
                <a:solidFill>
                  <a:srgbClr val="FF0000"/>
                </a:solidFill>
                <a:uFillTx/>
                <a:latin typeface="Times New Roman" panose="02020603050405020304" pitchFamily="18" charset="0"/>
              </a:rPr>
              <a:t>Model fails to learn anything</a:t>
            </a:r>
          </a:p>
        </p:txBody>
      </p:sp>
      <p:pic>
        <p:nvPicPr>
          <p:cNvPr id="30" name="图片 29">
            <a:extLst>
              <a:ext uri="{FF2B5EF4-FFF2-40B4-BE49-F238E27FC236}">
                <a16:creationId xmlns:a16="http://schemas.microsoft.com/office/drawing/2014/main" id="{3E24BEAC-EC7C-72C7-3E3B-2629DC7B339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24948" y="2792271"/>
            <a:ext cx="3998226" cy="3362723"/>
          </a:xfrm>
          <a:prstGeom prst="rect">
            <a:avLst/>
          </a:prstGeom>
        </p:spPr>
      </p:pic>
    </p:spTree>
    <p:extLst>
      <p:ext uri="{BB962C8B-B14F-4D97-AF65-F5344CB8AC3E}">
        <p14:creationId xmlns:p14="http://schemas.microsoft.com/office/powerpoint/2010/main" val="1413814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D28E7-4A18-3588-8263-5632E3CE3BCD}"/>
            </a:ext>
          </a:extLst>
        </p:cNvPr>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BDC4E707-B6A0-767D-467D-DA1C0E909EB3}"/>
              </a:ext>
            </a:extLst>
          </p:cNvPr>
          <p:cNvCxnSpPr>
            <a:cxnSpLocks/>
          </p:cNvCxnSpPr>
          <p:nvPr/>
        </p:nvCxnSpPr>
        <p:spPr>
          <a:xfrm>
            <a:off x="969645" y="1014730"/>
            <a:ext cx="2707620" cy="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sp>
        <p:nvSpPr>
          <p:cNvPr id="4" name="文本框 3">
            <a:extLst>
              <a:ext uri="{FF2B5EF4-FFF2-40B4-BE49-F238E27FC236}">
                <a16:creationId xmlns:a16="http://schemas.microsoft.com/office/drawing/2014/main" id="{31740EB2-2B1D-7779-B019-10D3DAB758F8}"/>
              </a:ext>
            </a:extLst>
          </p:cNvPr>
          <p:cNvSpPr txBox="1"/>
          <p:nvPr/>
        </p:nvSpPr>
        <p:spPr>
          <a:xfrm>
            <a:off x="969645" y="635635"/>
            <a:ext cx="2520807" cy="368300"/>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Eccentricity Condition</a:t>
            </a:r>
          </a:p>
        </p:txBody>
      </p:sp>
      <p:sp>
        <p:nvSpPr>
          <p:cNvPr id="10" name="文本框 9">
            <a:extLst>
              <a:ext uri="{FF2B5EF4-FFF2-40B4-BE49-F238E27FC236}">
                <a16:creationId xmlns:a16="http://schemas.microsoft.com/office/drawing/2014/main" id="{F5BFBD59-1D6F-DDFC-AAC4-CE18AC776F89}"/>
              </a:ext>
            </a:extLst>
          </p:cNvPr>
          <p:cNvSpPr txBox="1"/>
          <p:nvPr/>
        </p:nvSpPr>
        <p:spPr>
          <a:xfrm>
            <a:off x="969645" y="1099185"/>
            <a:ext cx="3012420" cy="369332"/>
          </a:xfrm>
          <a:prstGeom prst="rect">
            <a:avLst/>
          </a:prstGeom>
          <a:noFill/>
        </p:spPr>
        <p:txBody>
          <a:bodyPr wrap="square" rtlCol="0" anchor="t">
            <a:spAutoFit/>
          </a:bodyPr>
          <a:lstStyle/>
          <a:p>
            <a:pPr lvl="0">
              <a:lnSpc>
                <a:spcPct val="100000"/>
              </a:lnSpc>
              <a:defRPr/>
            </a:pPr>
            <a:r>
              <a:rPr lang="en-US" altLang="zh-CN" b="1" dirty="0">
                <a:solidFill>
                  <a:sysClr val="windowText" lastClr="000000"/>
                </a:solidFill>
                <a:latin typeface="Times New Roman Bold" panose="02020603050405020304" charset="0"/>
                <a:ea typeface="宋体" pitchFamily="2" charset="-122"/>
                <a:cs typeface="Times New Roman Bold" panose="02020603050405020304" charset="0"/>
                <a:sym typeface="+mn-ea"/>
              </a:rPr>
              <a:t>Eccentricity pre-correction</a:t>
            </a:r>
            <a:endPar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pic>
        <p:nvPicPr>
          <p:cNvPr id="8" name="图片 7">
            <a:extLst>
              <a:ext uri="{FF2B5EF4-FFF2-40B4-BE49-F238E27FC236}">
                <a16:creationId xmlns:a16="http://schemas.microsoft.com/office/drawing/2014/main" id="{F8F36432-907E-AEAE-F2C6-4D852CB670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49338" y="1003935"/>
            <a:ext cx="3366012" cy="2992011"/>
          </a:xfrm>
          <a:prstGeom prst="rect">
            <a:avLst/>
          </a:prstGeom>
        </p:spPr>
      </p:pic>
      <p:sp>
        <p:nvSpPr>
          <p:cNvPr id="9" name="对话气泡: 矩形 8">
            <a:extLst>
              <a:ext uri="{FF2B5EF4-FFF2-40B4-BE49-F238E27FC236}">
                <a16:creationId xmlns:a16="http://schemas.microsoft.com/office/drawing/2014/main" id="{B2F4900A-A6E2-4048-5EBE-57CB1D3899DF}"/>
              </a:ext>
            </a:extLst>
          </p:cNvPr>
          <p:cNvSpPr/>
          <p:nvPr/>
        </p:nvSpPr>
        <p:spPr>
          <a:xfrm>
            <a:off x="331916" y="4062781"/>
            <a:ext cx="6243484" cy="2451487"/>
          </a:xfrm>
          <a:prstGeom prst="wedgeRect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a:extLst>
              <a:ext uri="{FF2B5EF4-FFF2-40B4-BE49-F238E27FC236}">
                <a16:creationId xmlns:a16="http://schemas.microsoft.com/office/drawing/2014/main" id="{6B628653-F97D-95C8-29BB-180A27A405BA}"/>
              </a:ext>
            </a:extLst>
          </p:cNvPr>
          <p:cNvSpPr txBox="1"/>
          <p:nvPr/>
        </p:nvSpPr>
        <p:spPr>
          <a:xfrm>
            <a:off x="442574" y="4062781"/>
            <a:ext cx="6169896" cy="3031196"/>
          </a:xfrm>
          <a:prstGeom prst="rect">
            <a:avLst/>
          </a:prstGeom>
          <a:noFill/>
        </p:spPr>
        <p:txBody>
          <a:bodyPr wrap="square" rtlCol="0">
            <a:noAutofit/>
          </a:bodyPr>
          <a:lstStyle/>
          <a:p>
            <a:pPr indent="0">
              <a:lnSpc>
                <a:spcPct val="130000"/>
              </a:lnSpc>
              <a:buFont typeface="Arial" panose="020B0704020202020204" pitchFamily="34" charset="0"/>
              <a:buNone/>
            </a:pPr>
            <a:r>
              <a:rPr lang="en-US" altLang="zh-CN" sz="2000" dirty="0">
                <a:solidFill>
                  <a:schemeClr val="tx1"/>
                </a:solidFill>
                <a:uFillTx/>
                <a:latin typeface="Times New Roman" panose="02020603050405020304" pitchFamily="18" charset="0"/>
              </a:rPr>
              <a:t>We no longer rely on the model to 'guess'. Instead, during the preprocessing stage, we first use the 'good' metadata to </a:t>
            </a:r>
            <a:r>
              <a:rPr lang="en-US" altLang="zh-CN" sz="2000" b="1" dirty="0">
                <a:solidFill>
                  <a:schemeClr val="tx1"/>
                </a:solidFill>
                <a:uFillTx/>
                <a:latin typeface="Times New Roman" panose="02020603050405020304" pitchFamily="18" charset="0"/>
              </a:rPr>
              <a:t>build an eccentricity correction model</a:t>
            </a:r>
            <a:r>
              <a:rPr lang="en-US" altLang="zh-CN" sz="2000" dirty="0">
                <a:solidFill>
                  <a:schemeClr val="tx1"/>
                </a:solidFill>
                <a:uFillTx/>
                <a:latin typeface="Times New Roman" panose="02020603050405020304" pitchFamily="18" charset="0"/>
              </a:rPr>
              <a:t>. We use this model to 'cleanse' the 'bad' waveform data, and finally, we feed only the 'clean' CWT features into a simple, single-input model.</a:t>
            </a:r>
          </a:p>
        </p:txBody>
      </p:sp>
      <p:sp>
        <p:nvSpPr>
          <p:cNvPr id="16" name="矩形 15">
            <a:extLst>
              <a:ext uri="{FF2B5EF4-FFF2-40B4-BE49-F238E27FC236}">
                <a16:creationId xmlns:a16="http://schemas.microsoft.com/office/drawing/2014/main" id="{F3537FE1-5CD8-4D09-FA81-22152835676D}"/>
              </a:ext>
            </a:extLst>
          </p:cNvPr>
          <p:cNvSpPr/>
          <p:nvPr/>
        </p:nvSpPr>
        <p:spPr>
          <a:xfrm>
            <a:off x="6904509" y="4048038"/>
            <a:ext cx="4710841" cy="24662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7" name="文本框 16">
            <a:extLst>
              <a:ext uri="{FF2B5EF4-FFF2-40B4-BE49-F238E27FC236}">
                <a16:creationId xmlns:a16="http://schemas.microsoft.com/office/drawing/2014/main" id="{8D630C6B-2784-95BD-7037-E2695665055D}"/>
              </a:ext>
            </a:extLst>
          </p:cNvPr>
          <p:cNvSpPr txBox="1"/>
          <p:nvPr/>
        </p:nvSpPr>
        <p:spPr>
          <a:xfrm>
            <a:off x="6904509" y="3993546"/>
            <a:ext cx="4636702" cy="2520722"/>
          </a:xfrm>
          <a:prstGeom prst="rect">
            <a:avLst/>
          </a:prstGeom>
          <a:noFill/>
        </p:spPr>
        <p:txBody>
          <a:bodyPr wrap="square" rtlCol="0">
            <a:noAutofit/>
          </a:bodyPr>
          <a:lstStyle/>
          <a:p>
            <a:pPr indent="0">
              <a:lnSpc>
                <a:spcPct val="130000"/>
              </a:lnSpc>
              <a:buFont typeface="Arial" panose="020B0704020202020204" pitchFamily="34" charset="0"/>
              <a:buNone/>
            </a:pPr>
            <a:r>
              <a:rPr lang="en-US" altLang="zh-CN" sz="2000" dirty="0">
                <a:solidFill>
                  <a:schemeClr val="tx1"/>
                </a:solidFill>
                <a:uFillTx/>
                <a:latin typeface="Times New Roman" panose="02020603050405020304" pitchFamily="18" charset="0"/>
              </a:rPr>
              <a:t>The model is able to learn, but its performance is very poor.</a:t>
            </a:r>
          </a:p>
          <a:p>
            <a:pPr indent="0">
              <a:lnSpc>
                <a:spcPct val="130000"/>
              </a:lnSpc>
              <a:buFont typeface="Arial" panose="020B0704020202020204" pitchFamily="34" charset="0"/>
              <a:buNone/>
            </a:pPr>
            <a:r>
              <a:rPr lang="en-US" altLang="zh-CN" sz="2000" dirty="0">
                <a:solidFill>
                  <a:schemeClr val="tx1"/>
                </a:solidFill>
                <a:uFillTx/>
                <a:latin typeface="Times New Roman" panose="02020603050405020304" pitchFamily="18" charset="0"/>
              </a:rPr>
              <a:t>This proves that our correction model itself is not sophisticated enough (or 'is insufficient') and cannot completely 'wash away' (or 'remove') all of the contamination.</a:t>
            </a:r>
          </a:p>
        </p:txBody>
      </p:sp>
      <p:pic>
        <p:nvPicPr>
          <p:cNvPr id="20" name="图形 19">
            <a:extLst>
              <a:ext uri="{FF2B5EF4-FFF2-40B4-BE49-F238E27FC236}">
                <a16:creationId xmlns:a16="http://schemas.microsoft.com/office/drawing/2014/main" id="{A1F97F4B-65A7-5C17-A028-9D05C5252DB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1916" y="1468517"/>
            <a:ext cx="6877050" cy="2579519"/>
          </a:xfrm>
          <a:prstGeom prst="rect">
            <a:avLst/>
          </a:prstGeom>
        </p:spPr>
      </p:pic>
    </p:spTree>
    <p:extLst>
      <p:ext uri="{BB962C8B-B14F-4D97-AF65-F5344CB8AC3E}">
        <p14:creationId xmlns:p14="http://schemas.microsoft.com/office/powerpoint/2010/main" val="3970678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BB35-7B37-6821-71E9-D049D8BD7426}"/>
            </a:ext>
          </a:extLst>
        </p:cNvPr>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49E46143-8561-71FA-F138-BEFA2E90381B}"/>
              </a:ext>
            </a:extLst>
          </p:cNvPr>
          <p:cNvCxnSpPr>
            <a:cxnSpLocks/>
          </p:cNvCxnSpPr>
          <p:nvPr/>
        </p:nvCxnSpPr>
        <p:spPr>
          <a:xfrm>
            <a:off x="969645" y="1014730"/>
            <a:ext cx="2707620" cy="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sp>
        <p:nvSpPr>
          <p:cNvPr id="4" name="文本框 3">
            <a:extLst>
              <a:ext uri="{FF2B5EF4-FFF2-40B4-BE49-F238E27FC236}">
                <a16:creationId xmlns:a16="http://schemas.microsoft.com/office/drawing/2014/main" id="{7D54B29E-2786-C381-FCAC-E4C2A57ABE93}"/>
              </a:ext>
            </a:extLst>
          </p:cNvPr>
          <p:cNvSpPr txBox="1"/>
          <p:nvPr/>
        </p:nvSpPr>
        <p:spPr>
          <a:xfrm>
            <a:off x="969646" y="635635"/>
            <a:ext cx="2004214" cy="369332"/>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Non Eccentricity</a:t>
            </a:r>
          </a:p>
        </p:txBody>
      </p:sp>
      <p:pic>
        <p:nvPicPr>
          <p:cNvPr id="5" name="图形 4">
            <a:extLst>
              <a:ext uri="{FF2B5EF4-FFF2-40B4-BE49-F238E27FC236}">
                <a16:creationId xmlns:a16="http://schemas.microsoft.com/office/drawing/2014/main" id="{362E057C-ECFC-44C6-19FB-4A6E90ADFD3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1099043"/>
            <a:ext cx="12074942" cy="3428584"/>
          </a:xfrm>
          <a:prstGeom prst="rect">
            <a:avLst/>
          </a:prstGeom>
        </p:spPr>
      </p:pic>
      <p:pic>
        <p:nvPicPr>
          <p:cNvPr id="14" name="图片 13">
            <a:extLst>
              <a:ext uri="{FF2B5EF4-FFF2-40B4-BE49-F238E27FC236}">
                <a16:creationId xmlns:a16="http://schemas.microsoft.com/office/drawing/2014/main" id="{55A3761B-1CEC-A519-0104-214BB0713A7E}"/>
              </a:ext>
            </a:extLst>
          </p:cNvPr>
          <p:cNvPicPr>
            <a:picLocks noChangeAspect="1"/>
          </p:cNvPicPr>
          <p:nvPr/>
        </p:nvPicPr>
        <p:blipFill>
          <a:blip r:embed="rId5"/>
          <a:stretch>
            <a:fillRect/>
          </a:stretch>
        </p:blipFill>
        <p:spPr>
          <a:xfrm>
            <a:off x="117058" y="1838418"/>
            <a:ext cx="3560207" cy="1949834"/>
          </a:xfrm>
          <a:prstGeom prst="rect">
            <a:avLst/>
          </a:prstGeom>
        </p:spPr>
      </p:pic>
      <p:pic>
        <p:nvPicPr>
          <p:cNvPr id="18" name="图片 17">
            <a:extLst>
              <a:ext uri="{FF2B5EF4-FFF2-40B4-BE49-F238E27FC236}">
                <a16:creationId xmlns:a16="http://schemas.microsoft.com/office/drawing/2014/main" id="{88F45EA0-C89A-E4CF-A385-270D0EFC9E19}"/>
              </a:ext>
            </a:extLst>
          </p:cNvPr>
          <p:cNvPicPr>
            <a:picLocks/>
          </p:cNvPicPr>
          <p:nvPr/>
        </p:nvPicPr>
        <p:blipFill>
          <a:blip r:embed="rId6" cstate="print">
            <a:extLst>
              <a:ext uri="{28A0092B-C50C-407E-A947-70E740481C1C}">
                <a14:useLocalDpi xmlns:a14="http://schemas.microsoft.com/office/drawing/2010/main" val="0"/>
              </a:ext>
            </a:extLst>
          </a:blip>
          <a:srcRect t="10535" r="58281"/>
          <a:stretch>
            <a:fillRect/>
          </a:stretch>
        </p:blipFill>
        <p:spPr>
          <a:xfrm>
            <a:off x="3488203" y="4637368"/>
            <a:ext cx="2352675" cy="1998504"/>
          </a:xfrm>
          <a:prstGeom prst="rect">
            <a:avLst/>
          </a:prstGeom>
        </p:spPr>
      </p:pic>
      <p:pic>
        <p:nvPicPr>
          <p:cNvPr id="22" name="图片 21">
            <a:extLst>
              <a:ext uri="{FF2B5EF4-FFF2-40B4-BE49-F238E27FC236}">
                <a16:creationId xmlns:a16="http://schemas.microsoft.com/office/drawing/2014/main" id="{508CE450-EAAE-9DF0-F37F-A0F8E1129A1A}"/>
              </a:ext>
            </a:extLst>
          </p:cNvPr>
          <p:cNvPicPr>
            <a:picLocks/>
          </p:cNvPicPr>
          <p:nvPr/>
        </p:nvPicPr>
        <p:blipFill>
          <a:blip r:embed="rId7" cstate="print">
            <a:extLst>
              <a:ext uri="{28A0092B-C50C-407E-A947-70E740481C1C}">
                <a14:useLocalDpi xmlns:a14="http://schemas.microsoft.com/office/drawing/2010/main" val="0"/>
              </a:ext>
            </a:extLst>
          </a:blip>
          <a:srcRect l="42656" t="88571" r="12031" b="3750"/>
          <a:stretch>
            <a:fillRect/>
          </a:stretch>
        </p:blipFill>
        <p:spPr>
          <a:xfrm>
            <a:off x="5840876" y="6307249"/>
            <a:ext cx="3236440" cy="325439"/>
          </a:xfrm>
          <a:prstGeom prst="rect">
            <a:avLst/>
          </a:prstGeom>
        </p:spPr>
      </p:pic>
      <p:pic>
        <p:nvPicPr>
          <p:cNvPr id="25" name="图片 24">
            <a:extLst>
              <a:ext uri="{FF2B5EF4-FFF2-40B4-BE49-F238E27FC236}">
                <a16:creationId xmlns:a16="http://schemas.microsoft.com/office/drawing/2014/main" id="{B987BC84-12E1-BAC7-B13E-DACC39D5C3C9}"/>
              </a:ext>
            </a:extLst>
          </p:cNvPr>
          <p:cNvPicPr>
            <a:picLocks/>
          </p:cNvPicPr>
          <p:nvPr/>
        </p:nvPicPr>
        <p:blipFill>
          <a:blip r:embed="rId7">
            <a:extLst>
              <a:ext uri="{28A0092B-C50C-407E-A947-70E740481C1C}">
                <a14:useLocalDpi xmlns:a14="http://schemas.microsoft.com/office/drawing/2010/main" val="0"/>
              </a:ext>
            </a:extLst>
          </a:blip>
          <a:srcRect l="42969" t="12845" r="12188" b="61786"/>
          <a:stretch>
            <a:fillRect/>
          </a:stretch>
        </p:blipFill>
        <p:spPr>
          <a:xfrm>
            <a:off x="5840876" y="4753336"/>
            <a:ext cx="3236442" cy="1563466"/>
          </a:xfrm>
          <a:prstGeom prst="rect">
            <a:avLst/>
          </a:prstGeom>
        </p:spPr>
      </p:pic>
      <p:sp>
        <p:nvSpPr>
          <p:cNvPr id="27" name="文本框 26">
            <a:extLst>
              <a:ext uri="{FF2B5EF4-FFF2-40B4-BE49-F238E27FC236}">
                <a16:creationId xmlns:a16="http://schemas.microsoft.com/office/drawing/2014/main" id="{8380083E-F5B7-6F30-02AC-D5B9EEE52A58}"/>
              </a:ext>
            </a:extLst>
          </p:cNvPr>
          <p:cNvSpPr txBox="1"/>
          <p:nvPr/>
        </p:nvSpPr>
        <p:spPr>
          <a:xfrm>
            <a:off x="969645" y="1099185"/>
            <a:ext cx="1316355" cy="369332"/>
          </a:xfrm>
          <a:prstGeom prst="rect">
            <a:avLst/>
          </a:prstGeom>
          <a:noFill/>
        </p:spPr>
        <p:txBody>
          <a:bodyPr wrap="square" rtlCol="0" anchor="t">
            <a:spAutoFit/>
          </a:bodyPr>
          <a:lstStyle/>
          <a:p>
            <a:pPr lvl="0">
              <a:lnSpc>
                <a:spcPct val="100000"/>
              </a:lnSpc>
              <a:defRPr/>
            </a:pPr>
            <a:r>
              <a:rPr lang="en-US" altLang="zh-CN" b="1" dirty="0">
                <a:solidFill>
                  <a:sysClr val="windowText" lastClr="000000"/>
                </a:solidFill>
                <a:latin typeface="Times New Roman Bold" panose="02020603050405020304" charset="0"/>
                <a:ea typeface="宋体" pitchFamily="2" charset="-122"/>
                <a:cs typeface="Times New Roman Bold" panose="02020603050405020304" charset="0"/>
                <a:sym typeface="+mn-ea"/>
              </a:rPr>
              <a:t>Preprocess</a:t>
            </a:r>
            <a:endPar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spTree>
    <p:extLst>
      <p:ext uri="{BB962C8B-B14F-4D97-AF65-F5344CB8AC3E}">
        <p14:creationId xmlns:p14="http://schemas.microsoft.com/office/powerpoint/2010/main" val="812955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E4633-6D29-206C-EDAD-D03C7D7B52D6}"/>
            </a:ext>
          </a:extLst>
        </p:cNvPr>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8457195D-62F6-4A50-DC14-1A9F21E10702}"/>
              </a:ext>
            </a:extLst>
          </p:cNvPr>
          <p:cNvCxnSpPr>
            <a:cxnSpLocks/>
          </p:cNvCxnSpPr>
          <p:nvPr/>
        </p:nvCxnSpPr>
        <p:spPr>
          <a:xfrm>
            <a:off x="969645" y="1014730"/>
            <a:ext cx="2707620" cy="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sp>
        <p:nvSpPr>
          <p:cNvPr id="27" name="文本框 26">
            <a:extLst>
              <a:ext uri="{FF2B5EF4-FFF2-40B4-BE49-F238E27FC236}">
                <a16:creationId xmlns:a16="http://schemas.microsoft.com/office/drawing/2014/main" id="{CED9ECC7-978C-7546-9800-B9119997C837}"/>
              </a:ext>
            </a:extLst>
          </p:cNvPr>
          <p:cNvSpPr txBox="1"/>
          <p:nvPr/>
        </p:nvSpPr>
        <p:spPr>
          <a:xfrm>
            <a:off x="969645" y="1099185"/>
            <a:ext cx="1316355" cy="369332"/>
          </a:xfrm>
          <a:prstGeom prst="rect">
            <a:avLst/>
          </a:prstGeom>
          <a:noFill/>
        </p:spPr>
        <p:txBody>
          <a:bodyPr wrap="square" rtlCol="0" anchor="t">
            <a:spAutoFit/>
          </a:bodyPr>
          <a:lstStyle/>
          <a:p>
            <a:pPr lvl="0">
              <a:lnSpc>
                <a:spcPct val="100000"/>
              </a:lnSpc>
              <a:defRPr/>
            </a:pPr>
            <a:r>
              <a:rPr lang="en-US" altLang="zh-CN" b="1" dirty="0">
                <a:solidFill>
                  <a:sysClr val="windowText" lastClr="000000"/>
                </a:solidFill>
                <a:latin typeface="Times New Roman Bold" panose="02020603050405020304" charset="0"/>
                <a:ea typeface="宋体" pitchFamily="2" charset="-122"/>
                <a:cs typeface="Times New Roman Bold" panose="02020603050405020304" charset="0"/>
                <a:sym typeface="+mn-ea"/>
              </a:rPr>
              <a:t>Modeling</a:t>
            </a:r>
            <a:endPar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endParaRPr>
          </a:p>
        </p:txBody>
      </p:sp>
      <p:sp>
        <p:nvSpPr>
          <p:cNvPr id="3" name="文本框 2">
            <a:extLst>
              <a:ext uri="{FF2B5EF4-FFF2-40B4-BE49-F238E27FC236}">
                <a16:creationId xmlns:a16="http://schemas.microsoft.com/office/drawing/2014/main" id="{67720C63-314E-DCCF-831C-FFAA9E81225C}"/>
              </a:ext>
            </a:extLst>
          </p:cNvPr>
          <p:cNvSpPr txBox="1"/>
          <p:nvPr/>
        </p:nvSpPr>
        <p:spPr>
          <a:xfrm>
            <a:off x="969646" y="635635"/>
            <a:ext cx="2004214" cy="369332"/>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Non Eccentricity</a:t>
            </a:r>
          </a:p>
        </p:txBody>
      </p:sp>
      <p:pic>
        <p:nvPicPr>
          <p:cNvPr id="8" name="图形 7">
            <a:extLst>
              <a:ext uri="{FF2B5EF4-FFF2-40B4-BE49-F238E27FC236}">
                <a16:creationId xmlns:a16="http://schemas.microsoft.com/office/drawing/2014/main" id="{A085A619-2421-5D33-8F20-C96A7CA741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71753" y="1644235"/>
            <a:ext cx="8524747" cy="4114580"/>
          </a:xfrm>
          <a:prstGeom prst="rect">
            <a:avLst/>
          </a:prstGeom>
        </p:spPr>
      </p:pic>
    </p:spTree>
    <p:extLst>
      <p:ext uri="{BB962C8B-B14F-4D97-AF65-F5344CB8AC3E}">
        <p14:creationId xmlns:p14="http://schemas.microsoft.com/office/powerpoint/2010/main" val="935686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2966F-B686-0B35-51F8-600350CF566F}"/>
            </a:ext>
          </a:extLst>
        </p:cNvPr>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8A506C7B-6F62-DEE0-9F59-594821568311}"/>
              </a:ext>
            </a:extLst>
          </p:cNvPr>
          <p:cNvCxnSpPr>
            <a:cxnSpLocks/>
          </p:cNvCxnSpPr>
          <p:nvPr/>
        </p:nvCxnSpPr>
        <p:spPr>
          <a:xfrm>
            <a:off x="524801" y="543851"/>
            <a:ext cx="2707620" cy="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sp>
        <p:nvSpPr>
          <p:cNvPr id="27" name="文本框 26">
            <a:extLst>
              <a:ext uri="{FF2B5EF4-FFF2-40B4-BE49-F238E27FC236}">
                <a16:creationId xmlns:a16="http://schemas.microsoft.com/office/drawing/2014/main" id="{FFE145F2-9479-E7AC-07DF-04BEE4371CBB}"/>
              </a:ext>
            </a:extLst>
          </p:cNvPr>
          <p:cNvSpPr txBox="1"/>
          <p:nvPr/>
        </p:nvSpPr>
        <p:spPr>
          <a:xfrm>
            <a:off x="524801" y="628306"/>
            <a:ext cx="1316355" cy="369332"/>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Results</a:t>
            </a:r>
          </a:p>
        </p:txBody>
      </p:sp>
      <p:sp>
        <p:nvSpPr>
          <p:cNvPr id="3" name="文本框 2">
            <a:extLst>
              <a:ext uri="{FF2B5EF4-FFF2-40B4-BE49-F238E27FC236}">
                <a16:creationId xmlns:a16="http://schemas.microsoft.com/office/drawing/2014/main" id="{F07CF466-ABDC-4EF9-ED6C-31240E327807}"/>
              </a:ext>
            </a:extLst>
          </p:cNvPr>
          <p:cNvSpPr txBox="1"/>
          <p:nvPr/>
        </p:nvSpPr>
        <p:spPr>
          <a:xfrm>
            <a:off x="524802" y="164756"/>
            <a:ext cx="2004214" cy="369332"/>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Non Eccentricity</a:t>
            </a:r>
          </a:p>
        </p:txBody>
      </p:sp>
      <p:pic>
        <p:nvPicPr>
          <p:cNvPr id="5" name="图片 4">
            <a:extLst>
              <a:ext uri="{FF2B5EF4-FFF2-40B4-BE49-F238E27FC236}">
                <a16:creationId xmlns:a16="http://schemas.microsoft.com/office/drawing/2014/main" id="{4109F113-CBBF-7E11-C465-1179E8C8830C}"/>
              </a:ext>
            </a:extLst>
          </p:cNvPr>
          <p:cNvPicPr>
            <a:picLocks/>
          </p:cNvPicPr>
          <p:nvPr/>
        </p:nvPicPr>
        <p:blipFill>
          <a:blip r:embed="rId3" cstate="print">
            <a:extLst>
              <a:ext uri="{28A0092B-C50C-407E-A947-70E740481C1C}">
                <a14:useLocalDpi xmlns:a14="http://schemas.microsoft.com/office/drawing/2010/main" val="0"/>
              </a:ext>
            </a:extLst>
          </a:blip>
          <a:srcRect l="6285" t="6593" r="8925" b="5269"/>
          <a:stretch>
            <a:fillRect/>
          </a:stretch>
        </p:blipFill>
        <p:spPr>
          <a:xfrm>
            <a:off x="267659" y="1930908"/>
            <a:ext cx="2964762" cy="2750492"/>
          </a:xfrm>
          <a:prstGeom prst="rect">
            <a:avLst/>
          </a:prstGeom>
        </p:spPr>
      </p:pic>
      <p:pic>
        <p:nvPicPr>
          <p:cNvPr id="7" name="图片 6">
            <a:extLst>
              <a:ext uri="{FF2B5EF4-FFF2-40B4-BE49-F238E27FC236}">
                <a16:creationId xmlns:a16="http://schemas.microsoft.com/office/drawing/2014/main" id="{201FE52B-E12F-201F-7767-756C45F86C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73254" y="543851"/>
            <a:ext cx="6318746" cy="4739060"/>
          </a:xfrm>
          <a:prstGeom prst="rect">
            <a:avLst/>
          </a:prstGeom>
        </p:spPr>
      </p:pic>
      <p:pic>
        <p:nvPicPr>
          <p:cNvPr id="10" name="图片 9">
            <a:extLst>
              <a:ext uri="{FF2B5EF4-FFF2-40B4-BE49-F238E27FC236}">
                <a16:creationId xmlns:a16="http://schemas.microsoft.com/office/drawing/2014/main" id="{B728E9F9-36A2-A7F2-C1AF-D26F35655A0F}"/>
              </a:ext>
            </a:extLst>
          </p:cNvPr>
          <p:cNvPicPr>
            <a:picLocks/>
          </p:cNvPicPr>
          <p:nvPr/>
        </p:nvPicPr>
        <p:blipFill>
          <a:blip r:embed="rId5" cstate="print">
            <a:extLst>
              <a:ext uri="{28A0092B-C50C-407E-A947-70E740481C1C}">
                <a14:useLocalDpi xmlns:a14="http://schemas.microsoft.com/office/drawing/2010/main" val="0"/>
              </a:ext>
            </a:extLst>
          </a:blip>
          <a:srcRect l="4345" t="8911" r="7769" b="6212"/>
          <a:stretch>
            <a:fillRect/>
          </a:stretch>
        </p:blipFill>
        <p:spPr>
          <a:xfrm>
            <a:off x="3228588" y="724071"/>
            <a:ext cx="2643737" cy="4666908"/>
          </a:xfrm>
          <a:prstGeom prst="rect">
            <a:avLst/>
          </a:prstGeom>
        </p:spPr>
      </p:pic>
      <p:sp>
        <p:nvSpPr>
          <p:cNvPr id="16" name="矩形 15">
            <a:extLst>
              <a:ext uri="{FF2B5EF4-FFF2-40B4-BE49-F238E27FC236}">
                <a16:creationId xmlns:a16="http://schemas.microsoft.com/office/drawing/2014/main" id="{ED8E1188-BABB-1F57-ECAA-1D11DA76363D}"/>
              </a:ext>
            </a:extLst>
          </p:cNvPr>
          <p:cNvSpPr/>
          <p:nvPr/>
        </p:nvSpPr>
        <p:spPr>
          <a:xfrm>
            <a:off x="3228588" y="5465218"/>
            <a:ext cx="6124335" cy="122600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noFill/>
              </a:rPr>
              <a:t>s</a:t>
            </a:r>
            <a:endParaRPr lang="zh-CN" altLang="en-US" dirty="0">
              <a:noFill/>
            </a:endParaRPr>
          </a:p>
        </p:txBody>
      </p:sp>
      <p:sp>
        <p:nvSpPr>
          <p:cNvPr id="17" name="文本框 16">
            <a:extLst>
              <a:ext uri="{FF2B5EF4-FFF2-40B4-BE49-F238E27FC236}">
                <a16:creationId xmlns:a16="http://schemas.microsoft.com/office/drawing/2014/main" id="{C5373002-2FCD-7B63-3090-DD06FD2CD271}"/>
              </a:ext>
            </a:extLst>
          </p:cNvPr>
          <p:cNvSpPr txBox="1"/>
          <p:nvPr/>
        </p:nvSpPr>
        <p:spPr>
          <a:xfrm>
            <a:off x="3309091" y="5393067"/>
            <a:ext cx="6318746" cy="1298155"/>
          </a:xfrm>
          <a:prstGeom prst="rect">
            <a:avLst/>
          </a:prstGeom>
          <a:noFill/>
        </p:spPr>
        <p:txBody>
          <a:bodyPr wrap="square" rtlCol="0">
            <a:noAutofit/>
          </a:bodyPr>
          <a:lstStyle/>
          <a:p>
            <a:pPr indent="0">
              <a:lnSpc>
                <a:spcPct val="130000"/>
              </a:lnSpc>
              <a:buFont typeface="Arial" panose="020B0704020202020204" pitchFamily="34" charset="0"/>
              <a:buNone/>
            </a:pPr>
            <a:r>
              <a:rPr lang="en-US" altLang="zh-CN" sz="2000" dirty="0">
                <a:solidFill>
                  <a:schemeClr val="tx1"/>
                </a:solidFill>
                <a:uFillTx/>
                <a:latin typeface="Times New Roman" panose="02020603050405020304" pitchFamily="18" charset="0"/>
              </a:rPr>
              <a:t>The model's prediction performance is good for good cement bonding; however, the worse the cementing condition, the worse the model's prediction performance.</a:t>
            </a:r>
          </a:p>
        </p:txBody>
      </p:sp>
    </p:spTree>
    <p:extLst>
      <p:ext uri="{BB962C8B-B14F-4D97-AF65-F5344CB8AC3E}">
        <p14:creationId xmlns:p14="http://schemas.microsoft.com/office/powerpoint/2010/main" val="2453147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C1801-8AAA-FB61-E4F8-AEBEC8A46FAE}"/>
            </a:ext>
          </a:extLst>
        </p:cNvPr>
        <p:cNvGrpSpPr/>
        <p:nvPr/>
      </p:nvGrpSpPr>
      <p:grpSpPr>
        <a:xfrm>
          <a:off x="0" y="0"/>
          <a:ext cx="0" cy="0"/>
          <a:chOff x="0" y="0"/>
          <a:chExt cx="0" cy="0"/>
        </a:xfrm>
      </p:grpSpPr>
      <p:cxnSp>
        <p:nvCxnSpPr>
          <p:cNvPr id="2" name="直接连接符 1">
            <a:extLst>
              <a:ext uri="{FF2B5EF4-FFF2-40B4-BE49-F238E27FC236}">
                <a16:creationId xmlns:a16="http://schemas.microsoft.com/office/drawing/2014/main" id="{57A288D2-F870-DC25-484C-93654142F032}"/>
              </a:ext>
            </a:extLst>
          </p:cNvPr>
          <p:cNvCxnSpPr>
            <a:cxnSpLocks/>
          </p:cNvCxnSpPr>
          <p:nvPr/>
        </p:nvCxnSpPr>
        <p:spPr>
          <a:xfrm>
            <a:off x="524801" y="404067"/>
            <a:ext cx="2707620" cy="0"/>
          </a:xfrm>
          <a:prstGeom prst="line">
            <a:avLst/>
          </a:prstGeom>
          <a:ln w="31750" cap="rnd">
            <a:solidFill>
              <a:prstClr val="black"/>
            </a:solidFill>
            <a:round/>
          </a:ln>
        </p:spPr>
        <p:style>
          <a:lnRef idx="0">
            <a:srgbClr val="FFFFFF"/>
          </a:lnRef>
          <a:fillRef idx="0">
            <a:srgbClr val="FFFFFF"/>
          </a:fillRef>
          <a:effectRef idx="0">
            <a:srgbClr val="FFFFFF"/>
          </a:effectRef>
          <a:fontRef idx="minor">
            <a:schemeClr val="tx1"/>
          </a:fontRef>
        </p:style>
      </p:cxnSp>
      <p:sp>
        <p:nvSpPr>
          <p:cNvPr id="27" name="文本框 26">
            <a:extLst>
              <a:ext uri="{FF2B5EF4-FFF2-40B4-BE49-F238E27FC236}">
                <a16:creationId xmlns:a16="http://schemas.microsoft.com/office/drawing/2014/main" id="{5AE3D811-D5BA-5148-1928-8BAD101DC4F4}"/>
              </a:ext>
            </a:extLst>
          </p:cNvPr>
          <p:cNvSpPr txBox="1"/>
          <p:nvPr/>
        </p:nvSpPr>
        <p:spPr>
          <a:xfrm>
            <a:off x="524801" y="488522"/>
            <a:ext cx="1316355" cy="369332"/>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Results</a:t>
            </a:r>
          </a:p>
        </p:txBody>
      </p:sp>
      <p:sp>
        <p:nvSpPr>
          <p:cNvPr id="3" name="文本框 2">
            <a:extLst>
              <a:ext uri="{FF2B5EF4-FFF2-40B4-BE49-F238E27FC236}">
                <a16:creationId xmlns:a16="http://schemas.microsoft.com/office/drawing/2014/main" id="{0D77C255-486D-7836-648E-2A537552CCFB}"/>
              </a:ext>
            </a:extLst>
          </p:cNvPr>
          <p:cNvSpPr txBox="1"/>
          <p:nvPr/>
        </p:nvSpPr>
        <p:spPr>
          <a:xfrm>
            <a:off x="524802" y="24972"/>
            <a:ext cx="2004214" cy="369332"/>
          </a:xfrm>
          <a:prstGeom prst="rect">
            <a:avLst/>
          </a:prstGeom>
          <a:noFill/>
        </p:spPr>
        <p:txBody>
          <a:bodyPr wrap="square" rtlCol="0" anchor="t">
            <a:spAutoFit/>
          </a:bodyPr>
          <a:lstStyle/>
          <a:p>
            <a:pPr lvl="0">
              <a:lnSpc>
                <a:spcPct val="100000"/>
              </a:lnSpc>
              <a:defRPr/>
            </a:pPr>
            <a:r>
              <a:rPr lang="en-US" altLang="zh-CN" b="1" noProof="0" dirty="0">
                <a:ln>
                  <a:noFill/>
                </a:ln>
                <a:solidFill>
                  <a:sysClr val="windowText" lastClr="000000"/>
                </a:solidFill>
                <a:effectLst/>
                <a:uLnTx/>
                <a:uFillTx/>
                <a:latin typeface="Times New Roman Bold" panose="02020603050405020304" charset="0"/>
                <a:ea typeface="宋体" pitchFamily="2" charset="-122"/>
                <a:cs typeface="Times New Roman Bold" panose="02020603050405020304" charset="0"/>
                <a:sym typeface="+mn-ea"/>
              </a:rPr>
              <a:t>Non Eccentricity</a:t>
            </a:r>
          </a:p>
        </p:txBody>
      </p:sp>
      <p:pic>
        <p:nvPicPr>
          <p:cNvPr id="6" name="图片 5">
            <a:extLst>
              <a:ext uri="{FF2B5EF4-FFF2-40B4-BE49-F238E27FC236}">
                <a16:creationId xmlns:a16="http://schemas.microsoft.com/office/drawing/2014/main" id="{C309EC97-FF1D-2953-79B6-A16E8BE7FD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32421" y="971365"/>
            <a:ext cx="4396248" cy="2930832"/>
          </a:xfrm>
          <a:prstGeom prst="rect">
            <a:avLst/>
          </a:prstGeom>
        </p:spPr>
      </p:pic>
      <p:pic>
        <p:nvPicPr>
          <p:cNvPr id="9" name="图片 8">
            <a:extLst>
              <a:ext uri="{FF2B5EF4-FFF2-40B4-BE49-F238E27FC236}">
                <a16:creationId xmlns:a16="http://schemas.microsoft.com/office/drawing/2014/main" id="{E6B4EF29-D609-92F2-E437-C7FB6B90AD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66315" y="971365"/>
            <a:ext cx="4396248" cy="2930832"/>
          </a:xfrm>
          <a:prstGeom prst="rect">
            <a:avLst/>
          </a:prstGeom>
        </p:spPr>
      </p:pic>
      <p:pic>
        <p:nvPicPr>
          <p:cNvPr id="18" name="图片 17">
            <a:extLst>
              <a:ext uri="{FF2B5EF4-FFF2-40B4-BE49-F238E27FC236}">
                <a16:creationId xmlns:a16="http://schemas.microsoft.com/office/drawing/2014/main" id="{B4AD89B7-945E-F8B9-BD4E-7C1F15BEE6E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94965" y="3902197"/>
            <a:ext cx="4433704" cy="2955803"/>
          </a:xfrm>
          <a:prstGeom prst="rect">
            <a:avLst/>
          </a:prstGeom>
        </p:spPr>
      </p:pic>
      <p:pic>
        <p:nvPicPr>
          <p:cNvPr id="20" name="图片 19">
            <a:extLst>
              <a:ext uri="{FF2B5EF4-FFF2-40B4-BE49-F238E27FC236}">
                <a16:creationId xmlns:a16="http://schemas.microsoft.com/office/drawing/2014/main" id="{80ED28B8-EA02-802D-EA08-8914651C7D9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66315" y="3902197"/>
            <a:ext cx="4396248" cy="2930832"/>
          </a:xfrm>
          <a:prstGeom prst="rect">
            <a:avLst/>
          </a:prstGeom>
        </p:spPr>
      </p:pic>
      <p:sp>
        <p:nvSpPr>
          <p:cNvPr id="25" name="矩形 24">
            <a:extLst>
              <a:ext uri="{FF2B5EF4-FFF2-40B4-BE49-F238E27FC236}">
                <a16:creationId xmlns:a16="http://schemas.microsoft.com/office/drawing/2014/main" id="{B2124322-2E5F-63B7-8CA9-DF2E9D4AB2E9}"/>
              </a:ext>
            </a:extLst>
          </p:cNvPr>
          <p:cNvSpPr/>
          <p:nvPr/>
        </p:nvSpPr>
        <p:spPr>
          <a:xfrm>
            <a:off x="133350" y="781051"/>
            <a:ext cx="3080343" cy="60519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noFill/>
              </a:rPr>
              <a:t>s</a:t>
            </a:r>
            <a:endParaRPr lang="zh-CN" altLang="en-US" dirty="0">
              <a:noFill/>
            </a:endParaRPr>
          </a:p>
        </p:txBody>
      </p:sp>
      <p:sp>
        <p:nvSpPr>
          <p:cNvPr id="26" name="文本框 25">
            <a:extLst>
              <a:ext uri="{FF2B5EF4-FFF2-40B4-BE49-F238E27FC236}">
                <a16:creationId xmlns:a16="http://schemas.microsoft.com/office/drawing/2014/main" id="{E226C68F-A0E0-08E2-3EF0-33640A48E829}"/>
              </a:ext>
            </a:extLst>
          </p:cNvPr>
          <p:cNvSpPr txBox="1"/>
          <p:nvPr/>
        </p:nvSpPr>
        <p:spPr>
          <a:xfrm>
            <a:off x="133350" y="781051"/>
            <a:ext cx="3099071" cy="6219220"/>
          </a:xfrm>
          <a:prstGeom prst="rect">
            <a:avLst/>
          </a:prstGeom>
          <a:noFill/>
        </p:spPr>
        <p:txBody>
          <a:bodyPr wrap="square" rtlCol="0">
            <a:noAutofit/>
          </a:bodyPr>
          <a:lstStyle/>
          <a:p>
            <a:pPr indent="0">
              <a:lnSpc>
                <a:spcPct val="130000"/>
              </a:lnSpc>
              <a:buFont typeface="Arial" panose="020B0704020202020204" pitchFamily="34" charset="0"/>
              <a:buNone/>
            </a:pPr>
            <a:r>
              <a:rPr lang="en-US" altLang="zh-CN" sz="2000" dirty="0">
                <a:solidFill>
                  <a:schemeClr val="tx1"/>
                </a:solidFill>
                <a:uFillTx/>
                <a:latin typeface="Times New Roman" panose="02020603050405020304" pitchFamily="18" charset="0"/>
              </a:rPr>
              <a:t>This time, regardless of the cementing condition, the model's high-attention regions are consistently located on the time-frequency features between 0.5ms-1ms and 20-23kHz. </a:t>
            </a:r>
            <a:r>
              <a:rPr lang="en-US" altLang="zh-CN" sz="2000" dirty="0">
                <a:latin typeface="Times New Roman" panose="02020603050405020304" pitchFamily="18" charset="0"/>
              </a:rPr>
              <a:t>W</a:t>
            </a:r>
            <a:r>
              <a:rPr lang="en-US" altLang="zh-CN" sz="2000" dirty="0">
                <a:solidFill>
                  <a:schemeClr val="tx1"/>
                </a:solidFill>
                <a:uFillTx/>
                <a:latin typeface="Times New Roman" panose="02020603050405020304" pitchFamily="18" charset="0"/>
              </a:rPr>
              <a:t>e can apply high-resolution filtering to individual samples based on their specific high-attention regions, in order to observe which wave is critical for the model's channeling assessment.</a:t>
            </a:r>
          </a:p>
        </p:txBody>
      </p:sp>
    </p:spTree>
    <p:extLst>
      <p:ext uri="{BB962C8B-B14F-4D97-AF65-F5344CB8AC3E}">
        <p14:creationId xmlns:p14="http://schemas.microsoft.com/office/powerpoint/2010/main" val="259265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49935" y="2860675"/>
            <a:ext cx="10706100" cy="1136015"/>
          </a:xfrm>
          <a:prstGeom prst="rect">
            <a:avLst/>
          </a:prstGeom>
          <a:noFill/>
          <a:ln>
            <a:noFill/>
          </a:ln>
        </p:spPr>
        <p:txBody>
          <a:bodyPr wrap="none" rtlCol="0" anchor="t">
            <a:noAutofit/>
          </a:bodyPr>
          <a:lstStyle/>
          <a:p>
            <a:pPr algn="ctr"/>
            <a:r>
              <a:rPr lang="en-US" altLang="zh-CN" sz="7200">
                <a:solidFill>
                  <a:schemeClr val="tx1"/>
                </a:solidFill>
                <a:effectLst>
                  <a:outerShdw blurRad="38100" dist="19050" dir="2700000" algn="tl" rotWithShape="0">
                    <a:schemeClr val="dk1">
                      <a:alpha val="40000"/>
                      <a:alpha val="40000"/>
                    </a:schemeClr>
                  </a:outerShdw>
                </a:effectLst>
              </a:rPr>
              <a:t>Thanks for your listening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13646</TotalTime>
  <Words>2011</Words>
  <Application>Microsoft Office PowerPoint</Application>
  <PresentationFormat>宽屏</PresentationFormat>
  <Paragraphs>115</Paragraphs>
  <Slides>11</Slides>
  <Notes>11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Times New Roman Regular</vt:lpstr>
      <vt:lpstr>微软雅黑</vt:lpstr>
      <vt:lpstr>等线</vt:lpstr>
      <vt:lpstr>苹方-简</vt:lpstr>
      <vt:lpstr>Arial</vt:lpstr>
      <vt:lpstr>Times New Roman</vt:lpstr>
      <vt:lpstr>Times New Roman Bold</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Administrator</dc:creator>
  <cp:lastModifiedBy>Jun Xiao</cp:lastModifiedBy>
  <cp:revision>334</cp:revision>
  <dcterms:created xsi:type="dcterms:W3CDTF">2025-08-18T23:46:51Z</dcterms:created>
  <dcterms:modified xsi:type="dcterms:W3CDTF">2025-11-18T00:41:51Z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2052-7.2.2.8955</vt:lpwstr>
  </property>
  <property fmtid="{D5CDD505-2E9C-101B-9397-08002B2CF9AE}" pid="3" name="ICV">
    <vt:lpwstr>895293FDAAADD844A90734682B54F596_43</vt:lpwstr>
  </property>
</Properties>
</file>