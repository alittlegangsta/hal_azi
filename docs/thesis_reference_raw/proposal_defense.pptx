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1" r:id="rId1"/>
  </p:sldMasterIdLst>
  <p:notesMasterIdLst>
    <p:notesMasterId r:id="rId18"/>
  </p:notesMasterIdLst>
  <p:handoutMasterIdLst>
    <p:handoutMasterId r:id="rId19"/>
  </p:handoutMasterIdLst>
  <p:sldIdLst>
    <p:sldId id="485" r:id="rId2"/>
    <p:sldId id="355" r:id="rId3"/>
    <p:sldId id="511" r:id="rId4"/>
    <p:sldId id="521" r:id="rId5"/>
    <p:sldId id="514" r:id="rId6"/>
    <p:sldId id="519" r:id="rId7"/>
    <p:sldId id="538" r:id="rId8"/>
    <p:sldId id="520" r:id="rId9"/>
    <p:sldId id="539" r:id="rId10"/>
    <p:sldId id="540" r:id="rId11"/>
    <p:sldId id="541" r:id="rId12"/>
    <p:sldId id="527" r:id="rId13"/>
    <p:sldId id="542" r:id="rId14"/>
    <p:sldId id="517" r:id="rId15"/>
    <p:sldId id="516" r:id="rId16"/>
    <p:sldId id="518" r:id="rId17"/>
  </p:sldIdLst>
  <p:sldSz cx="9144000" cy="5143500" type="screen16x9"/>
  <p:notesSz cx="6858000" cy="9144000"/>
  <p:custDataLst>
    <p:tags r:id="rId20"/>
  </p:custDataLst>
  <p:defaultTextStyle>
    <a:defPPr>
      <a:defRPr lang="zh-CN"/>
    </a:defPPr>
    <a:lvl1pPr marL="0" algn="l" defTabSz="342900" rtl="0" eaLnBrk="1" latinLnBrk="0" hangingPunct="1">
      <a:defRPr sz="1400" kern="1200">
        <a:solidFill>
          <a:schemeClr val="tx1"/>
        </a:solidFill>
        <a:latin typeface="+mn-lt"/>
        <a:ea typeface="+mn-ea"/>
        <a:cs typeface="+mn-cs"/>
      </a:defRPr>
    </a:lvl1pPr>
    <a:lvl2pPr marL="342900" algn="l" defTabSz="342900" rtl="0" eaLnBrk="1" latinLnBrk="0" hangingPunct="1">
      <a:defRPr sz="1400" kern="1200">
        <a:solidFill>
          <a:schemeClr val="tx1"/>
        </a:solidFill>
        <a:latin typeface="+mn-lt"/>
        <a:ea typeface="+mn-ea"/>
        <a:cs typeface="+mn-cs"/>
      </a:defRPr>
    </a:lvl2pPr>
    <a:lvl3pPr marL="685800" algn="l" defTabSz="342900" rtl="0" eaLnBrk="1" latinLnBrk="0" hangingPunct="1">
      <a:defRPr sz="1400" kern="1200">
        <a:solidFill>
          <a:schemeClr val="tx1"/>
        </a:solidFill>
        <a:latin typeface="+mn-lt"/>
        <a:ea typeface="+mn-ea"/>
        <a:cs typeface="+mn-cs"/>
      </a:defRPr>
    </a:lvl3pPr>
    <a:lvl4pPr marL="1028700" algn="l" defTabSz="342900" rtl="0" eaLnBrk="1" latinLnBrk="0" hangingPunct="1">
      <a:defRPr sz="1400" kern="1200">
        <a:solidFill>
          <a:schemeClr val="tx1"/>
        </a:solidFill>
        <a:latin typeface="+mn-lt"/>
        <a:ea typeface="+mn-ea"/>
        <a:cs typeface="+mn-cs"/>
      </a:defRPr>
    </a:lvl4pPr>
    <a:lvl5pPr marL="1371600" algn="l" defTabSz="342900" rtl="0" eaLnBrk="1" latinLnBrk="0" hangingPunct="1">
      <a:defRPr sz="1400" kern="1200">
        <a:solidFill>
          <a:schemeClr val="tx1"/>
        </a:solidFill>
        <a:latin typeface="+mn-lt"/>
        <a:ea typeface="+mn-ea"/>
        <a:cs typeface="+mn-cs"/>
      </a:defRPr>
    </a:lvl5pPr>
    <a:lvl6pPr marL="1714500" algn="l" defTabSz="342900" rtl="0" eaLnBrk="1" latinLnBrk="0" hangingPunct="1">
      <a:defRPr sz="1400" kern="1200">
        <a:solidFill>
          <a:schemeClr val="tx1"/>
        </a:solidFill>
        <a:latin typeface="+mn-lt"/>
        <a:ea typeface="+mn-ea"/>
        <a:cs typeface="+mn-cs"/>
      </a:defRPr>
    </a:lvl6pPr>
    <a:lvl7pPr marL="2057400" algn="l" defTabSz="342900" rtl="0" eaLnBrk="1" latinLnBrk="0" hangingPunct="1">
      <a:defRPr sz="1400" kern="1200">
        <a:solidFill>
          <a:schemeClr val="tx1"/>
        </a:solidFill>
        <a:latin typeface="+mn-lt"/>
        <a:ea typeface="+mn-ea"/>
        <a:cs typeface="+mn-cs"/>
      </a:defRPr>
    </a:lvl7pPr>
    <a:lvl8pPr marL="2400300" algn="l" defTabSz="342900" rtl="0" eaLnBrk="1" latinLnBrk="0" hangingPunct="1">
      <a:defRPr sz="1400" kern="1200">
        <a:solidFill>
          <a:schemeClr val="tx1"/>
        </a:solidFill>
        <a:latin typeface="+mn-lt"/>
        <a:ea typeface="+mn-ea"/>
        <a:cs typeface="+mn-cs"/>
      </a:defRPr>
    </a:lvl8pPr>
    <a:lvl9pPr marL="2743200" algn="l" defTabSz="3429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621">
          <p15:clr>
            <a:srgbClr val="A4A3A4"/>
          </p15:clr>
        </p15:guide>
        <p15:guide id="4" orient="horz" pos="680">
          <p15:clr>
            <a:srgbClr val="A4A3A4"/>
          </p15:clr>
        </p15:guide>
        <p15:guide id="5" orient="horz" pos="2927">
          <p15:clr>
            <a:srgbClr val="A4A3A4"/>
          </p15:clr>
        </p15:guide>
        <p15:guide id="6" pos="2875">
          <p15:clr>
            <a:srgbClr val="A4A3A4"/>
          </p15:clr>
        </p15:guide>
        <p15:guide id="7" pos="373">
          <p15:clr>
            <a:srgbClr val="A4A3A4"/>
          </p15:clr>
        </p15:guide>
        <p15:guide id="8" pos="538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1F65"/>
    <a:srgbClr val="FFFFFF"/>
    <a:srgbClr val="006CB5"/>
    <a:srgbClr val="FF8607"/>
    <a:srgbClr val="282828"/>
    <a:srgbClr val="F39700"/>
    <a:srgbClr val="66FFFF"/>
    <a:srgbClr val="909090"/>
    <a:srgbClr val="45454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44" autoAdjust="0"/>
    <p:restoredTop sz="81234" autoAdjust="0"/>
  </p:normalViewPr>
  <p:slideViewPr>
    <p:cSldViewPr snapToGrid="0" snapToObjects="1">
      <p:cViewPr varScale="1">
        <p:scale>
          <a:sx n="109" d="100"/>
          <a:sy n="109" d="100"/>
        </p:scale>
        <p:origin x="114" y="1128"/>
      </p:cViewPr>
      <p:guideLst>
        <p:guide orient="horz" pos="2160"/>
        <p:guide pos="3840"/>
        <p:guide orient="horz" pos="1621"/>
        <p:guide orient="horz" pos="680"/>
        <p:guide orient="horz" pos="2927"/>
        <p:guide pos="2875"/>
        <p:guide pos="373"/>
        <p:guide pos="5385"/>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86" d="100"/>
        <a:sy n="186" d="100"/>
      </p:scale>
      <p:origin x="0" y="0"/>
    </p:cViewPr>
  </p:sorterViewPr>
  <p:notesViewPr>
    <p:cSldViewPr snapToGrid="0" snapToObjects="1">
      <p:cViewPr varScale="1">
        <p:scale>
          <a:sx n="120" d="100"/>
          <a:sy n="120" d="100"/>
        </p:scale>
        <p:origin x="1176"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4B18F8A-74B5-9148-A891-627592061A38}" type="datetimeFigureOut">
              <a:rPr kumimoji="1" lang="zh-CN" altLang="en-US" smtClean="0"/>
              <a:t>2025/11/25</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08768D9-5829-CA4C-800C-5932EF9830F6}" type="slidenum">
              <a:rPr kumimoji="1" lang="zh-CN" altLang="en-US" smtClean="0"/>
              <a:t>‹#›</a:t>
            </a:fld>
            <a:endParaRPr kumimoji="1" lang="zh-CN" altLang="en-US"/>
          </a:p>
        </p:txBody>
      </p:sp>
    </p:spTree>
    <p:extLst>
      <p:ext uri="{BB962C8B-B14F-4D97-AF65-F5344CB8AC3E}">
        <p14:creationId xmlns:p14="http://schemas.microsoft.com/office/powerpoint/2010/main" val="56619650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D6ACD6-F780-4A47-B5D9-D292A4BD6F81}" type="datetimeFigureOut">
              <a:rPr kumimoji="1" lang="zh-CN" altLang="en-US" smtClean="0"/>
              <a:t>2025/11/25</a:t>
            </a:fld>
            <a:endParaRPr kumimoji="1"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712715C-60D8-4442-95C1-470452B8606C}" type="slidenum">
              <a:rPr kumimoji="1" lang="zh-CN" altLang="en-US" smtClean="0"/>
              <a:t>‹#›</a:t>
            </a:fld>
            <a:endParaRPr kumimoji="1" lang="zh-CN" altLang="en-US"/>
          </a:p>
        </p:txBody>
      </p:sp>
    </p:spTree>
    <p:extLst>
      <p:ext uri="{BB962C8B-B14F-4D97-AF65-F5344CB8AC3E}">
        <p14:creationId xmlns:p14="http://schemas.microsoft.com/office/powerpoint/2010/main" val="1820028297"/>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zh-CN" altLang="en-US" sz="3200" dirty="0"/>
              <a:t>尊敬的各位老师同学们大家好，我叫肖俊，我的导师是王华教授。很荣幸能够做出我的开题报告汇报，我的题目是：基于可解释深度学习的声波测井窜槽敏感特征反演研究。</a:t>
            </a:r>
          </a:p>
          <a:p>
            <a:endParaRPr lang="zh-CN" altLang="en-US" sz="3200" dirty="0"/>
          </a:p>
        </p:txBody>
      </p:sp>
      <p:sp>
        <p:nvSpPr>
          <p:cNvPr id="4" name="灯片编号占位符 3"/>
          <p:cNvSpPr>
            <a:spLocks noGrp="1"/>
          </p:cNvSpPr>
          <p:nvPr>
            <p:ph type="sldNum" sz="quarter" idx="10"/>
          </p:nvPr>
        </p:nvSpPr>
        <p:spPr/>
        <p:txBody>
          <a:bodyPr/>
          <a:lstStyle/>
          <a:p>
            <a:fld id="{D712715C-60D8-4442-95C1-470452B8606C}" type="slidenum">
              <a:rPr kumimoji="1" lang="zh-CN" altLang="en-US" smtClean="0"/>
              <a:t>1</a:t>
            </a:fld>
            <a:endParaRPr kumimoji="1" lang="zh-CN" altLang="en-US"/>
          </a:p>
        </p:txBody>
      </p:sp>
    </p:spTree>
    <p:extLst>
      <p:ext uri="{BB962C8B-B14F-4D97-AF65-F5344CB8AC3E}">
        <p14:creationId xmlns:p14="http://schemas.microsoft.com/office/powerpoint/2010/main" val="2325077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我汇报的内容可以分为以下</a:t>
            </a:r>
            <a:r>
              <a:rPr lang="en-US" altLang="zh-CN" dirty="0"/>
              <a:t>6</a:t>
            </a:r>
            <a:r>
              <a:rPr lang="zh-CN" altLang="en-US" dirty="0"/>
              <a:t>点，分别是研究背景与意义，在这一部分会简要介绍我研究课题的选题来源，选题背景以及意义。而后是国内外现状，在这里会介绍我的调研情况。下一部分是研究目标与内容，研究目标是针对我们想解决的问题所提出的研究目标，研究内容则是为了达成研究目标所需要做的工作。而后是技术路线，介绍了我在研究中所使用的方法。可行性与已有成果则主要展示我目前阶段的成果。最后一部分则介绍了我的研究计划以及预期。</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dirty="0"/>
          </a:p>
        </p:txBody>
      </p:sp>
    </p:spTree>
    <p:extLst>
      <p:ext uri="{BB962C8B-B14F-4D97-AF65-F5344CB8AC3E}">
        <p14:creationId xmlns:p14="http://schemas.microsoft.com/office/powerpoint/2010/main" val="1242625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研究背景。一般测井流程中，我们会把一系列仪器下放到已经被水泥胶结好的井筒之中进行测井，其中固井质量是测井环节重要的一环。当我们挖出一口井后，再往井的四周浇筑水泥，而后再下放套一层套管与水泥胶结在一起，这一步是为了后续作业的安全与稳定，避免出现安全问题。固井质量指的就是水泥和地层以及套管之间的胶结质量，</a:t>
            </a:r>
            <a:r>
              <a:rPr lang="zh-CN" altLang="en-US" b="1" dirty="0"/>
              <a:t>固井质量</a:t>
            </a:r>
            <a:r>
              <a:rPr lang="zh-CN" altLang="en-US" dirty="0"/>
              <a:t>是油气井安全生产的“生命线”。水泥环中的</a:t>
            </a:r>
            <a:r>
              <a:rPr lang="zh-CN" altLang="en-US" b="1" dirty="0"/>
              <a:t>窜槽（</a:t>
            </a:r>
            <a:r>
              <a:rPr lang="en-US" altLang="zh-CN" b="1" dirty="0"/>
              <a:t>Channeling</a:t>
            </a:r>
            <a:r>
              <a:rPr lang="zh-CN" altLang="en-US" b="1" dirty="0"/>
              <a:t>）</a:t>
            </a:r>
            <a:r>
              <a:rPr lang="en-US" altLang="zh-CN" dirty="0"/>
              <a:t>——</a:t>
            </a:r>
            <a:r>
              <a:rPr lang="zh-CN" altLang="en-US" dirty="0"/>
              <a:t>即流体逃逸的通道，是导致层间互通甚至井喷事故的主要元凶。</a:t>
            </a:r>
          </a:p>
          <a:p>
            <a:r>
              <a:rPr lang="zh-CN" altLang="en-US" dirty="0"/>
              <a:t>目前工业界主要有两种评价手段：</a:t>
            </a:r>
          </a:p>
          <a:p>
            <a:r>
              <a:rPr lang="zh-CN" altLang="en-US" dirty="0"/>
              <a:t>左图所示的 </a:t>
            </a:r>
            <a:r>
              <a:rPr lang="zh-CN" altLang="en-US" b="1" dirty="0"/>
              <a:t>超声成像测井（如</a:t>
            </a:r>
            <a:r>
              <a:rPr lang="en-US" altLang="zh-CN" b="1" dirty="0"/>
              <a:t>CAST</a:t>
            </a:r>
            <a:r>
              <a:rPr lang="zh-CN" altLang="en-US" b="1" dirty="0"/>
              <a:t>）</a:t>
            </a:r>
            <a:r>
              <a:rPr lang="zh-CN" altLang="en-US" dirty="0"/>
              <a:t>：其可通过探测获得高深度、方位分辨率的全方位的声阻抗值，这个值直接与胶结质量相关。可以认为超声设备是一台不断旋转的高速相机，对于每一处水泥进行拍照。它的精度极高，能看清微小裂缝，被称为“金标准”，但它</a:t>
            </a:r>
            <a:r>
              <a:rPr lang="zh-CN" altLang="en-US" b="1" dirty="0"/>
              <a:t>成本昂贵、探测深度浅</a:t>
            </a:r>
            <a:r>
              <a:rPr lang="zh-CN" altLang="en-US" dirty="0"/>
              <a:t>，且容易受井眼环境影响，难以全井段覆盖。</a:t>
            </a:r>
          </a:p>
          <a:p>
            <a:r>
              <a:rPr lang="zh-CN" altLang="en-US" dirty="0"/>
              <a:t>右图所示的 </a:t>
            </a:r>
            <a:r>
              <a:rPr lang="zh-CN" altLang="en-US" b="1" dirty="0"/>
              <a:t>阵列声波测井（如</a:t>
            </a:r>
            <a:r>
              <a:rPr lang="en-US" altLang="zh-CN" b="1" dirty="0"/>
              <a:t>XSI</a:t>
            </a:r>
            <a:r>
              <a:rPr lang="zh-CN" altLang="en-US" b="1" dirty="0"/>
              <a:t>）</a:t>
            </a:r>
            <a:r>
              <a:rPr lang="zh-CN" altLang="en-US" dirty="0"/>
              <a:t>：其通过一系列的声学信号收发系统获得一维时序声波信号。声波信号反映的地层信息覆盖了收发之间的深度距离以及全方位。它成本低、探测深、覆盖广，但缺点是</a:t>
            </a:r>
            <a:r>
              <a:rPr lang="zh-CN" altLang="en-US" b="1" dirty="0"/>
              <a:t>分辨率低</a:t>
            </a:r>
            <a:r>
              <a:rPr lang="zh-CN" altLang="en-US" dirty="0"/>
              <a:t>，且信号成分极其复杂，传统方法很难从中识别出微小的窜槽。</a:t>
            </a:r>
          </a:p>
          <a:p>
            <a:r>
              <a:rPr lang="zh-CN" altLang="en-US" b="1" dirty="0"/>
              <a:t>本课题的核心意义在于：</a:t>
            </a:r>
            <a:r>
              <a:rPr lang="zh-CN" altLang="en-US" dirty="0"/>
              <a:t> 我们希望利用深度学习技术，建立声波信号与超声成像之间的映射关系。说得通俗点，就是“用低成本的声波数据，实现超声级别的精细化评价”，同时解决工程实际中难以量化窜槽严重程度的难题。</a:t>
            </a:r>
          </a:p>
          <a:p>
            <a:endParaRPr lang="zh-CN" altLang="en-US" dirty="0"/>
          </a:p>
        </p:txBody>
      </p:sp>
      <p:sp>
        <p:nvSpPr>
          <p:cNvPr id="4" name="灯片编号占位符 3"/>
          <p:cNvSpPr>
            <a:spLocks noGrp="1"/>
          </p:cNvSpPr>
          <p:nvPr>
            <p:ph type="sldNum" sz="quarter" idx="5"/>
          </p:nvPr>
        </p:nvSpPr>
        <p:spPr/>
        <p:txBody>
          <a:bodyPr/>
          <a:lstStyle/>
          <a:p>
            <a:fld id="{D712715C-60D8-4442-95C1-470452B8606C}" type="slidenum">
              <a:rPr kumimoji="1" lang="zh-CN" altLang="en-US" smtClean="0"/>
              <a:t>3</a:t>
            </a:fld>
            <a:endParaRPr kumimoji="1" lang="zh-CN" altLang="en-US"/>
          </a:p>
        </p:txBody>
      </p:sp>
    </p:spTree>
    <p:extLst>
      <p:ext uri="{BB962C8B-B14F-4D97-AF65-F5344CB8AC3E}">
        <p14:creationId xmlns:p14="http://schemas.microsoft.com/office/powerpoint/2010/main" val="2800649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在工作前期我们调研了</a:t>
            </a:r>
            <a:r>
              <a:rPr lang="zh-CN" altLang="en-US" b="1" dirty="0"/>
              <a:t>国内外研究现状</a:t>
            </a:r>
            <a:r>
              <a:rPr lang="zh-CN" altLang="en-US" dirty="0"/>
              <a:t>。这个领域的发展主要经历了两个阶段：</a:t>
            </a:r>
          </a:p>
          <a:p>
            <a:r>
              <a:rPr lang="zh-CN" altLang="en-US" dirty="0"/>
              <a:t>第一阶段是</a:t>
            </a:r>
            <a:r>
              <a:rPr lang="zh-CN" altLang="en-US" b="1" dirty="0"/>
              <a:t>物理驱动</a:t>
            </a:r>
            <a:r>
              <a:rPr lang="zh-CN" altLang="en-US" dirty="0"/>
              <a:t>。从</a:t>
            </a:r>
            <a:r>
              <a:rPr lang="en-US" altLang="zh-CN" dirty="0" err="1"/>
              <a:t>Biot</a:t>
            </a:r>
            <a:r>
              <a:rPr lang="zh-CN" altLang="en-US" dirty="0"/>
              <a:t>提出多孔介质理论，到</a:t>
            </a:r>
            <a:r>
              <a:rPr lang="en-US" altLang="zh-CN" dirty="0"/>
              <a:t>Tubman</a:t>
            </a:r>
            <a:r>
              <a:rPr lang="zh-CN" altLang="en-US" dirty="0"/>
              <a:t>推导套管井频散公式，再到我的导师</a:t>
            </a:r>
            <a:r>
              <a:rPr lang="zh-CN" altLang="en-US" b="1" dirty="0"/>
              <a:t>王华教授团队</a:t>
            </a:r>
            <a:r>
              <a:rPr lang="zh-CN" altLang="en-US" dirty="0"/>
              <a:t>深入研究总结随钻测井理论，物理理论已相对成熟。 第二阶段是</a:t>
            </a:r>
            <a:r>
              <a:rPr lang="zh-CN" altLang="en-US" b="1" dirty="0"/>
              <a:t>深度学习引入</a:t>
            </a:r>
            <a:r>
              <a:rPr lang="zh-CN" altLang="en-US" dirty="0"/>
              <a:t>。随着</a:t>
            </a:r>
            <a:r>
              <a:rPr lang="en-US" altLang="zh-CN" dirty="0" err="1"/>
              <a:t>ResNet</a:t>
            </a:r>
            <a:r>
              <a:rPr lang="zh-CN" altLang="en-US" dirty="0"/>
              <a:t>、</a:t>
            </a:r>
            <a:r>
              <a:rPr lang="en-US" altLang="zh-CN" dirty="0" err="1"/>
              <a:t>EfficientNet</a:t>
            </a:r>
            <a:r>
              <a:rPr lang="zh-CN" altLang="en-US" dirty="0"/>
              <a:t>等模型的出现，</a:t>
            </a:r>
            <a:r>
              <a:rPr lang="en-US" altLang="zh-CN" dirty="0"/>
              <a:t>AI</a:t>
            </a:r>
            <a:r>
              <a:rPr lang="zh-CN" altLang="en-US" dirty="0"/>
              <a:t>开始被用于测井曲线重构。</a:t>
            </a:r>
          </a:p>
          <a:p>
            <a:r>
              <a:rPr lang="zh-CN" altLang="en-US" b="1" dirty="0"/>
              <a:t>但是，目前存在一个关键的工程瓶颈：</a:t>
            </a:r>
            <a:r>
              <a:rPr lang="zh-CN" altLang="en-US" dirty="0"/>
              <a:t> 在实际的垂直井测井中，声波仪器和超声仪器之间存在</a:t>
            </a:r>
            <a:r>
              <a:rPr lang="zh-CN" altLang="en-US" b="1" dirty="0"/>
              <a:t>未知的相对旋转角度</a:t>
            </a:r>
            <a:r>
              <a:rPr lang="zh-CN" altLang="en-US" dirty="0"/>
              <a:t>。这就导致我们无法像做普通图像识别那样，把声波信号和超声图像进行“点对点”的像素级匹配。这就是所谓的“方位角失配（</a:t>
            </a:r>
            <a:r>
              <a:rPr lang="en-US" altLang="zh-CN" dirty="0"/>
              <a:t>Azimuth Mismatch</a:t>
            </a:r>
            <a:r>
              <a:rPr lang="zh-CN" altLang="en-US" dirty="0"/>
              <a:t>）”问题。这是本课题要解决的核心挑战。</a:t>
            </a:r>
          </a:p>
          <a:p>
            <a:endParaRPr lang="zh-CN" altLang="en-US" dirty="0"/>
          </a:p>
        </p:txBody>
      </p:sp>
      <p:sp>
        <p:nvSpPr>
          <p:cNvPr id="4" name="灯片编号占位符 3"/>
          <p:cNvSpPr>
            <a:spLocks noGrp="1"/>
          </p:cNvSpPr>
          <p:nvPr>
            <p:ph type="sldNum" sz="quarter" idx="5"/>
          </p:nvPr>
        </p:nvSpPr>
        <p:spPr/>
        <p:txBody>
          <a:bodyPr/>
          <a:lstStyle/>
          <a:p>
            <a:fld id="{D712715C-60D8-4442-95C1-470452B8606C}" type="slidenum">
              <a:rPr kumimoji="1" lang="zh-CN" altLang="en-US" smtClean="0"/>
              <a:t>4</a:t>
            </a:fld>
            <a:endParaRPr kumimoji="1" lang="zh-CN" altLang="en-US"/>
          </a:p>
        </p:txBody>
      </p:sp>
    </p:spTree>
    <p:extLst>
      <p:ext uri="{BB962C8B-B14F-4D97-AF65-F5344CB8AC3E}">
        <p14:creationId xmlns:p14="http://schemas.microsoft.com/office/powerpoint/2010/main" val="3498031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zh-CN" altLang="en-US" dirty="0"/>
              <a:t>对于这么一个项目，我们需要利用好超声数据和声波数据，把超声数据当作金标准来分析声波数据，就需要首先解决两者数据之间方位角失配的问题。所以第一步就是进行数据构建，利用高分辨率超声数据构建监督数据集，从根本上解决方位失配问题。还有尝试使用不存在方位角失配的数据，但是该数据受其他影响比如偏心，正在研究中。而后是进行模型构建，建立一套物理引导的数据驱动评价框架，提出</a:t>
            </a:r>
            <a:r>
              <a:rPr lang="en-US" altLang="zh-CN" dirty="0"/>
              <a:t>FFT</a:t>
            </a:r>
            <a:r>
              <a:rPr lang="zh-CN" altLang="en-US" dirty="0"/>
              <a:t>频谱回归与</a:t>
            </a:r>
            <a:r>
              <a:rPr lang="en-US" altLang="zh-CN" dirty="0"/>
              <a:t>1D</a:t>
            </a:r>
            <a:r>
              <a:rPr lang="zh-CN" altLang="en-US" dirty="0"/>
              <a:t>剖面回归模型，解决方位失配问题。最后一个是机理揭示，我们不只做黑箱预测，还要利用 </a:t>
            </a:r>
            <a:r>
              <a:rPr lang="en-US" altLang="zh-CN" b="1" dirty="0"/>
              <a:t>Grad-CAM</a:t>
            </a:r>
            <a:r>
              <a:rPr lang="zh-CN" altLang="en-US" dirty="0"/>
              <a:t> 技术打开</a:t>
            </a:r>
            <a:r>
              <a:rPr lang="en-US" altLang="zh-CN" dirty="0"/>
              <a:t>AI</a:t>
            </a:r>
            <a:r>
              <a:rPr lang="zh-CN" altLang="en-US" dirty="0"/>
              <a:t>黑箱，定位出声波中对窜槽最敏感的频段，验证物理规律。</a:t>
            </a:r>
          </a:p>
          <a:p>
            <a:endParaRPr lang="zh-CN" altLang="en-US" dirty="0"/>
          </a:p>
        </p:txBody>
      </p:sp>
      <p:sp>
        <p:nvSpPr>
          <p:cNvPr id="4" name="灯片编号占位符 3"/>
          <p:cNvSpPr>
            <a:spLocks noGrp="1"/>
          </p:cNvSpPr>
          <p:nvPr>
            <p:ph type="sldNum" sz="quarter" idx="5"/>
          </p:nvPr>
        </p:nvSpPr>
        <p:spPr/>
        <p:txBody>
          <a:bodyPr/>
          <a:lstStyle/>
          <a:p>
            <a:fld id="{D712715C-60D8-4442-95C1-470452B8606C}" type="slidenum">
              <a:rPr kumimoji="1" lang="zh-CN" altLang="en-US" smtClean="0"/>
              <a:t>5</a:t>
            </a:fld>
            <a:endParaRPr kumimoji="1" lang="zh-CN" altLang="en-US"/>
          </a:p>
        </p:txBody>
      </p:sp>
    </p:spTree>
    <p:extLst>
      <p:ext uri="{BB962C8B-B14F-4D97-AF65-F5344CB8AC3E}">
        <p14:creationId xmlns:p14="http://schemas.microsoft.com/office/powerpoint/2010/main" val="483939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对应于研究目标的研究内容如图所示，对于前面所提到的研究目标，对应的研究内容则是多源数据物理空间对齐与预处理，基于时频图谱（</a:t>
            </a:r>
            <a:r>
              <a:rPr lang="en-US" altLang="zh-CN" dirty="0"/>
              <a:t>CWT</a:t>
            </a:r>
            <a:r>
              <a:rPr lang="zh-CN" altLang="en-US" dirty="0"/>
              <a:t>）的深度迁移学习模型构建，基于旋转不变性特征（</a:t>
            </a:r>
            <a:r>
              <a:rPr lang="en-US" altLang="zh-CN" dirty="0"/>
              <a:t>FTT</a:t>
            </a:r>
            <a:r>
              <a:rPr lang="zh-CN" altLang="en-US" dirty="0"/>
              <a:t>）的标签工程与解耦。</a:t>
            </a:r>
          </a:p>
          <a:p>
            <a:r>
              <a:rPr lang="zh-CN" altLang="en-US" dirty="0"/>
              <a:t>挖的井眼由于受到地质结构以及钻头等自身的影响会存在一定的偏心等情况。偏心会影响测井设备所测得的数据质量。因此数据可以分为偏心状态下和非偏心状态下，右上的</a:t>
            </a:r>
            <a:r>
              <a:rPr lang="en-US" altLang="zh-CN" dirty="0"/>
              <a:t>Inc</a:t>
            </a:r>
            <a:r>
              <a:rPr lang="zh-CN" altLang="en-US" dirty="0"/>
              <a:t>图则反映了井眼在深度轴上的偏心严重程度，纵轴为角度；右下的</a:t>
            </a:r>
            <a:r>
              <a:rPr lang="en-US" altLang="zh-CN" dirty="0"/>
              <a:t>Relative Bearing</a:t>
            </a:r>
            <a:r>
              <a:rPr lang="zh-CN" altLang="en-US" dirty="0"/>
              <a:t>图则是仪器整体的零角度刻度点和井眼低边的相对角度差，这个值准确的时候则可以精准匹配超声与声波之间的角度关系，不准确的时候则无法匹配超声和声波之间的角度对应关系。对于偏心深度区间下多源数据物理对齐的方式较为简单，但是需要考虑偏心所带来的影响，这就涉及到题目以外的研究内容了，后续有进展可以考虑纳入毕业论文的研究内容中。而对于非偏心深度区间，就是我这次毕业论文的主要部分，我采取了如图的多源数据物理空间对齐与预处理方式，并围绕该方法构造了基于时频图谱</a:t>
            </a:r>
            <a:r>
              <a:rPr lang="en-US" altLang="zh-CN" dirty="0"/>
              <a:t>(CWT)</a:t>
            </a:r>
            <a:r>
              <a:rPr lang="zh-CN" altLang="en-US" dirty="0"/>
              <a:t>的深度迁移学习模型构建。其中标签的获得方式则是基于旋转不变性特征（</a:t>
            </a:r>
            <a:r>
              <a:rPr lang="en-US" altLang="zh-CN" dirty="0"/>
              <a:t>FFT</a:t>
            </a:r>
            <a:r>
              <a:rPr lang="zh-CN" altLang="en-US" dirty="0"/>
              <a:t>）的标签工程与解耦。</a:t>
            </a:r>
          </a:p>
          <a:p>
            <a:endParaRPr lang="zh-CN" altLang="en-US" dirty="0"/>
          </a:p>
        </p:txBody>
      </p:sp>
      <p:sp>
        <p:nvSpPr>
          <p:cNvPr id="4" name="灯片编号占位符 3"/>
          <p:cNvSpPr>
            <a:spLocks noGrp="1"/>
          </p:cNvSpPr>
          <p:nvPr>
            <p:ph type="sldNum" sz="quarter" idx="5"/>
          </p:nvPr>
        </p:nvSpPr>
        <p:spPr/>
        <p:txBody>
          <a:bodyPr/>
          <a:lstStyle/>
          <a:p>
            <a:fld id="{D712715C-60D8-4442-95C1-470452B8606C}" type="slidenum">
              <a:rPr kumimoji="1" lang="zh-CN" altLang="en-US" smtClean="0"/>
              <a:t>6</a:t>
            </a:fld>
            <a:endParaRPr kumimoji="1" lang="zh-CN" altLang="en-US"/>
          </a:p>
        </p:txBody>
      </p:sp>
    </p:spTree>
    <p:extLst>
      <p:ext uri="{BB962C8B-B14F-4D97-AF65-F5344CB8AC3E}">
        <p14:creationId xmlns:p14="http://schemas.microsoft.com/office/powerpoint/2010/main" val="2470229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12715C-60D8-4442-95C1-470452B8606C}" type="slidenum">
              <a:rPr kumimoji="1" lang="zh-CN" altLang="en-US" smtClean="0"/>
              <a:t>9</a:t>
            </a:fld>
            <a:endParaRPr kumimoji="1" lang="zh-CN" altLang="en-US"/>
          </a:p>
        </p:txBody>
      </p:sp>
    </p:spTree>
    <p:extLst>
      <p:ext uri="{BB962C8B-B14F-4D97-AF65-F5344CB8AC3E}">
        <p14:creationId xmlns:p14="http://schemas.microsoft.com/office/powerpoint/2010/main" val="633939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dirty="0"/>
          </a:p>
        </p:txBody>
      </p:sp>
    </p:spTree>
    <p:extLst>
      <p:ext uri="{BB962C8B-B14F-4D97-AF65-F5344CB8AC3E}">
        <p14:creationId xmlns:p14="http://schemas.microsoft.com/office/powerpoint/2010/main" val="1242625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FADC8-6CA5-967C-5724-782F361B43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FAE582-1F28-B4E2-CA34-FFABBE30325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F2AB028-1B87-5AE5-D971-15C7616883C6}"/>
              </a:ext>
            </a:extLst>
          </p:cNvPr>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dirty="0"/>
          </a:p>
        </p:txBody>
      </p:sp>
    </p:spTree>
    <p:extLst>
      <p:ext uri="{BB962C8B-B14F-4D97-AF65-F5344CB8AC3E}">
        <p14:creationId xmlns:p14="http://schemas.microsoft.com/office/powerpoint/2010/main" val="870625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400"/>
          </a:p>
        </p:txBody>
      </p:sp>
      <p:sp>
        <p:nvSpPr>
          <p:cNvPr id="4" name="灯片编号占位符 3"/>
          <p:cNvSpPr>
            <a:spLocks noGrp="1"/>
          </p:cNvSpPr>
          <p:nvPr>
            <p:ph type="sldNum" sz="quarter" idx="5"/>
          </p:nvPr>
        </p:nvSpPr>
        <p:spPr/>
        <p:txBody>
          <a:bodyPr/>
          <a:lstStyle/>
          <a:p>
            <a:fld id="{D712715C-60D8-4442-95C1-470452B8606C}" type="slidenum">
              <a:rPr kumimoji="1" lang="zh-CN" altLang="en-US" smtClean="0"/>
              <a:t>15</a:t>
            </a:fld>
            <a:endParaRPr kumimoji="1" lang="zh-CN" altLang="en-US"/>
          </a:p>
        </p:txBody>
      </p:sp>
    </p:spTree>
    <p:extLst>
      <p:ext uri="{BB962C8B-B14F-4D97-AF65-F5344CB8AC3E}">
        <p14:creationId xmlns:p14="http://schemas.microsoft.com/office/powerpoint/2010/main" val="175301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12715C-60D8-4442-95C1-470452B8606C}" type="slidenum">
              <a:rPr kumimoji="1" lang="zh-CN" altLang="en-US" smtClean="0"/>
              <a:t>16</a:t>
            </a:fld>
            <a:endParaRPr kumimoji="1" lang="zh-CN" altLang="en-US"/>
          </a:p>
        </p:txBody>
      </p:sp>
    </p:spTree>
    <p:extLst>
      <p:ext uri="{BB962C8B-B14F-4D97-AF65-F5344CB8AC3E}">
        <p14:creationId xmlns:p14="http://schemas.microsoft.com/office/powerpoint/2010/main" val="3364338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1339205"/>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1_空白">
    <p:bg>
      <p:bgPr>
        <a:solidFill>
          <a:schemeClr val="bg1">
            <a:lumMod val="95000"/>
          </a:schemeClr>
        </a:solidFill>
        <a:effectLst/>
      </p:bgPr>
    </p:bg>
    <p:spTree>
      <p:nvGrpSpPr>
        <p:cNvPr id="1" name=""/>
        <p:cNvGrpSpPr/>
        <p:nvPr/>
      </p:nvGrpSpPr>
      <p:grpSpPr>
        <a:xfrm>
          <a:off x="0" y="0"/>
          <a:ext cx="0" cy="0"/>
          <a:chOff x="0" y="0"/>
          <a:chExt cx="0" cy="0"/>
        </a:xfrm>
      </p:grpSpPr>
      <p:sp>
        <p:nvSpPr>
          <p:cNvPr id="2" name="矩形 1"/>
          <p:cNvSpPr/>
          <p:nvPr userDrawn="1"/>
        </p:nvSpPr>
        <p:spPr>
          <a:xfrm>
            <a:off x="8136860" y="4786900"/>
            <a:ext cx="820283" cy="276999"/>
          </a:xfrm>
          <a:prstGeom prst="rect">
            <a:avLst/>
          </a:prstGeom>
        </p:spPr>
        <p:txBody>
          <a:bodyPr lIns="68580" tIns="34290" rIns="68580" bIns="34290"/>
          <a:lstStyle/>
          <a:p>
            <a:pPr algn="ctr">
              <a:defRPr/>
            </a:pPr>
            <a:r>
              <a:rPr lang="zh-CN" altLang="en-US" sz="1200" dirty="0">
                <a:solidFill>
                  <a:schemeClr val="tx1">
                    <a:lumMod val="65000"/>
                    <a:lumOff val="35000"/>
                  </a:schemeClr>
                </a:solidFill>
                <a:latin typeface="微软雅黑" pitchFamily="34" charset="-122"/>
                <a:ea typeface="微软雅黑" pitchFamily="34" charset="-122"/>
              </a:rPr>
              <a:t>第 </a:t>
            </a:r>
            <a:fld id="{2EEF1883-7A0E-4F66-9932-E581691AD397}" type="slidenum">
              <a:rPr lang="zh-CN" altLang="en-US" sz="1200">
                <a:solidFill>
                  <a:schemeClr val="tx1">
                    <a:lumMod val="65000"/>
                    <a:lumOff val="35000"/>
                  </a:schemeClr>
                </a:solidFill>
              </a:rPr>
              <a:pPr algn="ctr">
                <a:defRPr/>
              </a:pPr>
              <a:t>‹#›</a:t>
            </a:fld>
            <a:r>
              <a:rPr lang="zh-CN" altLang="en-US" sz="1200" dirty="0">
                <a:solidFill>
                  <a:schemeClr val="tx1">
                    <a:lumMod val="65000"/>
                    <a:lumOff val="35000"/>
                  </a:schemeClr>
                </a:solidFill>
              </a:rPr>
              <a:t>  </a:t>
            </a:r>
            <a:r>
              <a:rPr lang="zh-CN" altLang="en-US" sz="1200" dirty="0">
                <a:solidFill>
                  <a:schemeClr val="tx1">
                    <a:lumMod val="65000"/>
                    <a:lumOff val="35000"/>
                  </a:schemeClr>
                </a:solidFill>
                <a:latin typeface="微软雅黑" pitchFamily="34" charset="-122"/>
                <a:ea typeface="微软雅黑" pitchFamily="34" charset="-122"/>
              </a:rPr>
              <a:t>页</a:t>
            </a:r>
          </a:p>
        </p:txBody>
      </p:sp>
    </p:spTree>
    <p:extLst>
      <p:ext uri="{BB962C8B-B14F-4D97-AF65-F5344CB8AC3E}">
        <p14:creationId xmlns:p14="http://schemas.microsoft.com/office/powerpoint/2010/main" val="3392802762"/>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矩形 2"/>
          <p:cNvSpPr/>
          <p:nvPr userDrawn="1"/>
        </p:nvSpPr>
        <p:spPr>
          <a:xfrm>
            <a:off x="7747712" y="4897279"/>
            <a:ext cx="775136" cy="246221"/>
          </a:xfrm>
          <a:prstGeom prst="rect">
            <a:avLst/>
          </a:prstGeom>
        </p:spPr>
        <p:txBody>
          <a:bodyPr wrap="square">
            <a:spAutoFit/>
          </a:bodyPr>
          <a:lstStyle/>
          <a:p>
            <a:pPr defTabSz="914400"/>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pPr defTabSz="914400"/>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pPr defTabSz="914400"/>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pPr defTabSz="914400"/>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pPr defTabSz="914400"/>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pPr defTabSz="914400"/>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pPr defTabSz="914400"/>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pPr defTabSz="914400"/>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p>
          <a:p>
            <a:pPr defTabSz="914400"/>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pPr defTabSz="914400"/>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Tree>
    <p:extLst>
      <p:ext uri="{BB962C8B-B14F-4D97-AF65-F5344CB8AC3E}">
        <p14:creationId xmlns:p14="http://schemas.microsoft.com/office/powerpoint/2010/main" val="3900207815"/>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6787259"/>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10" name="矩形 9"/>
          <p:cNvSpPr/>
          <p:nvPr userDrawn="1"/>
        </p:nvSpPr>
        <p:spPr>
          <a:xfrm>
            <a:off x="8313734" y="4946479"/>
            <a:ext cx="581352" cy="356123"/>
          </a:xfrm>
          <a:prstGeom prst="rect">
            <a:avLst/>
          </a:prstGeom>
        </p:spPr>
        <p:txBody>
          <a:bodyPr wrap="square">
            <a:spAutoFit/>
          </a:bodyPr>
          <a:lstStyle/>
          <a:p>
            <a:r>
              <a:rPr lang="en-US" altLang="zh-CN" sz="101" dirty="0">
                <a:solidFill>
                  <a:prstClr val="white"/>
                </a:solidFill>
                <a:latin typeface="Calibri" panose="020F0502020204030204"/>
                <a:ea typeface="宋体" panose="02010600030101010101" pitchFamily="2" charset="-122"/>
              </a:rPr>
              <a:t>PPT</a:t>
            </a:r>
            <a:r>
              <a:rPr lang="zh-CN" altLang="en-US" sz="101" dirty="0">
                <a:solidFill>
                  <a:prstClr val="white"/>
                </a:solidFill>
                <a:latin typeface="Calibri" panose="020F0502020204030204"/>
                <a:ea typeface="宋体" panose="02010600030101010101" pitchFamily="2" charset="-122"/>
              </a:rPr>
              <a:t>模板下载：</a:t>
            </a:r>
            <a:r>
              <a:rPr lang="en-US" altLang="zh-CN" sz="101" dirty="0">
                <a:solidFill>
                  <a:prstClr val="white"/>
                </a:solidFill>
                <a:latin typeface="Calibri" panose="020F0502020204030204"/>
                <a:ea typeface="宋体" panose="02010600030101010101" pitchFamily="2" charset="-122"/>
              </a:rPr>
              <a:t>www.1ppt.com/moban/     </a:t>
            </a:r>
            <a:r>
              <a:rPr lang="zh-CN" altLang="en-US" sz="101" dirty="0">
                <a:solidFill>
                  <a:prstClr val="white"/>
                </a:solidFill>
                <a:latin typeface="Calibri" panose="020F0502020204030204"/>
                <a:ea typeface="宋体" panose="02010600030101010101" pitchFamily="2" charset="-122"/>
              </a:rPr>
              <a:t>行业</a:t>
            </a:r>
            <a:r>
              <a:rPr lang="en-US" altLang="zh-CN" sz="101" dirty="0">
                <a:solidFill>
                  <a:prstClr val="white"/>
                </a:solidFill>
                <a:latin typeface="Calibri" panose="020F0502020204030204"/>
                <a:ea typeface="宋体" panose="02010600030101010101" pitchFamily="2" charset="-122"/>
              </a:rPr>
              <a:t>PPT</a:t>
            </a:r>
            <a:r>
              <a:rPr lang="zh-CN" altLang="en-US" sz="101" dirty="0">
                <a:solidFill>
                  <a:prstClr val="white"/>
                </a:solidFill>
                <a:latin typeface="Calibri" panose="020F0502020204030204"/>
                <a:ea typeface="宋体" panose="02010600030101010101" pitchFamily="2" charset="-122"/>
              </a:rPr>
              <a:t>模板：</a:t>
            </a:r>
            <a:r>
              <a:rPr lang="en-US" altLang="zh-CN" sz="101" dirty="0">
                <a:solidFill>
                  <a:prstClr val="white"/>
                </a:solidFill>
                <a:latin typeface="Calibri" panose="020F0502020204030204"/>
                <a:ea typeface="宋体" panose="02010600030101010101" pitchFamily="2" charset="-122"/>
              </a:rPr>
              <a:t>www.1ppt.com/hangye/ </a:t>
            </a:r>
          </a:p>
          <a:p>
            <a:r>
              <a:rPr lang="zh-CN" altLang="en-US" sz="101" dirty="0">
                <a:solidFill>
                  <a:prstClr val="white"/>
                </a:solidFill>
                <a:latin typeface="Calibri" panose="020F0502020204030204"/>
                <a:ea typeface="宋体" panose="02010600030101010101" pitchFamily="2" charset="-122"/>
              </a:rPr>
              <a:t>节日</a:t>
            </a:r>
            <a:r>
              <a:rPr lang="en-US" altLang="zh-CN" sz="101" dirty="0">
                <a:solidFill>
                  <a:prstClr val="white"/>
                </a:solidFill>
                <a:latin typeface="Calibri" panose="020F0502020204030204"/>
                <a:ea typeface="宋体" panose="02010600030101010101" pitchFamily="2" charset="-122"/>
              </a:rPr>
              <a:t>PPT</a:t>
            </a:r>
            <a:r>
              <a:rPr lang="zh-CN" altLang="en-US" sz="101" dirty="0">
                <a:solidFill>
                  <a:prstClr val="white"/>
                </a:solidFill>
                <a:latin typeface="Calibri" panose="020F0502020204030204"/>
                <a:ea typeface="宋体" panose="02010600030101010101" pitchFamily="2" charset="-122"/>
              </a:rPr>
              <a:t>模板：</a:t>
            </a:r>
            <a:r>
              <a:rPr lang="en-US" altLang="zh-CN" sz="101" dirty="0">
                <a:solidFill>
                  <a:prstClr val="white"/>
                </a:solidFill>
                <a:latin typeface="Calibri" panose="020F0502020204030204"/>
                <a:ea typeface="宋体" panose="02010600030101010101" pitchFamily="2" charset="-122"/>
              </a:rPr>
              <a:t>www.1ppt.com/jieri/           PPT</a:t>
            </a:r>
            <a:r>
              <a:rPr lang="zh-CN" altLang="en-US" sz="101" dirty="0">
                <a:solidFill>
                  <a:prstClr val="white"/>
                </a:solidFill>
                <a:latin typeface="Calibri" panose="020F0502020204030204"/>
                <a:ea typeface="宋体" panose="02010600030101010101" pitchFamily="2" charset="-122"/>
              </a:rPr>
              <a:t>素材下载：</a:t>
            </a:r>
            <a:r>
              <a:rPr lang="en-US" altLang="zh-CN" sz="101" dirty="0">
                <a:solidFill>
                  <a:prstClr val="white"/>
                </a:solidFill>
                <a:latin typeface="Calibri" panose="020F0502020204030204"/>
                <a:ea typeface="宋体" panose="02010600030101010101" pitchFamily="2" charset="-122"/>
              </a:rPr>
              <a:t>www.1ppt.com/sucai/</a:t>
            </a:r>
          </a:p>
          <a:p>
            <a:r>
              <a:rPr lang="en-US" altLang="zh-CN" sz="101" dirty="0">
                <a:solidFill>
                  <a:prstClr val="white"/>
                </a:solidFill>
                <a:latin typeface="Calibri" panose="020F0502020204030204"/>
                <a:ea typeface="宋体" panose="02010600030101010101" pitchFamily="2" charset="-122"/>
              </a:rPr>
              <a:t>PPT</a:t>
            </a:r>
            <a:r>
              <a:rPr lang="zh-CN" altLang="en-US" sz="101" dirty="0">
                <a:solidFill>
                  <a:prstClr val="white"/>
                </a:solidFill>
                <a:latin typeface="Calibri" panose="020F0502020204030204"/>
                <a:ea typeface="宋体" panose="02010600030101010101" pitchFamily="2" charset="-122"/>
              </a:rPr>
              <a:t>背景图片：</a:t>
            </a:r>
            <a:r>
              <a:rPr lang="en-US" altLang="zh-CN" sz="101" dirty="0">
                <a:solidFill>
                  <a:prstClr val="white"/>
                </a:solidFill>
                <a:latin typeface="Calibri" panose="020F0502020204030204"/>
                <a:ea typeface="宋体" panose="02010600030101010101" pitchFamily="2" charset="-122"/>
              </a:rPr>
              <a:t>www.1ppt.com/beijing/      PPT</a:t>
            </a:r>
            <a:r>
              <a:rPr lang="zh-CN" altLang="en-US" sz="101" dirty="0">
                <a:solidFill>
                  <a:prstClr val="white"/>
                </a:solidFill>
                <a:latin typeface="Calibri" panose="020F0502020204030204"/>
                <a:ea typeface="宋体" panose="02010600030101010101" pitchFamily="2" charset="-122"/>
              </a:rPr>
              <a:t>图表下载：</a:t>
            </a:r>
            <a:r>
              <a:rPr lang="en-US" altLang="zh-CN" sz="101" dirty="0">
                <a:solidFill>
                  <a:prstClr val="white"/>
                </a:solidFill>
                <a:latin typeface="Calibri" panose="020F0502020204030204"/>
                <a:ea typeface="宋体" panose="02010600030101010101" pitchFamily="2" charset="-122"/>
              </a:rPr>
              <a:t>www.1ppt.com/tubiao/      </a:t>
            </a:r>
          </a:p>
          <a:p>
            <a:r>
              <a:rPr lang="zh-CN" altLang="en-US" sz="101" dirty="0">
                <a:solidFill>
                  <a:prstClr val="white"/>
                </a:solidFill>
                <a:latin typeface="Calibri" panose="020F0502020204030204"/>
                <a:ea typeface="宋体" panose="02010600030101010101" pitchFamily="2" charset="-122"/>
              </a:rPr>
              <a:t>优秀</a:t>
            </a:r>
            <a:r>
              <a:rPr lang="en-US" altLang="zh-CN" sz="101" dirty="0">
                <a:solidFill>
                  <a:prstClr val="white"/>
                </a:solidFill>
                <a:latin typeface="Calibri" panose="020F0502020204030204"/>
                <a:ea typeface="宋体" panose="02010600030101010101" pitchFamily="2" charset="-122"/>
              </a:rPr>
              <a:t>PPT</a:t>
            </a:r>
            <a:r>
              <a:rPr lang="zh-CN" altLang="en-US" sz="101" dirty="0">
                <a:solidFill>
                  <a:prstClr val="white"/>
                </a:solidFill>
                <a:latin typeface="Calibri" panose="020F0502020204030204"/>
                <a:ea typeface="宋体" panose="02010600030101010101" pitchFamily="2" charset="-122"/>
              </a:rPr>
              <a:t>下载：</a:t>
            </a:r>
            <a:r>
              <a:rPr lang="en-US" altLang="zh-CN" sz="101" dirty="0">
                <a:solidFill>
                  <a:prstClr val="white"/>
                </a:solidFill>
                <a:latin typeface="Calibri" panose="020F0502020204030204"/>
                <a:ea typeface="宋体" panose="02010600030101010101" pitchFamily="2" charset="-122"/>
              </a:rPr>
              <a:t>www.1ppt.com/xiazai/        PPT</a:t>
            </a:r>
            <a:r>
              <a:rPr lang="zh-CN" altLang="en-US" sz="101" dirty="0">
                <a:solidFill>
                  <a:prstClr val="white"/>
                </a:solidFill>
                <a:latin typeface="Calibri" panose="020F0502020204030204"/>
                <a:ea typeface="宋体" panose="02010600030101010101" pitchFamily="2" charset="-122"/>
              </a:rPr>
              <a:t>教程： </a:t>
            </a:r>
            <a:r>
              <a:rPr lang="en-US" altLang="zh-CN" sz="101" dirty="0">
                <a:solidFill>
                  <a:prstClr val="white"/>
                </a:solidFill>
                <a:latin typeface="Calibri" panose="020F0502020204030204"/>
                <a:ea typeface="宋体" panose="02010600030101010101" pitchFamily="2" charset="-122"/>
              </a:rPr>
              <a:t>www.1ppt.com/powerpoint/      </a:t>
            </a:r>
          </a:p>
          <a:p>
            <a:r>
              <a:rPr lang="en-US" altLang="zh-CN" sz="101" dirty="0">
                <a:solidFill>
                  <a:prstClr val="white"/>
                </a:solidFill>
                <a:latin typeface="Calibri" panose="020F0502020204030204"/>
                <a:ea typeface="宋体" panose="02010600030101010101" pitchFamily="2" charset="-122"/>
              </a:rPr>
              <a:t>Word</a:t>
            </a:r>
            <a:r>
              <a:rPr lang="zh-CN" altLang="en-US" sz="101" dirty="0">
                <a:solidFill>
                  <a:prstClr val="white"/>
                </a:solidFill>
                <a:latin typeface="Calibri" panose="020F0502020204030204"/>
                <a:ea typeface="宋体" panose="02010600030101010101" pitchFamily="2" charset="-122"/>
              </a:rPr>
              <a:t>教程： </a:t>
            </a:r>
            <a:r>
              <a:rPr lang="en-US" altLang="zh-CN" sz="101" dirty="0">
                <a:solidFill>
                  <a:prstClr val="white"/>
                </a:solidFill>
                <a:latin typeface="Calibri" panose="020F0502020204030204"/>
                <a:ea typeface="宋体" panose="02010600030101010101" pitchFamily="2" charset="-122"/>
              </a:rPr>
              <a:t>www.1ppt.com/word/              Excel</a:t>
            </a:r>
            <a:r>
              <a:rPr lang="zh-CN" altLang="en-US" sz="101" dirty="0">
                <a:solidFill>
                  <a:prstClr val="white"/>
                </a:solidFill>
                <a:latin typeface="Calibri" panose="020F0502020204030204"/>
                <a:ea typeface="宋体" panose="02010600030101010101" pitchFamily="2" charset="-122"/>
              </a:rPr>
              <a:t>教程：</a:t>
            </a:r>
            <a:r>
              <a:rPr lang="en-US" altLang="zh-CN" sz="101" dirty="0">
                <a:solidFill>
                  <a:prstClr val="white"/>
                </a:solidFill>
                <a:latin typeface="Calibri" panose="020F0502020204030204"/>
                <a:ea typeface="宋体" panose="02010600030101010101" pitchFamily="2" charset="-122"/>
              </a:rPr>
              <a:t>www.1ppt.com/excel/  </a:t>
            </a:r>
          </a:p>
          <a:p>
            <a:r>
              <a:rPr lang="zh-CN" altLang="en-US" sz="101" dirty="0">
                <a:solidFill>
                  <a:prstClr val="white"/>
                </a:solidFill>
                <a:latin typeface="Calibri" panose="020F0502020204030204"/>
                <a:ea typeface="宋体" panose="02010600030101010101" pitchFamily="2" charset="-122"/>
              </a:rPr>
              <a:t>资料下载：</a:t>
            </a:r>
            <a:r>
              <a:rPr lang="en-US" altLang="zh-CN" sz="101" dirty="0">
                <a:solidFill>
                  <a:prstClr val="white"/>
                </a:solidFill>
                <a:latin typeface="Calibri" panose="020F0502020204030204"/>
                <a:ea typeface="宋体" panose="02010600030101010101" pitchFamily="2" charset="-122"/>
              </a:rPr>
              <a:t>www.1ppt.com/ziliao/                PPT</a:t>
            </a:r>
            <a:r>
              <a:rPr lang="zh-CN" altLang="en-US" sz="101" dirty="0">
                <a:solidFill>
                  <a:prstClr val="white"/>
                </a:solidFill>
                <a:latin typeface="Calibri" panose="020F0502020204030204"/>
                <a:ea typeface="宋体" panose="02010600030101010101" pitchFamily="2" charset="-122"/>
              </a:rPr>
              <a:t>课件下载：</a:t>
            </a:r>
            <a:r>
              <a:rPr lang="en-US" altLang="zh-CN" sz="101" dirty="0">
                <a:solidFill>
                  <a:prstClr val="white"/>
                </a:solidFill>
                <a:latin typeface="Calibri" panose="020F0502020204030204"/>
                <a:ea typeface="宋体" panose="02010600030101010101" pitchFamily="2" charset="-122"/>
              </a:rPr>
              <a:t>www.1ppt.com/kejian/ </a:t>
            </a:r>
          </a:p>
          <a:p>
            <a:r>
              <a:rPr lang="zh-CN" altLang="en-US" sz="101" dirty="0">
                <a:solidFill>
                  <a:prstClr val="white"/>
                </a:solidFill>
                <a:latin typeface="Calibri" panose="020F0502020204030204"/>
                <a:ea typeface="宋体" panose="02010600030101010101" pitchFamily="2" charset="-122"/>
              </a:rPr>
              <a:t>范文下载：</a:t>
            </a:r>
            <a:r>
              <a:rPr lang="en-US" altLang="zh-CN" sz="101" dirty="0">
                <a:solidFill>
                  <a:prstClr val="white"/>
                </a:solidFill>
                <a:latin typeface="Calibri" panose="020F0502020204030204"/>
                <a:ea typeface="宋体" panose="02010600030101010101" pitchFamily="2" charset="-122"/>
              </a:rPr>
              <a:t>www.1ppt.com/fanwen/             </a:t>
            </a:r>
            <a:r>
              <a:rPr lang="zh-CN" altLang="en-US" sz="101" dirty="0">
                <a:solidFill>
                  <a:prstClr val="white"/>
                </a:solidFill>
                <a:latin typeface="Calibri" panose="020F0502020204030204"/>
                <a:ea typeface="宋体" panose="02010600030101010101" pitchFamily="2" charset="-122"/>
              </a:rPr>
              <a:t>试卷下载：</a:t>
            </a:r>
            <a:r>
              <a:rPr lang="en-US" altLang="zh-CN" sz="101" dirty="0">
                <a:solidFill>
                  <a:prstClr val="white"/>
                </a:solidFill>
                <a:latin typeface="Calibri" panose="020F0502020204030204"/>
                <a:ea typeface="宋体" panose="02010600030101010101" pitchFamily="2" charset="-122"/>
              </a:rPr>
              <a:t>www.1ppt.com/shiti/  </a:t>
            </a:r>
          </a:p>
          <a:p>
            <a:r>
              <a:rPr lang="zh-CN" altLang="en-US" sz="101" dirty="0">
                <a:solidFill>
                  <a:prstClr val="white"/>
                </a:solidFill>
                <a:latin typeface="Calibri" panose="020F0502020204030204"/>
                <a:ea typeface="宋体" panose="02010600030101010101" pitchFamily="2" charset="-122"/>
              </a:rPr>
              <a:t>教案下载：</a:t>
            </a:r>
            <a:r>
              <a:rPr lang="en-US" altLang="zh-CN" sz="101" dirty="0">
                <a:solidFill>
                  <a:prstClr val="white"/>
                </a:solidFill>
                <a:latin typeface="Calibri" panose="020F0502020204030204"/>
                <a:ea typeface="宋体" panose="02010600030101010101" pitchFamily="2" charset="-122"/>
              </a:rPr>
              <a:t>www.1ppt.com/jiaoan/        </a:t>
            </a:r>
          </a:p>
          <a:p>
            <a:r>
              <a:rPr lang="zh-CN" altLang="en-US" sz="101" dirty="0">
                <a:solidFill>
                  <a:prstClr val="white"/>
                </a:solidFill>
                <a:latin typeface="Calibri" panose="020F0502020204030204"/>
                <a:ea typeface="宋体" panose="02010600030101010101" pitchFamily="2" charset="-122"/>
              </a:rPr>
              <a:t>字体下载：</a:t>
            </a:r>
            <a:r>
              <a:rPr lang="en-US" altLang="zh-CN" sz="101" dirty="0">
                <a:solidFill>
                  <a:prstClr val="white"/>
                </a:solidFill>
                <a:latin typeface="Calibri" panose="020F0502020204030204"/>
                <a:ea typeface="宋体" panose="02010600030101010101" pitchFamily="2" charset="-122"/>
              </a:rPr>
              <a:t>www.1ppt.com/ziti/</a:t>
            </a:r>
          </a:p>
          <a:p>
            <a:r>
              <a:rPr lang="en-US" altLang="zh-CN" sz="101" dirty="0">
                <a:solidFill>
                  <a:prstClr val="white"/>
                </a:solidFill>
                <a:latin typeface="Calibri" panose="020F0502020204030204"/>
                <a:ea typeface="宋体" panose="02010600030101010101" pitchFamily="2" charset="-122"/>
              </a:rPr>
              <a:t> </a:t>
            </a:r>
            <a:endParaRPr lang="zh-CN" altLang="en-US" sz="101" dirty="0">
              <a:solidFill>
                <a:prstClr val="white"/>
              </a:solidFill>
              <a:latin typeface="Calibri" panose="020F0502020204030204"/>
              <a:ea typeface="宋体" panose="02010600030101010101" pitchFamily="2" charset="-122"/>
            </a:endParaRPr>
          </a:p>
        </p:txBody>
      </p:sp>
      <p:sp>
        <p:nvSpPr>
          <p:cNvPr id="7" name="矩形 6"/>
          <p:cNvSpPr/>
          <p:nvPr userDrawn="1"/>
        </p:nvSpPr>
        <p:spPr>
          <a:xfrm>
            <a:off x="278494" y="290456"/>
            <a:ext cx="243000" cy="243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userDrawn="1"/>
        </p:nvSpPr>
        <p:spPr>
          <a:xfrm>
            <a:off x="89494" y="101456"/>
            <a:ext cx="189000" cy="189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p:nvPr userDrawn="1"/>
        </p:nvSpPr>
        <p:spPr>
          <a:xfrm>
            <a:off x="8420006" y="4738500"/>
            <a:ext cx="405000" cy="405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8101012" y="4804083"/>
            <a:ext cx="1042988" cy="273844"/>
          </a:xfrm>
        </p:spPr>
        <p:txBody>
          <a:bodyPr/>
          <a:lstStyle>
            <a:lvl1pPr algn="ctr">
              <a:defRPr sz="1500" b="1">
                <a:solidFill>
                  <a:schemeClr val="bg1"/>
                </a:solidFill>
              </a:defRPr>
            </a:lvl1pPr>
          </a:lstStyle>
          <a:p>
            <a:fld id="{51D91E7F-84B6-4064-9D4E-CC7D244BCA04}" type="slidenum">
              <a:rPr lang="zh-CN" altLang="en-US" smtClean="0"/>
              <a:t>‹#›</a:t>
            </a:fld>
            <a:endParaRPr lang="zh-CN" altLang="en-US" dirty="0"/>
          </a:p>
        </p:txBody>
      </p:sp>
    </p:spTree>
    <p:extLst>
      <p:ext uri="{BB962C8B-B14F-4D97-AF65-F5344CB8AC3E}">
        <p14:creationId xmlns:p14="http://schemas.microsoft.com/office/powerpoint/2010/main" val="24337699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2079579"/>
      </p:ext>
    </p:extLst>
  </p:cSld>
  <p:clrMap bg1="lt1" tx1="dk1" bg2="lt2" tx2="dk2" accent1="accent1" accent2="accent2" accent3="accent3" accent4="accent4" accent5="accent5" accent6="accent6" hlink="hlink" folHlink="folHlink"/>
  <p:sldLayoutIdLst>
    <p:sldLayoutId id="2147483718" r:id="rId1"/>
    <p:sldLayoutId id="2147483725" r:id="rId2"/>
    <p:sldLayoutId id="2147483738" r:id="rId3"/>
    <p:sldLayoutId id="2147483724" r:id="rId4"/>
    <p:sldLayoutId id="2147483739" r:id="rId5"/>
  </p:sldLayoutIdLst>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hf hdr="0" dt="0"/>
  <p:txStyles>
    <p:titleStyle>
      <a:lvl1pPr algn="l" defTabSz="685800" rtl="0" eaLnBrk="1" latinLnBrk="0" hangingPunct="1">
        <a:lnSpc>
          <a:spcPct val="90000"/>
        </a:lnSpc>
        <a:spcBef>
          <a:spcPct val="0"/>
        </a:spcBef>
        <a:buNone/>
        <a:defRPr sz="2400" b="1" i="0" kern="1200" baseline="0">
          <a:solidFill>
            <a:srgbClr val="071F65"/>
          </a:solidFill>
          <a:effectLst/>
          <a:latin typeface="Arial Black" panose="020B0A04020102020204" pitchFamily="34" charset="0"/>
          <a:ea typeface="微软雅黑" panose="020B0503020204020204" pitchFamily="34" charset="-122"/>
          <a:cs typeface="+mj-cs"/>
        </a:defRPr>
      </a:lvl1pPr>
    </p:titleStyle>
    <p:bodyStyle>
      <a:lvl1pPr marL="267891" indent="-267891" algn="just" defTabSz="685800" rtl="0" eaLnBrk="1" latinLnBrk="0" hangingPunct="1">
        <a:lnSpc>
          <a:spcPct val="110000"/>
        </a:lnSpc>
        <a:spcBef>
          <a:spcPts val="1350"/>
        </a:spcBef>
        <a:spcAft>
          <a:spcPts val="0"/>
        </a:spcAft>
        <a:buClr>
          <a:schemeClr val="accent2">
            <a:lumMod val="75000"/>
          </a:schemeClr>
        </a:buClr>
        <a:buSzPct val="70000"/>
        <a:buFont typeface="Wingdings 2" panose="05020102010507070707" pitchFamily="18" charset="2"/>
        <a:buChar char=""/>
        <a:defRPr sz="1500" kern="1200" baseline="0">
          <a:solidFill>
            <a:srgbClr val="071F65"/>
          </a:solidFill>
          <a:latin typeface="Arial" panose="020B0604020202020204" pitchFamily="34" charset="0"/>
          <a:ea typeface="微软雅黑" panose="020B0503020204020204" pitchFamily="34" charset="-122"/>
          <a:cs typeface="+mn-cs"/>
        </a:defRPr>
      </a:lvl1pPr>
      <a:lvl2pPr marL="267891" indent="-267891" algn="just" defTabSz="685800" rtl="0" eaLnBrk="1" latinLnBrk="0" hangingPunct="1">
        <a:lnSpc>
          <a:spcPct val="130000"/>
        </a:lnSpc>
        <a:spcBef>
          <a:spcPts val="0"/>
        </a:spcBef>
        <a:spcAft>
          <a:spcPts val="450"/>
        </a:spcAft>
        <a:buClr>
          <a:schemeClr val="accent2">
            <a:lumMod val="60000"/>
            <a:lumOff val="40000"/>
          </a:schemeClr>
        </a:buClr>
        <a:buFont typeface="幼圆" panose="02010509060101010101" pitchFamily="49" charset="-122"/>
        <a:buChar char=" "/>
        <a:defRPr sz="1200" kern="1200" baseline="0">
          <a:solidFill>
            <a:srgbClr val="071F65"/>
          </a:solidFill>
          <a:latin typeface="幼圆" panose="02010509060101010101" pitchFamily="49" charset="-122"/>
          <a:ea typeface="幼圆" panose="02010509060101010101" pitchFamily="49" charset="-122"/>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1.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jp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3.png"/><Relationship Id="rId7" Type="http://schemas.openxmlformats.org/officeDocument/2006/relationships/image" Target="../media/image24.png"/><Relationship Id="rId2" Type="http://schemas.openxmlformats.org/officeDocument/2006/relationships/image" Target="../media/image1.jpg"/><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g"/><Relationship Id="rId1" Type="http://schemas.openxmlformats.org/officeDocument/2006/relationships/slideLayout" Target="../slideLayouts/slideLayout5.xml"/><Relationship Id="rId4" Type="http://schemas.openxmlformats.org/officeDocument/2006/relationships/image" Target="../media/image31.sv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4871F336-037F-461E-80B7-C3CB9C708906}"/>
              </a:ext>
            </a:extLst>
          </p:cNvPr>
          <p:cNvSpPr/>
          <p:nvPr/>
        </p:nvSpPr>
        <p:spPr>
          <a:xfrm>
            <a:off x="9600" y="2196811"/>
            <a:ext cx="9133237" cy="142504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B5E5F3F0-8784-433E-9474-D9B75ACC3807}"/>
              </a:ext>
            </a:extLst>
          </p:cNvPr>
          <p:cNvSpPr/>
          <p:nvPr/>
        </p:nvSpPr>
        <p:spPr>
          <a:xfrm>
            <a:off x="9600" y="855257"/>
            <a:ext cx="9134400" cy="1328230"/>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141172" y="1315942"/>
            <a:ext cx="6861656" cy="346249"/>
          </a:xfrm>
          <a:prstGeom prst="rect">
            <a:avLst/>
          </a:prstGeom>
        </p:spPr>
        <p:txBody>
          <a:bodyPr wrap="square" lIns="68580" tIns="34290" rIns="68580" bIns="34290">
            <a:spAutoFit/>
          </a:bodyPr>
          <a:lstStyle/>
          <a:p>
            <a:r>
              <a:rPr lang="zh-CN" altLang="en-US" sz="1800" b="1" dirty="0">
                <a:solidFill>
                  <a:schemeClr val="bg1"/>
                </a:solidFill>
                <a:latin typeface="宋体" panose="02010600030101010101" pitchFamily="2" charset="-122"/>
                <a:ea typeface="宋体" panose="02010600030101010101" pitchFamily="2" charset="-122"/>
              </a:rPr>
              <a:t>开题报告：基于可解释深度学习的声波测井窜槽敏感特征反演研究</a:t>
            </a:r>
          </a:p>
        </p:txBody>
      </p:sp>
      <p:sp>
        <p:nvSpPr>
          <p:cNvPr id="14" name="Freeform 5"/>
          <p:cNvSpPr>
            <a:spLocks noEditPoints="1"/>
          </p:cNvSpPr>
          <p:nvPr/>
        </p:nvSpPr>
        <p:spPr bwMode="auto">
          <a:xfrm>
            <a:off x="9600" y="1164127"/>
            <a:ext cx="1790977" cy="2869814"/>
          </a:xfrm>
          <a:custGeom>
            <a:avLst/>
            <a:gdLst>
              <a:gd name="T0" fmla="*/ 0 w 7449"/>
              <a:gd name="T1" fmla="*/ 0 h 11906"/>
              <a:gd name="T2" fmla="*/ 7449 w 7449"/>
              <a:gd name="T3" fmla="*/ 4223 h 11906"/>
              <a:gd name="T4" fmla="*/ 0 w 7449"/>
              <a:gd name="T5" fmla="*/ 4223 h 11906"/>
              <a:gd name="T6" fmla="*/ 0 w 7449"/>
              <a:gd name="T7" fmla="*/ 0 h 11906"/>
              <a:gd name="T8" fmla="*/ 7449 w 7449"/>
              <a:gd name="T9" fmla="*/ 4302 h 11906"/>
              <a:gd name="T10" fmla="*/ 0 w 7449"/>
              <a:gd name="T11" fmla="*/ 8525 h 11906"/>
              <a:gd name="T12" fmla="*/ 0 w 7449"/>
              <a:gd name="T13" fmla="*/ 4302 h 11906"/>
              <a:gd name="T14" fmla="*/ 7449 w 7449"/>
              <a:gd name="T15" fmla="*/ 4302 h 11906"/>
              <a:gd name="T16" fmla="*/ 2857 w 7449"/>
              <a:gd name="T17" fmla="*/ 10038 h 11906"/>
              <a:gd name="T18" fmla="*/ 5 w 7449"/>
              <a:gd name="T19" fmla="*/ 11903 h 11906"/>
              <a:gd name="T20" fmla="*/ 0 w 7449"/>
              <a:gd name="T21" fmla="*/ 11906 h 11906"/>
              <a:gd name="T22" fmla="*/ 0 w 7449"/>
              <a:gd name="T23" fmla="*/ 8789 h 11906"/>
              <a:gd name="T24" fmla="*/ 2857 w 7449"/>
              <a:gd name="T25" fmla="*/ 7136 h 11906"/>
              <a:gd name="T26" fmla="*/ 2857 w 7449"/>
              <a:gd name="T27" fmla="*/ 10038 h 1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49" h="11906">
                <a:moveTo>
                  <a:pt x="0" y="0"/>
                </a:moveTo>
                <a:lnTo>
                  <a:pt x="7449" y="4223"/>
                </a:lnTo>
                <a:lnTo>
                  <a:pt x="0" y="4223"/>
                </a:lnTo>
                <a:lnTo>
                  <a:pt x="0" y="0"/>
                </a:lnTo>
                <a:close/>
                <a:moveTo>
                  <a:pt x="7449" y="4302"/>
                </a:moveTo>
                <a:lnTo>
                  <a:pt x="0" y="8525"/>
                </a:lnTo>
                <a:lnTo>
                  <a:pt x="0" y="4302"/>
                </a:lnTo>
                <a:lnTo>
                  <a:pt x="7449" y="4302"/>
                </a:lnTo>
                <a:close/>
                <a:moveTo>
                  <a:pt x="2857" y="10038"/>
                </a:moveTo>
                <a:cubicBezTo>
                  <a:pt x="2537" y="11326"/>
                  <a:pt x="721" y="11825"/>
                  <a:pt x="5" y="11903"/>
                </a:cubicBezTo>
                <a:lnTo>
                  <a:pt x="0" y="11906"/>
                </a:lnTo>
                <a:lnTo>
                  <a:pt x="0" y="8789"/>
                </a:lnTo>
                <a:lnTo>
                  <a:pt x="2857" y="7136"/>
                </a:lnTo>
                <a:lnTo>
                  <a:pt x="2857" y="10038"/>
                </a:lnTo>
                <a:close/>
              </a:path>
            </a:pathLst>
          </a:custGeom>
          <a:solidFill>
            <a:schemeClr val="accent1"/>
          </a:solidFill>
          <a:ln w="5" cap="flat">
            <a:solidFill>
              <a:srgbClr val="24211D"/>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6"/>
          <p:cNvSpPr>
            <a:spLocks noEditPoints="1"/>
          </p:cNvSpPr>
          <p:nvPr/>
        </p:nvSpPr>
        <p:spPr bwMode="auto">
          <a:xfrm>
            <a:off x="1722420" y="2203161"/>
            <a:ext cx="137114" cy="1694253"/>
          </a:xfrm>
          <a:custGeom>
            <a:avLst/>
            <a:gdLst>
              <a:gd name="T0" fmla="*/ 246 w 571"/>
              <a:gd name="T1" fmla="*/ 0 h 7028"/>
              <a:gd name="T2" fmla="*/ 246 w 571"/>
              <a:gd name="T3" fmla="*/ 2716 h 7028"/>
              <a:gd name="T4" fmla="*/ 178 w 571"/>
              <a:gd name="T5" fmla="*/ 2816 h 7028"/>
              <a:gd name="T6" fmla="*/ 286 w 571"/>
              <a:gd name="T7" fmla="*/ 2924 h 7028"/>
              <a:gd name="T8" fmla="*/ 394 w 571"/>
              <a:gd name="T9" fmla="*/ 2816 h 7028"/>
              <a:gd name="T10" fmla="*/ 325 w 571"/>
              <a:gd name="T11" fmla="*/ 2716 h 7028"/>
              <a:gd name="T12" fmla="*/ 325 w 571"/>
              <a:gd name="T13" fmla="*/ 0 h 7028"/>
              <a:gd name="T14" fmla="*/ 246 w 571"/>
              <a:gd name="T15" fmla="*/ 0 h 7028"/>
              <a:gd name="T16" fmla="*/ 0 w 571"/>
              <a:gd name="T17" fmla="*/ 3749 h 7028"/>
              <a:gd name="T18" fmla="*/ 571 w 571"/>
              <a:gd name="T19" fmla="*/ 3749 h 7028"/>
              <a:gd name="T20" fmla="*/ 571 w 571"/>
              <a:gd name="T21" fmla="*/ 3790 h 7028"/>
              <a:gd name="T22" fmla="*/ 0 w 571"/>
              <a:gd name="T23" fmla="*/ 3790 h 7028"/>
              <a:gd name="T24" fmla="*/ 0 w 571"/>
              <a:gd name="T25" fmla="*/ 3749 h 7028"/>
              <a:gd name="T26" fmla="*/ 0 w 571"/>
              <a:gd name="T27" fmla="*/ 3323 h 7028"/>
              <a:gd name="T28" fmla="*/ 0 w 571"/>
              <a:gd name="T29" fmla="*/ 3323 h 7028"/>
              <a:gd name="T30" fmla="*/ 0 w 571"/>
              <a:gd name="T31" fmla="*/ 3323 h 7028"/>
              <a:gd name="T32" fmla="*/ 286 w 571"/>
              <a:gd name="T33" fmla="*/ 3037 h 7028"/>
              <a:gd name="T34" fmla="*/ 571 w 571"/>
              <a:gd name="T35" fmla="*/ 3323 h 7028"/>
              <a:gd name="T36" fmla="*/ 571 w 571"/>
              <a:gd name="T37" fmla="*/ 3323 h 7028"/>
              <a:gd name="T38" fmla="*/ 571 w 571"/>
              <a:gd name="T39" fmla="*/ 3323 h 7028"/>
              <a:gd name="T40" fmla="*/ 571 w 571"/>
              <a:gd name="T41" fmla="*/ 3683 h 7028"/>
              <a:gd name="T42" fmla="*/ 0 w 571"/>
              <a:gd name="T43" fmla="*/ 3683 h 7028"/>
              <a:gd name="T44" fmla="*/ 0 w 571"/>
              <a:gd name="T45" fmla="*/ 3323 h 7028"/>
              <a:gd name="T46" fmla="*/ 37 w 571"/>
              <a:gd name="T47" fmla="*/ 3885 h 7028"/>
              <a:gd name="T48" fmla="*/ 0 w 571"/>
              <a:gd name="T49" fmla="*/ 3885 h 7028"/>
              <a:gd name="T50" fmla="*/ 0 w 571"/>
              <a:gd name="T51" fmla="*/ 7028 h 7028"/>
              <a:gd name="T52" fmla="*/ 37 w 571"/>
              <a:gd name="T53" fmla="*/ 7028 h 7028"/>
              <a:gd name="T54" fmla="*/ 37 w 571"/>
              <a:gd name="T55" fmla="*/ 3885 h 7028"/>
              <a:gd name="T56" fmla="*/ 126 w 571"/>
              <a:gd name="T57" fmla="*/ 3885 h 7028"/>
              <a:gd name="T58" fmla="*/ 89 w 571"/>
              <a:gd name="T59" fmla="*/ 3885 h 7028"/>
              <a:gd name="T60" fmla="*/ 89 w 571"/>
              <a:gd name="T61" fmla="*/ 7028 h 7028"/>
              <a:gd name="T62" fmla="*/ 126 w 571"/>
              <a:gd name="T63" fmla="*/ 7028 h 7028"/>
              <a:gd name="T64" fmla="*/ 126 w 571"/>
              <a:gd name="T65" fmla="*/ 3885 h 7028"/>
              <a:gd name="T66" fmla="*/ 215 w 571"/>
              <a:gd name="T67" fmla="*/ 3885 h 7028"/>
              <a:gd name="T68" fmla="*/ 178 w 571"/>
              <a:gd name="T69" fmla="*/ 3885 h 7028"/>
              <a:gd name="T70" fmla="*/ 178 w 571"/>
              <a:gd name="T71" fmla="*/ 7028 h 7028"/>
              <a:gd name="T72" fmla="*/ 215 w 571"/>
              <a:gd name="T73" fmla="*/ 7028 h 7028"/>
              <a:gd name="T74" fmla="*/ 215 w 571"/>
              <a:gd name="T75" fmla="*/ 3885 h 7028"/>
              <a:gd name="T76" fmla="*/ 304 w 571"/>
              <a:gd name="T77" fmla="*/ 3885 h 7028"/>
              <a:gd name="T78" fmla="*/ 267 w 571"/>
              <a:gd name="T79" fmla="*/ 3885 h 7028"/>
              <a:gd name="T80" fmla="*/ 267 w 571"/>
              <a:gd name="T81" fmla="*/ 7028 h 7028"/>
              <a:gd name="T82" fmla="*/ 304 w 571"/>
              <a:gd name="T83" fmla="*/ 7028 h 7028"/>
              <a:gd name="T84" fmla="*/ 304 w 571"/>
              <a:gd name="T85" fmla="*/ 3885 h 7028"/>
              <a:gd name="T86" fmla="*/ 393 w 571"/>
              <a:gd name="T87" fmla="*/ 3885 h 7028"/>
              <a:gd name="T88" fmla="*/ 356 w 571"/>
              <a:gd name="T89" fmla="*/ 3885 h 7028"/>
              <a:gd name="T90" fmla="*/ 356 w 571"/>
              <a:gd name="T91" fmla="*/ 7028 h 7028"/>
              <a:gd name="T92" fmla="*/ 393 w 571"/>
              <a:gd name="T93" fmla="*/ 7028 h 7028"/>
              <a:gd name="T94" fmla="*/ 393 w 571"/>
              <a:gd name="T95" fmla="*/ 3885 h 7028"/>
              <a:gd name="T96" fmla="*/ 482 w 571"/>
              <a:gd name="T97" fmla="*/ 3885 h 7028"/>
              <a:gd name="T98" fmla="*/ 445 w 571"/>
              <a:gd name="T99" fmla="*/ 3885 h 7028"/>
              <a:gd name="T100" fmla="*/ 445 w 571"/>
              <a:gd name="T101" fmla="*/ 7028 h 7028"/>
              <a:gd name="T102" fmla="*/ 482 w 571"/>
              <a:gd name="T103" fmla="*/ 7028 h 7028"/>
              <a:gd name="T104" fmla="*/ 482 w 571"/>
              <a:gd name="T105" fmla="*/ 3885 h 7028"/>
              <a:gd name="T106" fmla="*/ 571 w 571"/>
              <a:gd name="T107" fmla="*/ 3885 h 7028"/>
              <a:gd name="T108" fmla="*/ 534 w 571"/>
              <a:gd name="T109" fmla="*/ 3885 h 7028"/>
              <a:gd name="T110" fmla="*/ 534 w 571"/>
              <a:gd name="T111" fmla="*/ 7028 h 7028"/>
              <a:gd name="T112" fmla="*/ 571 w 571"/>
              <a:gd name="T113" fmla="*/ 7028 h 7028"/>
              <a:gd name="T114" fmla="*/ 571 w 571"/>
              <a:gd name="T115" fmla="*/ 3885 h 7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1" h="7028">
                <a:moveTo>
                  <a:pt x="246" y="0"/>
                </a:moveTo>
                <a:lnTo>
                  <a:pt x="246" y="2716"/>
                </a:lnTo>
                <a:cubicBezTo>
                  <a:pt x="206" y="2731"/>
                  <a:pt x="178" y="2770"/>
                  <a:pt x="178" y="2816"/>
                </a:cubicBezTo>
                <a:cubicBezTo>
                  <a:pt x="178" y="2876"/>
                  <a:pt x="226" y="2924"/>
                  <a:pt x="286" y="2924"/>
                </a:cubicBezTo>
                <a:cubicBezTo>
                  <a:pt x="345" y="2924"/>
                  <a:pt x="394" y="2876"/>
                  <a:pt x="394" y="2816"/>
                </a:cubicBezTo>
                <a:cubicBezTo>
                  <a:pt x="394" y="2770"/>
                  <a:pt x="365" y="2731"/>
                  <a:pt x="325" y="2716"/>
                </a:cubicBezTo>
                <a:lnTo>
                  <a:pt x="325" y="0"/>
                </a:lnTo>
                <a:lnTo>
                  <a:pt x="246" y="0"/>
                </a:lnTo>
                <a:close/>
                <a:moveTo>
                  <a:pt x="0" y="3749"/>
                </a:moveTo>
                <a:lnTo>
                  <a:pt x="571" y="3749"/>
                </a:lnTo>
                <a:lnTo>
                  <a:pt x="571" y="3790"/>
                </a:lnTo>
                <a:lnTo>
                  <a:pt x="0" y="3790"/>
                </a:lnTo>
                <a:lnTo>
                  <a:pt x="0" y="3749"/>
                </a:lnTo>
                <a:close/>
                <a:moveTo>
                  <a:pt x="0" y="3323"/>
                </a:moveTo>
                <a:lnTo>
                  <a:pt x="0" y="3323"/>
                </a:lnTo>
                <a:lnTo>
                  <a:pt x="0" y="3323"/>
                </a:lnTo>
                <a:cubicBezTo>
                  <a:pt x="0" y="3165"/>
                  <a:pt x="128" y="3037"/>
                  <a:pt x="286" y="3037"/>
                </a:cubicBezTo>
                <a:cubicBezTo>
                  <a:pt x="443" y="3037"/>
                  <a:pt x="571" y="3165"/>
                  <a:pt x="571" y="3323"/>
                </a:cubicBezTo>
                <a:lnTo>
                  <a:pt x="571" y="3323"/>
                </a:lnTo>
                <a:lnTo>
                  <a:pt x="571" y="3323"/>
                </a:lnTo>
                <a:lnTo>
                  <a:pt x="571" y="3683"/>
                </a:lnTo>
                <a:lnTo>
                  <a:pt x="0" y="3683"/>
                </a:lnTo>
                <a:lnTo>
                  <a:pt x="0" y="3323"/>
                </a:lnTo>
                <a:close/>
                <a:moveTo>
                  <a:pt x="37" y="3885"/>
                </a:moveTo>
                <a:lnTo>
                  <a:pt x="0" y="3885"/>
                </a:lnTo>
                <a:lnTo>
                  <a:pt x="0" y="7028"/>
                </a:lnTo>
                <a:lnTo>
                  <a:pt x="37" y="7028"/>
                </a:lnTo>
                <a:lnTo>
                  <a:pt x="37" y="3885"/>
                </a:lnTo>
                <a:close/>
                <a:moveTo>
                  <a:pt x="126" y="3885"/>
                </a:moveTo>
                <a:lnTo>
                  <a:pt x="89" y="3885"/>
                </a:lnTo>
                <a:lnTo>
                  <a:pt x="89" y="7028"/>
                </a:lnTo>
                <a:lnTo>
                  <a:pt x="126" y="7028"/>
                </a:lnTo>
                <a:lnTo>
                  <a:pt x="126" y="3885"/>
                </a:lnTo>
                <a:close/>
                <a:moveTo>
                  <a:pt x="215" y="3885"/>
                </a:moveTo>
                <a:lnTo>
                  <a:pt x="178" y="3885"/>
                </a:lnTo>
                <a:lnTo>
                  <a:pt x="178" y="7028"/>
                </a:lnTo>
                <a:lnTo>
                  <a:pt x="215" y="7028"/>
                </a:lnTo>
                <a:lnTo>
                  <a:pt x="215" y="3885"/>
                </a:lnTo>
                <a:close/>
                <a:moveTo>
                  <a:pt x="304" y="3885"/>
                </a:moveTo>
                <a:lnTo>
                  <a:pt x="267" y="3885"/>
                </a:lnTo>
                <a:lnTo>
                  <a:pt x="267" y="7028"/>
                </a:lnTo>
                <a:lnTo>
                  <a:pt x="304" y="7028"/>
                </a:lnTo>
                <a:lnTo>
                  <a:pt x="304" y="3885"/>
                </a:lnTo>
                <a:close/>
                <a:moveTo>
                  <a:pt x="393" y="3885"/>
                </a:moveTo>
                <a:lnTo>
                  <a:pt x="356" y="3885"/>
                </a:lnTo>
                <a:lnTo>
                  <a:pt x="356" y="7028"/>
                </a:lnTo>
                <a:lnTo>
                  <a:pt x="393" y="7028"/>
                </a:lnTo>
                <a:lnTo>
                  <a:pt x="393" y="3885"/>
                </a:lnTo>
                <a:close/>
                <a:moveTo>
                  <a:pt x="482" y="3885"/>
                </a:moveTo>
                <a:lnTo>
                  <a:pt x="445" y="3885"/>
                </a:lnTo>
                <a:lnTo>
                  <a:pt x="445" y="7028"/>
                </a:lnTo>
                <a:lnTo>
                  <a:pt x="482" y="7028"/>
                </a:lnTo>
                <a:lnTo>
                  <a:pt x="482" y="3885"/>
                </a:lnTo>
                <a:close/>
                <a:moveTo>
                  <a:pt x="571" y="3885"/>
                </a:moveTo>
                <a:lnTo>
                  <a:pt x="534" y="3885"/>
                </a:lnTo>
                <a:lnTo>
                  <a:pt x="534" y="7028"/>
                </a:lnTo>
                <a:lnTo>
                  <a:pt x="571" y="7028"/>
                </a:lnTo>
                <a:lnTo>
                  <a:pt x="571" y="388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2" name="组合 1">
            <a:extLst>
              <a:ext uri="{FF2B5EF4-FFF2-40B4-BE49-F238E27FC236}">
                <a16:creationId xmlns:a16="http://schemas.microsoft.com/office/drawing/2014/main" id="{AF32C28F-DCB7-4072-9C18-D518B48B8669}"/>
              </a:ext>
            </a:extLst>
          </p:cNvPr>
          <p:cNvGrpSpPr/>
          <p:nvPr/>
        </p:nvGrpSpPr>
        <p:grpSpPr>
          <a:xfrm>
            <a:off x="3933218" y="2558769"/>
            <a:ext cx="1664558" cy="549760"/>
            <a:chOff x="4044862" y="2855427"/>
            <a:chExt cx="1664558" cy="609245"/>
          </a:xfrm>
        </p:grpSpPr>
        <p:sp>
          <p:nvSpPr>
            <p:cNvPr id="20" name="TextBox 5"/>
            <p:cNvSpPr txBox="1"/>
            <p:nvPr/>
          </p:nvSpPr>
          <p:spPr>
            <a:xfrm>
              <a:off x="4044862" y="3179979"/>
              <a:ext cx="1664558" cy="284693"/>
            </a:xfrm>
            <a:prstGeom prst="rect">
              <a:avLst/>
            </a:prstGeom>
            <a:noFill/>
          </p:spPr>
          <p:txBody>
            <a:bodyPr wrap="none" lIns="68580" tIns="34290" rIns="68580" bIns="34290" rtlCol="0">
              <a:spAutoFit/>
            </a:bodyPr>
            <a:lstStyle/>
            <a:p>
              <a:r>
                <a:rPr lang="zh-CN" altLang="en-US" b="1" dirty="0">
                  <a:solidFill>
                    <a:schemeClr val="bg1"/>
                  </a:solidFill>
                  <a:latin typeface="宋体" panose="02010600030101010101" pitchFamily="2" charset="-122"/>
                  <a:ea typeface="宋体" panose="02010600030101010101" pitchFamily="2" charset="-122"/>
                  <a:cs typeface="微软雅黑"/>
                </a:rPr>
                <a:t>导   师：王华教授</a:t>
              </a:r>
            </a:p>
          </p:txBody>
        </p:sp>
        <p:sp>
          <p:nvSpPr>
            <p:cNvPr id="22" name="矩形 21"/>
            <p:cNvSpPr/>
            <p:nvPr/>
          </p:nvSpPr>
          <p:spPr>
            <a:xfrm>
              <a:off x="4044862" y="2855427"/>
              <a:ext cx="1436646" cy="315497"/>
            </a:xfrm>
            <a:prstGeom prst="rect">
              <a:avLst/>
            </a:prstGeom>
          </p:spPr>
          <p:txBody>
            <a:bodyPr wrap="square" lIns="68580" tIns="34290" rIns="68580" bIns="34290">
              <a:spAutoFit/>
            </a:bodyPr>
            <a:lstStyle/>
            <a:p>
              <a:r>
                <a:rPr kumimoji="1" lang="zh-CN" altLang="en-US" b="1" dirty="0">
                  <a:solidFill>
                    <a:schemeClr val="bg1"/>
                  </a:solidFill>
                  <a:latin typeface="宋体" panose="02010600030101010101" pitchFamily="2" charset="-122"/>
                  <a:ea typeface="宋体" panose="02010600030101010101" pitchFamily="2" charset="-122"/>
                  <a:cs typeface="微软雅黑"/>
                </a:rPr>
                <a:t>答辩人：肖俊</a:t>
              </a:r>
              <a:endParaRPr lang="zh-CN" altLang="en-US" b="1" dirty="0">
                <a:solidFill>
                  <a:schemeClr val="bg1"/>
                </a:solidFill>
                <a:latin typeface="宋体" panose="02010600030101010101" pitchFamily="2" charset="-122"/>
                <a:ea typeface="宋体" panose="02010600030101010101" pitchFamily="2" charset="-122"/>
                <a:cs typeface="微软雅黑"/>
              </a:endParaRPr>
            </a:p>
          </p:txBody>
        </p:sp>
      </p:grpSp>
      <p:pic>
        <p:nvPicPr>
          <p:cNvPr id="13" name="图片 12">
            <a:extLst>
              <a:ext uri="{FF2B5EF4-FFF2-40B4-BE49-F238E27FC236}">
                <a16:creationId xmlns:a16="http://schemas.microsoft.com/office/drawing/2014/main" id="{EADB2130-BA9D-4B15-A891-8DB77DECE8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0417" y="45131"/>
            <a:ext cx="1280663" cy="1270811"/>
          </a:xfrm>
          <a:prstGeom prst="ellipse">
            <a:avLst/>
          </a:prstGeom>
        </p:spPr>
      </p:pic>
      <p:sp>
        <p:nvSpPr>
          <p:cNvPr id="16" name="Freeform 5">
            <a:extLst>
              <a:ext uri="{FF2B5EF4-FFF2-40B4-BE49-F238E27FC236}">
                <a16:creationId xmlns:a16="http://schemas.microsoft.com/office/drawing/2014/main" id="{51EC83B3-7E8A-492E-8BEB-633532CCC1F6}"/>
              </a:ext>
            </a:extLst>
          </p:cNvPr>
          <p:cNvSpPr>
            <a:spLocks noEditPoints="1"/>
          </p:cNvSpPr>
          <p:nvPr/>
        </p:nvSpPr>
        <p:spPr bwMode="auto">
          <a:xfrm>
            <a:off x="29729" y="3307098"/>
            <a:ext cx="555624" cy="489479"/>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 name="文本框 2">
            <a:extLst>
              <a:ext uri="{FF2B5EF4-FFF2-40B4-BE49-F238E27FC236}">
                <a16:creationId xmlns:a16="http://schemas.microsoft.com/office/drawing/2014/main" id="{9188D9D2-8473-94A0-FE54-DAD2758E6588}"/>
              </a:ext>
            </a:extLst>
          </p:cNvPr>
          <p:cNvSpPr txBox="1"/>
          <p:nvPr/>
        </p:nvSpPr>
        <p:spPr>
          <a:xfrm>
            <a:off x="3768724" y="4021241"/>
            <a:ext cx="1991419" cy="342338"/>
          </a:xfrm>
          <a:prstGeom prst="rect">
            <a:avLst/>
          </a:prstGeom>
          <a:noFill/>
        </p:spPr>
        <p:txBody>
          <a:bodyPr wrap="square" rtlCol="0">
            <a:spAutoFit/>
          </a:bodyPr>
          <a:lstStyle/>
          <a:p>
            <a:pPr>
              <a:lnSpc>
                <a:spcPct val="130000"/>
              </a:lnSpc>
            </a:pPr>
            <a:r>
              <a:rPr lang="zh-CN" altLang="en-US" dirty="0">
                <a:latin typeface="Times New Roman" panose="02020603050405020304" pitchFamily="18" charset="0"/>
                <a:ea typeface="宋体" panose="02010600030101010101" pitchFamily="2" charset="-122"/>
              </a:rPr>
              <a:t>日期：</a:t>
            </a:r>
            <a:r>
              <a:rPr lang="en-US" altLang="zh-CN" dirty="0">
                <a:latin typeface="Times New Roman" panose="02020603050405020304" pitchFamily="18" charset="0"/>
                <a:ea typeface="宋体" panose="02010600030101010101" pitchFamily="2" charset="-122"/>
              </a:rPr>
              <a:t>2025</a:t>
            </a:r>
            <a:r>
              <a:rPr lang="zh-CN" altLang="en-US" dirty="0">
                <a:latin typeface="Times New Roman" panose="02020603050405020304" pitchFamily="18" charset="0"/>
                <a:ea typeface="宋体" panose="02010600030101010101" pitchFamily="2" charset="-122"/>
              </a:rPr>
              <a:t>年</a:t>
            </a:r>
            <a:r>
              <a:rPr lang="en-US" altLang="zh-CN" dirty="0">
                <a:latin typeface="Times New Roman" panose="02020603050405020304" pitchFamily="18" charset="0"/>
                <a:ea typeface="宋体" panose="02010600030101010101" pitchFamily="2" charset="-122"/>
              </a:rPr>
              <a:t>11</a:t>
            </a:r>
            <a:r>
              <a:rPr lang="zh-CN" altLang="en-US" dirty="0">
                <a:latin typeface="Times New Roman" panose="02020603050405020304" pitchFamily="18" charset="0"/>
                <a:ea typeface="宋体" panose="02010600030101010101" pitchFamily="2" charset="-122"/>
              </a:rPr>
              <a:t>月</a:t>
            </a:r>
            <a:r>
              <a:rPr lang="en-US" altLang="zh-CN" dirty="0">
                <a:latin typeface="Times New Roman" panose="02020603050405020304" pitchFamily="18" charset="0"/>
                <a:ea typeface="宋体" panose="02010600030101010101" pitchFamily="2" charset="-122"/>
              </a:rPr>
              <a:t>27</a:t>
            </a:r>
            <a:r>
              <a:rPr lang="zh-CN" altLang="en-US" dirty="0">
                <a:latin typeface="Times New Roman" panose="02020603050405020304" pitchFamily="18" charset="0"/>
                <a:ea typeface="宋体" panose="02010600030101010101" pitchFamily="2" charset="-122"/>
              </a:rPr>
              <a:t>日</a:t>
            </a:r>
            <a:endParaRPr lang="zh-CN" altLang="en-US" sz="14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912318770"/>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3">
            <a:extLst>
              <a:ext uri="{FF2B5EF4-FFF2-40B4-BE49-F238E27FC236}">
                <a16:creationId xmlns:a16="http://schemas.microsoft.com/office/drawing/2014/main" id="{6A708DE6-98F2-4642-8AEA-A8E0F3F29CF9}"/>
              </a:ext>
            </a:extLst>
          </p:cNvPr>
          <p:cNvSpPr>
            <a:spLocks noGrp="1"/>
          </p:cNvSpPr>
          <p:nvPr>
            <p:ph type="sldNum" sz="quarter" idx="12"/>
          </p:nvPr>
        </p:nvSpPr>
        <p:spPr>
          <a:xfrm>
            <a:off x="8109747" y="4836996"/>
            <a:ext cx="1042988" cy="273844"/>
          </a:xfrm>
        </p:spPr>
        <p:txBody>
          <a:bodyPr/>
          <a:lstStyle/>
          <a:p>
            <a:r>
              <a:rPr lang="en-US" altLang="zh-CN"/>
              <a:t>1</a:t>
            </a:r>
            <a:endParaRPr lang="zh-CN" altLang="en-US" dirty="0"/>
          </a:p>
        </p:txBody>
      </p:sp>
      <p:sp>
        <p:nvSpPr>
          <p:cNvPr id="26" name="矩形 25">
            <a:extLst>
              <a:ext uri="{FF2B5EF4-FFF2-40B4-BE49-F238E27FC236}">
                <a16:creationId xmlns:a16="http://schemas.microsoft.com/office/drawing/2014/main" id="{5A87A369-5BAB-4FF1-8B17-5E5441D09D69}"/>
              </a:ext>
            </a:extLst>
          </p:cNvPr>
          <p:cNvSpPr/>
          <p:nvPr/>
        </p:nvSpPr>
        <p:spPr>
          <a:xfrm>
            <a:off x="7012594" y="295546"/>
            <a:ext cx="2048036"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grpSp>
        <p:nvGrpSpPr>
          <p:cNvPr id="11" name="组合 10">
            <a:extLst>
              <a:ext uri="{FF2B5EF4-FFF2-40B4-BE49-F238E27FC236}">
                <a16:creationId xmlns:a16="http://schemas.microsoft.com/office/drawing/2014/main" id="{D05D369E-B25F-4FD6-9861-6FB7C4A5CD27}"/>
              </a:ext>
            </a:extLst>
          </p:cNvPr>
          <p:cNvGrpSpPr/>
          <p:nvPr/>
        </p:nvGrpSpPr>
        <p:grpSpPr>
          <a:xfrm>
            <a:off x="611824" y="117265"/>
            <a:ext cx="1146310" cy="1146310"/>
            <a:chOff x="1602769" y="143838"/>
            <a:chExt cx="1331936" cy="1331936"/>
          </a:xfrm>
        </p:grpSpPr>
        <p:sp>
          <p:nvSpPr>
            <p:cNvPr id="12" name="椭圆 11">
              <a:extLst>
                <a:ext uri="{FF2B5EF4-FFF2-40B4-BE49-F238E27FC236}">
                  <a16:creationId xmlns:a16="http://schemas.microsoft.com/office/drawing/2014/main" id="{0BB58256-92FC-4E6E-9F49-B89D776605A4}"/>
                </a:ext>
              </a:extLst>
            </p:cNvPr>
            <p:cNvSpPr/>
            <p:nvPr/>
          </p:nvSpPr>
          <p:spPr>
            <a:xfrm>
              <a:off x="1602769" y="143838"/>
              <a:ext cx="1331936" cy="1331936"/>
            </a:xfrm>
            <a:prstGeom prst="ellipse">
              <a:avLst/>
            </a:prstGeom>
            <a:ln w="165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145">
              <a:extLst>
                <a:ext uri="{FF2B5EF4-FFF2-40B4-BE49-F238E27FC236}">
                  <a16:creationId xmlns:a16="http://schemas.microsoft.com/office/drawing/2014/main" id="{AD01C5F0-A83C-4A52-912C-E0463CEE9FB2}"/>
                </a:ext>
              </a:extLst>
            </p:cNvPr>
            <p:cNvSpPr txBox="1"/>
            <p:nvPr/>
          </p:nvSpPr>
          <p:spPr>
            <a:xfrm>
              <a:off x="1679041" y="396413"/>
              <a:ext cx="1189310" cy="584775"/>
            </a:xfrm>
            <a:prstGeom prst="rect">
              <a:avLst/>
            </a:prstGeom>
            <a:noFill/>
          </p:spPr>
          <p:txBody>
            <a:bodyPr wrap="square" rtlCol="0">
              <a:spAutoFit/>
            </a:bodyPr>
            <a:lstStyle/>
            <a:p>
              <a:pPr algn="ctr"/>
              <a:r>
                <a:rPr lang="zh-CN" altLang="en-US" sz="2700" b="1" dirty="0">
                  <a:solidFill>
                    <a:schemeClr val="bg1"/>
                  </a:solidFill>
                  <a:latin typeface="宋体" panose="02010600030101010101" pitchFamily="2" charset="-122"/>
                  <a:ea typeface="宋体" panose="02010600030101010101" pitchFamily="2" charset="-122"/>
                </a:rPr>
                <a:t>目录</a:t>
              </a:r>
            </a:p>
          </p:txBody>
        </p:sp>
        <p:sp>
          <p:nvSpPr>
            <p:cNvPr id="14" name="TextBox 146">
              <a:extLst>
                <a:ext uri="{FF2B5EF4-FFF2-40B4-BE49-F238E27FC236}">
                  <a16:creationId xmlns:a16="http://schemas.microsoft.com/office/drawing/2014/main" id="{F2A329A1-060F-415D-B491-88F8F712CE2A}"/>
                </a:ext>
              </a:extLst>
            </p:cNvPr>
            <p:cNvSpPr txBox="1"/>
            <p:nvPr/>
          </p:nvSpPr>
          <p:spPr>
            <a:xfrm>
              <a:off x="1687926" y="937949"/>
              <a:ext cx="1189311" cy="303973"/>
            </a:xfrm>
            <a:prstGeom prst="rect">
              <a:avLst/>
            </a:prstGeom>
            <a:noFill/>
          </p:spPr>
          <p:txBody>
            <a:bodyPr wrap="square" rtlCol="0">
              <a:spAutoFit/>
            </a:bodyPr>
            <a:lstStyle/>
            <a:p>
              <a:pPr algn="ctr"/>
              <a:r>
                <a:rPr lang="en-US" altLang="zh-CN" sz="1100" dirty="0">
                  <a:solidFill>
                    <a:schemeClr val="bg1"/>
                  </a:solidFill>
                  <a:latin typeface="微软雅黑" pitchFamily="34" charset="-122"/>
                  <a:ea typeface="微软雅黑" pitchFamily="34" charset="-122"/>
                </a:rPr>
                <a:t>CONTENTS</a:t>
              </a:r>
              <a:endParaRPr lang="zh-CN" altLang="en-US" sz="1100" dirty="0">
                <a:solidFill>
                  <a:schemeClr val="bg1"/>
                </a:solidFill>
                <a:latin typeface="微软雅黑" pitchFamily="34" charset="-122"/>
                <a:ea typeface="微软雅黑" pitchFamily="34" charset="-122"/>
              </a:endParaRPr>
            </a:p>
          </p:txBody>
        </p:sp>
      </p:grpSp>
      <p:sp>
        <p:nvSpPr>
          <p:cNvPr id="15" name="Freeform 5">
            <a:extLst>
              <a:ext uri="{FF2B5EF4-FFF2-40B4-BE49-F238E27FC236}">
                <a16:creationId xmlns:a16="http://schemas.microsoft.com/office/drawing/2014/main" id="{5C5FD73C-2B23-444E-802B-02EAF8EC08D8}"/>
              </a:ext>
            </a:extLst>
          </p:cNvPr>
          <p:cNvSpPr>
            <a:spLocks/>
          </p:cNvSpPr>
          <p:nvPr/>
        </p:nvSpPr>
        <p:spPr bwMode="auto">
          <a:xfrm>
            <a:off x="2382" y="2262776"/>
            <a:ext cx="9141619" cy="1084926"/>
          </a:xfrm>
          <a:custGeom>
            <a:avLst/>
            <a:gdLst>
              <a:gd name="T0" fmla="*/ 0 w 2601"/>
              <a:gd name="T1" fmla="*/ 139 h 306"/>
              <a:gd name="T2" fmla="*/ 647 w 2601"/>
              <a:gd name="T3" fmla="*/ 304 h 306"/>
              <a:gd name="T4" fmla="*/ 1863 w 2601"/>
              <a:gd name="T5" fmla="*/ 11 h 306"/>
              <a:gd name="T6" fmla="*/ 2601 w 2601"/>
              <a:gd name="T7" fmla="*/ 259 h 306"/>
            </a:gdLst>
            <a:ahLst/>
            <a:cxnLst>
              <a:cxn ang="0">
                <a:pos x="T0" y="T1"/>
              </a:cxn>
              <a:cxn ang="0">
                <a:pos x="T2" y="T3"/>
              </a:cxn>
              <a:cxn ang="0">
                <a:pos x="T4" y="T5"/>
              </a:cxn>
              <a:cxn ang="0">
                <a:pos x="T6" y="T7"/>
              </a:cxn>
            </a:cxnLst>
            <a:rect l="0" t="0" r="r" b="b"/>
            <a:pathLst>
              <a:path w="2601" h="306">
                <a:moveTo>
                  <a:pt x="0" y="139"/>
                </a:moveTo>
                <a:cubicBezTo>
                  <a:pt x="0" y="139"/>
                  <a:pt x="179" y="301"/>
                  <a:pt x="647" y="304"/>
                </a:cubicBezTo>
                <a:cubicBezTo>
                  <a:pt x="1090" y="306"/>
                  <a:pt x="1474" y="0"/>
                  <a:pt x="1863" y="11"/>
                </a:cubicBezTo>
                <a:cubicBezTo>
                  <a:pt x="2253" y="21"/>
                  <a:pt x="2601" y="259"/>
                  <a:pt x="2601" y="259"/>
                </a:cubicBezTo>
              </a:path>
            </a:pathLst>
          </a:custGeom>
          <a:noFill/>
          <a:ln w="22225"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sp>
        <p:nvSpPr>
          <p:cNvPr id="16" name="矩形 30">
            <a:extLst>
              <a:ext uri="{FF2B5EF4-FFF2-40B4-BE49-F238E27FC236}">
                <a16:creationId xmlns:a16="http://schemas.microsoft.com/office/drawing/2014/main" id="{20204391-27A3-4996-AC1C-5F7D031AF522}"/>
              </a:ext>
            </a:extLst>
          </p:cNvPr>
          <p:cNvSpPr>
            <a:spLocks noChangeArrowheads="1"/>
          </p:cNvSpPr>
          <p:nvPr/>
        </p:nvSpPr>
        <p:spPr bwMode="auto">
          <a:xfrm>
            <a:off x="380577" y="3519127"/>
            <a:ext cx="1010834" cy="55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r>
              <a:rPr lang="zh-CN" altLang="en-US" sz="1500" b="1" dirty="0">
                <a:solidFill>
                  <a:schemeClr val="accent1"/>
                </a:solidFill>
                <a:sym typeface="微软雅黑" pitchFamily="34" charset="-122"/>
              </a:rPr>
              <a:t>研究背景与意义</a:t>
            </a:r>
          </a:p>
        </p:txBody>
      </p:sp>
      <p:sp>
        <p:nvSpPr>
          <p:cNvPr id="17" name="矩形 68">
            <a:extLst>
              <a:ext uri="{FF2B5EF4-FFF2-40B4-BE49-F238E27FC236}">
                <a16:creationId xmlns:a16="http://schemas.microsoft.com/office/drawing/2014/main" id="{422B3AB3-B901-4DDC-A949-9C225AC641E1}"/>
              </a:ext>
            </a:extLst>
          </p:cNvPr>
          <p:cNvSpPr>
            <a:spLocks noChangeArrowheads="1"/>
          </p:cNvSpPr>
          <p:nvPr/>
        </p:nvSpPr>
        <p:spPr bwMode="auto">
          <a:xfrm>
            <a:off x="6055019" y="2734360"/>
            <a:ext cx="1001587" cy="55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r>
              <a:rPr lang="zh-CN" altLang="en-US" sz="1500" b="1" dirty="0">
                <a:solidFill>
                  <a:schemeClr val="accent1"/>
                </a:solidFill>
                <a:sym typeface="微软雅黑" pitchFamily="34" charset="-122"/>
              </a:rPr>
              <a:t>可行性与</a:t>
            </a:r>
            <a:endParaRPr lang="en-US" altLang="zh-CN" sz="1500" b="1" dirty="0">
              <a:solidFill>
                <a:schemeClr val="accent1"/>
              </a:solidFill>
              <a:sym typeface="微软雅黑" pitchFamily="34" charset="-122"/>
            </a:endParaRPr>
          </a:p>
          <a:p>
            <a:pPr algn="ctr" eaLnBrk="1" hangingPunct="1">
              <a:spcBef>
                <a:spcPct val="0"/>
              </a:spcBef>
              <a:buFont typeface="Arial" charset="0"/>
              <a:buNone/>
            </a:pPr>
            <a:r>
              <a:rPr lang="zh-CN" altLang="en-US" sz="1500" b="1" dirty="0">
                <a:solidFill>
                  <a:schemeClr val="accent1"/>
                </a:solidFill>
                <a:sym typeface="微软雅黑" pitchFamily="34" charset="-122"/>
              </a:rPr>
              <a:t>已有成果</a:t>
            </a:r>
          </a:p>
        </p:txBody>
      </p:sp>
      <p:sp>
        <p:nvSpPr>
          <p:cNvPr id="18" name="矩形 64">
            <a:extLst>
              <a:ext uri="{FF2B5EF4-FFF2-40B4-BE49-F238E27FC236}">
                <a16:creationId xmlns:a16="http://schemas.microsoft.com/office/drawing/2014/main" id="{5C1EF488-5400-48CF-A078-A2D86B541CFA}"/>
              </a:ext>
            </a:extLst>
          </p:cNvPr>
          <p:cNvSpPr>
            <a:spLocks noChangeArrowheads="1"/>
          </p:cNvSpPr>
          <p:nvPr/>
        </p:nvSpPr>
        <p:spPr bwMode="auto">
          <a:xfrm>
            <a:off x="1582070" y="2638116"/>
            <a:ext cx="1551601" cy="32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r>
              <a:rPr lang="zh-CN" altLang="en-US" sz="1500" b="1" dirty="0">
                <a:solidFill>
                  <a:schemeClr val="accent1"/>
                </a:solidFill>
                <a:sym typeface="微软雅黑" pitchFamily="34" charset="-122"/>
              </a:rPr>
              <a:t>国内外现状</a:t>
            </a:r>
          </a:p>
        </p:txBody>
      </p:sp>
      <p:sp>
        <p:nvSpPr>
          <p:cNvPr id="19" name="矩形 66">
            <a:extLst>
              <a:ext uri="{FF2B5EF4-FFF2-40B4-BE49-F238E27FC236}">
                <a16:creationId xmlns:a16="http://schemas.microsoft.com/office/drawing/2014/main" id="{9011466F-E341-4897-8DAA-8C750CCDCDFF}"/>
              </a:ext>
            </a:extLst>
          </p:cNvPr>
          <p:cNvSpPr>
            <a:spLocks noChangeArrowheads="1"/>
          </p:cNvSpPr>
          <p:nvPr/>
        </p:nvSpPr>
        <p:spPr bwMode="auto">
          <a:xfrm>
            <a:off x="4665303" y="1912423"/>
            <a:ext cx="953459" cy="32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r>
              <a:rPr lang="zh-CN" altLang="en-US" sz="1500" b="1" dirty="0">
                <a:solidFill>
                  <a:schemeClr val="accent1"/>
                </a:solidFill>
                <a:sym typeface="微软雅黑" pitchFamily="34" charset="-122"/>
              </a:rPr>
              <a:t>技术路线</a:t>
            </a:r>
          </a:p>
        </p:txBody>
      </p:sp>
      <p:grpSp>
        <p:nvGrpSpPr>
          <p:cNvPr id="20" name="组合 19">
            <a:extLst>
              <a:ext uri="{FF2B5EF4-FFF2-40B4-BE49-F238E27FC236}">
                <a16:creationId xmlns:a16="http://schemas.microsoft.com/office/drawing/2014/main" id="{77CEC7D3-745A-4B95-B669-B408C1F2BD6D}"/>
              </a:ext>
            </a:extLst>
          </p:cNvPr>
          <p:cNvGrpSpPr/>
          <p:nvPr/>
        </p:nvGrpSpPr>
        <p:grpSpPr>
          <a:xfrm>
            <a:off x="515725" y="2718744"/>
            <a:ext cx="749673" cy="751323"/>
            <a:chOff x="3437021" y="1033173"/>
            <a:chExt cx="863676" cy="865577"/>
          </a:xfrm>
        </p:grpSpPr>
        <p:sp>
          <p:nvSpPr>
            <p:cNvPr id="21" name="椭圆 18">
              <a:extLst>
                <a:ext uri="{FF2B5EF4-FFF2-40B4-BE49-F238E27FC236}">
                  <a16:creationId xmlns:a16="http://schemas.microsoft.com/office/drawing/2014/main" id="{5B2103EE-D259-419C-A1F0-E908799A82F9}"/>
                </a:ext>
              </a:extLst>
            </p:cNvPr>
            <p:cNvSpPr>
              <a:spLocks noChangeArrowheads="1"/>
            </p:cNvSpPr>
            <p:nvPr/>
          </p:nvSpPr>
          <p:spPr bwMode="auto">
            <a:xfrm>
              <a:off x="3437021" y="1033173"/>
              <a:ext cx="863676" cy="865577"/>
            </a:xfrm>
            <a:prstGeom prst="ellipse">
              <a:avLst/>
            </a:prstGeom>
            <a:solidFill>
              <a:schemeClr val="accent1"/>
            </a:solidFill>
            <a:ln w="38100">
              <a:solidFill>
                <a:schemeClr val="bg1">
                  <a:lumMod val="75000"/>
                </a:schemeClr>
              </a:solidFill>
              <a:miter lim="800000"/>
              <a:headEnd/>
              <a:tailEnd/>
            </a:ln>
          </p:spPr>
          <p:txBody>
            <a:bodyPr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endParaRPr lang="zh-CN" altLang="zh-CN" sz="1800">
                <a:solidFill>
                  <a:srgbClr val="FFFFFF"/>
                </a:solidFill>
                <a:sym typeface="微软雅黑" pitchFamily="34" charset="-122"/>
              </a:endParaRPr>
            </a:p>
          </p:txBody>
        </p:sp>
        <p:pic>
          <p:nvPicPr>
            <p:cNvPr id="22" name="图片 21">
              <a:extLst>
                <a:ext uri="{FF2B5EF4-FFF2-40B4-BE49-F238E27FC236}">
                  <a16:creationId xmlns:a16="http://schemas.microsoft.com/office/drawing/2014/main" id="{EE8FDEED-774F-4D70-8C1F-5A74EBC294FE}"/>
                </a:ext>
              </a:extLst>
            </p:cNvPr>
            <p:cNvPicPr>
              <a:picLocks noChangeAspect="1"/>
            </p:cNvPicPr>
            <p:nvPr/>
          </p:nvPicPr>
          <p:blipFill>
            <a:blip r:embed="rId3" cstate="screen">
              <a:biLevel thresh="25000"/>
              <a:extLst>
                <a:ext uri="{28A0092B-C50C-407E-A947-70E740481C1C}">
                  <a14:useLocalDpi xmlns:a14="http://schemas.microsoft.com/office/drawing/2010/main"/>
                </a:ext>
              </a:extLst>
            </a:blip>
            <a:stretch>
              <a:fillRect/>
            </a:stretch>
          </p:blipFill>
          <p:spPr>
            <a:xfrm>
              <a:off x="3587275" y="1169757"/>
              <a:ext cx="552644" cy="566109"/>
            </a:xfrm>
            <a:prstGeom prst="rect">
              <a:avLst/>
            </a:prstGeom>
          </p:spPr>
        </p:pic>
      </p:grpSp>
      <p:sp>
        <p:nvSpPr>
          <p:cNvPr id="23" name="矩形 68">
            <a:extLst>
              <a:ext uri="{FF2B5EF4-FFF2-40B4-BE49-F238E27FC236}">
                <a16:creationId xmlns:a16="http://schemas.microsoft.com/office/drawing/2014/main" id="{93A0F93A-50A4-4E11-82A2-3E1C35D5CE30}"/>
              </a:ext>
            </a:extLst>
          </p:cNvPr>
          <p:cNvSpPr>
            <a:spLocks noChangeArrowheads="1"/>
          </p:cNvSpPr>
          <p:nvPr/>
        </p:nvSpPr>
        <p:spPr bwMode="auto">
          <a:xfrm>
            <a:off x="7424149" y="1859969"/>
            <a:ext cx="1178236" cy="32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r>
              <a:rPr lang="zh-CN" altLang="en-US" sz="1500" b="1" dirty="0">
                <a:solidFill>
                  <a:schemeClr val="accent1"/>
                </a:solidFill>
                <a:sym typeface="微软雅黑" pitchFamily="34" charset="-122"/>
              </a:rPr>
              <a:t>计划与预期</a:t>
            </a:r>
          </a:p>
        </p:txBody>
      </p:sp>
      <p:grpSp>
        <p:nvGrpSpPr>
          <p:cNvPr id="29" name="组合 28">
            <a:extLst>
              <a:ext uri="{FF2B5EF4-FFF2-40B4-BE49-F238E27FC236}">
                <a16:creationId xmlns:a16="http://schemas.microsoft.com/office/drawing/2014/main" id="{00151216-27D2-4AE7-BD43-F898778047CE}"/>
              </a:ext>
            </a:extLst>
          </p:cNvPr>
          <p:cNvGrpSpPr/>
          <p:nvPr/>
        </p:nvGrpSpPr>
        <p:grpSpPr>
          <a:xfrm>
            <a:off x="1990256" y="2953021"/>
            <a:ext cx="749673" cy="751323"/>
            <a:chOff x="3437020" y="2074814"/>
            <a:chExt cx="863676" cy="865577"/>
          </a:xfrm>
        </p:grpSpPr>
        <p:sp>
          <p:nvSpPr>
            <p:cNvPr id="32" name="椭圆 19">
              <a:extLst>
                <a:ext uri="{FF2B5EF4-FFF2-40B4-BE49-F238E27FC236}">
                  <a16:creationId xmlns:a16="http://schemas.microsoft.com/office/drawing/2014/main" id="{6584CFBC-8651-4ABF-9611-B862B313D27B}"/>
                </a:ext>
              </a:extLst>
            </p:cNvPr>
            <p:cNvSpPr>
              <a:spLocks noChangeArrowheads="1"/>
            </p:cNvSpPr>
            <p:nvPr/>
          </p:nvSpPr>
          <p:spPr bwMode="auto">
            <a:xfrm>
              <a:off x="3437020" y="2074814"/>
              <a:ext cx="863676" cy="865577"/>
            </a:xfrm>
            <a:prstGeom prst="ellipse">
              <a:avLst/>
            </a:prstGeom>
            <a:solidFill>
              <a:schemeClr val="accent1"/>
            </a:solidFill>
            <a:ln w="38100">
              <a:solidFill>
                <a:schemeClr val="bg1">
                  <a:lumMod val="75000"/>
                </a:schemeClr>
              </a:solidFill>
              <a:miter lim="800000"/>
              <a:headEnd/>
              <a:tailEnd/>
            </a:ln>
          </p:spPr>
          <p:txBody>
            <a:bodyPr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endParaRPr lang="zh-CN" altLang="zh-CN" sz="1800">
                <a:solidFill>
                  <a:srgbClr val="FFFFFF"/>
                </a:solidFill>
                <a:sym typeface="微软雅黑" pitchFamily="34" charset="-122"/>
              </a:endParaRPr>
            </a:p>
          </p:txBody>
        </p:sp>
        <p:pic>
          <p:nvPicPr>
            <p:cNvPr id="33" name="图片 32">
              <a:extLst>
                <a:ext uri="{FF2B5EF4-FFF2-40B4-BE49-F238E27FC236}">
                  <a16:creationId xmlns:a16="http://schemas.microsoft.com/office/drawing/2014/main" id="{2789B819-0A17-4EC8-AC93-F59FEDCD22E4}"/>
                </a:ext>
              </a:extLst>
            </p:cNvPr>
            <p:cNvPicPr>
              <a:picLocks noChangeAspect="1"/>
            </p:cNvPicPr>
            <p:nvPr/>
          </p:nvPicPr>
          <p:blipFill>
            <a:blip r:embed="rId4" cstate="screen">
              <a:biLevel thresh="25000"/>
              <a:extLst>
                <a:ext uri="{28A0092B-C50C-407E-A947-70E740481C1C}">
                  <a14:useLocalDpi xmlns:a14="http://schemas.microsoft.com/office/drawing/2010/main"/>
                </a:ext>
              </a:extLst>
            </a:blip>
            <a:stretch>
              <a:fillRect/>
            </a:stretch>
          </p:blipFill>
          <p:spPr>
            <a:xfrm>
              <a:off x="3596360" y="2243692"/>
              <a:ext cx="553608" cy="567096"/>
            </a:xfrm>
            <a:prstGeom prst="rect">
              <a:avLst/>
            </a:prstGeom>
          </p:spPr>
        </p:pic>
      </p:grpSp>
      <p:grpSp>
        <p:nvGrpSpPr>
          <p:cNvPr id="34" name="组合 33">
            <a:extLst>
              <a:ext uri="{FF2B5EF4-FFF2-40B4-BE49-F238E27FC236}">
                <a16:creationId xmlns:a16="http://schemas.microsoft.com/office/drawing/2014/main" id="{0050C2D6-8435-4922-9630-DA8800FD804A}"/>
              </a:ext>
            </a:extLst>
          </p:cNvPr>
          <p:cNvGrpSpPr/>
          <p:nvPr/>
        </p:nvGrpSpPr>
        <p:grpSpPr>
          <a:xfrm>
            <a:off x="3446081" y="2660209"/>
            <a:ext cx="749673" cy="749944"/>
            <a:chOff x="3437020" y="3157655"/>
            <a:chExt cx="863676" cy="863988"/>
          </a:xfrm>
        </p:grpSpPr>
        <p:sp>
          <p:nvSpPr>
            <p:cNvPr id="35" name="椭圆 20">
              <a:extLst>
                <a:ext uri="{FF2B5EF4-FFF2-40B4-BE49-F238E27FC236}">
                  <a16:creationId xmlns:a16="http://schemas.microsoft.com/office/drawing/2014/main" id="{332CF083-3244-4595-A2DA-21D5219AD635}"/>
                </a:ext>
              </a:extLst>
            </p:cNvPr>
            <p:cNvSpPr>
              <a:spLocks noChangeArrowheads="1"/>
            </p:cNvSpPr>
            <p:nvPr/>
          </p:nvSpPr>
          <p:spPr bwMode="auto">
            <a:xfrm>
              <a:off x="3437020" y="3157655"/>
              <a:ext cx="863676" cy="863988"/>
            </a:xfrm>
            <a:prstGeom prst="ellipse">
              <a:avLst/>
            </a:prstGeom>
            <a:solidFill>
              <a:schemeClr val="accent1"/>
            </a:solidFill>
            <a:ln w="38100">
              <a:solidFill>
                <a:schemeClr val="bg1">
                  <a:lumMod val="75000"/>
                </a:schemeClr>
              </a:solidFill>
              <a:miter lim="800000"/>
              <a:headEnd/>
              <a:tailEnd/>
            </a:ln>
          </p:spPr>
          <p:txBody>
            <a:bodyPr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endParaRPr lang="zh-CN" altLang="zh-CN" sz="1800">
                <a:solidFill>
                  <a:srgbClr val="FFFFFF"/>
                </a:solidFill>
                <a:sym typeface="微软雅黑" pitchFamily="34" charset="-122"/>
              </a:endParaRPr>
            </a:p>
          </p:txBody>
        </p:sp>
        <p:grpSp>
          <p:nvGrpSpPr>
            <p:cNvPr id="36" name="组合 35">
              <a:extLst>
                <a:ext uri="{FF2B5EF4-FFF2-40B4-BE49-F238E27FC236}">
                  <a16:creationId xmlns:a16="http://schemas.microsoft.com/office/drawing/2014/main" id="{39C3136F-284E-4261-9F43-AB187390CD0F}"/>
                </a:ext>
              </a:extLst>
            </p:cNvPr>
            <p:cNvGrpSpPr/>
            <p:nvPr/>
          </p:nvGrpSpPr>
          <p:grpSpPr>
            <a:xfrm>
              <a:off x="3603965" y="3301680"/>
              <a:ext cx="519264" cy="531742"/>
              <a:chOff x="9901114" y="2870043"/>
              <a:chExt cx="1094967" cy="1121279"/>
            </a:xfrm>
          </p:grpSpPr>
          <p:sp>
            <p:nvSpPr>
              <p:cNvPr id="37" name="Freeform 5">
                <a:extLst>
                  <a:ext uri="{FF2B5EF4-FFF2-40B4-BE49-F238E27FC236}">
                    <a16:creationId xmlns:a16="http://schemas.microsoft.com/office/drawing/2014/main" id="{FF4980EB-74F1-4325-B559-23B9F142AC47}"/>
                  </a:ext>
                </a:extLst>
              </p:cNvPr>
              <p:cNvSpPr>
                <a:spLocks/>
              </p:cNvSpPr>
              <p:nvPr/>
            </p:nvSpPr>
            <p:spPr bwMode="auto">
              <a:xfrm>
                <a:off x="10585467" y="2870043"/>
                <a:ext cx="234963" cy="800500"/>
              </a:xfrm>
              <a:custGeom>
                <a:avLst/>
                <a:gdLst>
                  <a:gd name="T0" fmla="*/ 2 w 43"/>
                  <a:gd name="T1" fmla="*/ 115 h 115"/>
                  <a:gd name="T2" fmla="*/ 3 w 43"/>
                  <a:gd name="T3" fmla="*/ 115 h 115"/>
                  <a:gd name="T4" fmla="*/ 3 w 43"/>
                  <a:gd name="T5" fmla="*/ 115 h 115"/>
                  <a:gd name="T6" fmla="*/ 3 w 43"/>
                  <a:gd name="T7" fmla="*/ 115 h 115"/>
                  <a:gd name="T8" fmla="*/ 4 w 43"/>
                  <a:gd name="T9" fmla="*/ 115 h 115"/>
                  <a:gd name="T10" fmla="*/ 4 w 43"/>
                  <a:gd name="T11" fmla="*/ 115 h 115"/>
                  <a:gd name="T12" fmla="*/ 5 w 43"/>
                  <a:gd name="T13" fmla="*/ 114 h 115"/>
                  <a:gd name="T14" fmla="*/ 22 w 43"/>
                  <a:gd name="T15" fmla="*/ 98 h 115"/>
                  <a:gd name="T16" fmla="*/ 38 w 43"/>
                  <a:gd name="T17" fmla="*/ 114 h 115"/>
                  <a:gd name="T18" fmla="*/ 39 w 43"/>
                  <a:gd name="T19" fmla="*/ 115 h 115"/>
                  <a:gd name="T20" fmla="*/ 39 w 43"/>
                  <a:gd name="T21" fmla="*/ 115 h 115"/>
                  <a:gd name="T22" fmla="*/ 40 w 43"/>
                  <a:gd name="T23" fmla="*/ 115 h 115"/>
                  <a:gd name="T24" fmla="*/ 40 w 43"/>
                  <a:gd name="T25" fmla="*/ 115 h 115"/>
                  <a:gd name="T26" fmla="*/ 40 w 43"/>
                  <a:gd name="T27" fmla="*/ 115 h 115"/>
                  <a:gd name="T28" fmla="*/ 41 w 43"/>
                  <a:gd name="T29" fmla="*/ 115 h 115"/>
                  <a:gd name="T30" fmla="*/ 42 w 43"/>
                  <a:gd name="T31" fmla="*/ 114 h 115"/>
                  <a:gd name="T32" fmla="*/ 43 w 43"/>
                  <a:gd name="T33" fmla="*/ 112 h 115"/>
                  <a:gd name="T34" fmla="*/ 43 w 43"/>
                  <a:gd name="T35" fmla="*/ 27 h 115"/>
                  <a:gd name="T36" fmla="*/ 43 w 43"/>
                  <a:gd name="T37" fmla="*/ 13 h 115"/>
                  <a:gd name="T38" fmla="*/ 43 w 43"/>
                  <a:gd name="T39" fmla="*/ 3 h 115"/>
                  <a:gd name="T40" fmla="*/ 42 w 43"/>
                  <a:gd name="T41" fmla="*/ 1 h 115"/>
                  <a:gd name="T42" fmla="*/ 40 w 43"/>
                  <a:gd name="T43" fmla="*/ 0 h 115"/>
                  <a:gd name="T44" fmla="*/ 3 w 43"/>
                  <a:gd name="T45" fmla="*/ 0 h 115"/>
                  <a:gd name="T46" fmla="*/ 3 w 43"/>
                  <a:gd name="T47" fmla="*/ 0 h 115"/>
                  <a:gd name="T48" fmla="*/ 2 w 43"/>
                  <a:gd name="T49" fmla="*/ 1 h 115"/>
                  <a:gd name="T50" fmla="*/ 2 w 43"/>
                  <a:gd name="T51" fmla="*/ 1 h 115"/>
                  <a:gd name="T52" fmla="*/ 0 w 43"/>
                  <a:gd name="T53" fmla="*/ 3 h 115"/>
                  <a:gd name="T54" fmla="*/ 0 w 43"/>
                  <a:gd name="T55" fmla="*/ 13 h 115"/>
                  <a:gd name="T56" fmla="*/ 0 w 43"/>
                  <a:gd name="T57" fmla="*/ 27 h 115"/>
                  <a:gd name="T58" fmla="*/ 0 w 43"/>
                  <a:gd name="T59" fmla="*/ 112 h 115"/>
                  <a:gd name="T60" fmla="*/ 2 w 43"/>
                  <a:gd name="T6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115">
                    <a:moveTo>
                      <a:pt x="2" y="115"/>
                    </a:moveTo>
                    <a:cubicBezTo>
                      <a:pt x="2" y="115"/>
                      <a:pt x="2" y="115"/>
                      <a:pt x="3" y="115"/>
                    </a:cubicBezTo>
                    <a:cubicBezTo>
                      <a:pt x="3" y="115"/>
                      <a:pt x="3" y="115"/>
                      <a:pt x="3" y="115"/>
                    </a:cubicBezTo>
                    <a:cubicBezTo>
                      <a:pt x="3" y="115"/>
                      <a:pt x="3" y="115"/>
                      <a:pt x="3" y="115"/>
                    </a:cubicBezTo>
                    <a:cubicBezTo>
                      <a:pt x="3" y="115"/>
                      <a:pt x="4" y="115"/>
                      <a:pt x="4" y="115"/>
                    </a:cubicBezTo>
                    <a:cubicBezTo>
                      <a:pt x="4" y="115"/>
                      <a:pt x="4" y="115"/>
                      <a:pt x="4" y="115"/>
                    </a:cubicBezTo>
                    <a:cubicBezTo>
                      <a:pt x="4" y="115"/>
                      <a:pt x="5" y="114"/>
                      <a:pt x="5" y="114"/>
                    </a:cubicBezTo>
                    <a:cubicBezTo>
                      <a:pt x="22" y="98"/>
                      <a:pt x="22" y="98"/>
                      <a:pt x="22" y="98"/>
                    </a:cubicBezTo>
                    <a:cubicBezTo>
                      <a:pt x="38" y="114"/>
                      <a:pt x="38" y="114"/>
                      <a:pt x="38" y="114"/>
                    </a:cubicBezTo>
                    <a:cubicBezTo>
                      <a:pt x="38" y="114"/>
                      <a:pt x="39" y="115"/>
                      <a:pt x="39" y="115"/>
                    </a:cubicBezTo>
                    <a:cubicBezTo>
                      <a:pt x="39" y="115"/>
                      <a:pt x="39" y="115"/>
                      <a:pt x="39" y="115"/>
                    </a:cubicBezTo>
                    <a:cubicBezTo>
                      <a:pt x="40" y="115"/>
                      <a:pt x="40" y="115"/>
                      <a:pt x="40" y="115"/>
                    </a:cubicBezTo>
                    <a:cubicBezTo>
                      <a:pt x="40" y="115"/>
                      <a:pt x="40" y="115"/>
                      <a:pt x="40" y="115"/>
                    </a:cubicBezTo>
                    <a:cubicBezTo>
                      <a:pt x="40" y="115"/>
                      <a:pt x="40" y="115"/>
                      <a:pt x="40" y="115"/>
                    </a:cubicBezTo>
                    <a:cubicBezTo>
                      <a:pt x="41" y="115"/>
                      <a:pt x="41" y="115"/>
                      <a:pt x="41" y="115"/>
                    </a:cubicBezTo>
                    <a:cubicBezTo>
                      <a:pt x="42" y="115"/>
                      <a:pt x="42" y="114"/>
                      <a:pt x="42" y="114"/>
                    </a:cubicBezTo>
                    <a:cubicBezTo>
                      <a:pt x="43" y="114"/>
                      <a:pt x="43" y="113"/>
                      <a:pt x="43" y="112"/>
                    </a:cubicBezTo>
                    <a:cubicBezTo>
                      <a:pt x="43" y="27"/>
                      <a:pt x="43" y="27"/>
                      <a:pt x="43" y="27"/>
                    </a:cubicBezTo>
                    <a:cubicBezTo>
                      <a:pt x="43" y="13"/>
                      <a:pt x="43" y="13"/>
                      <a:pt x="43" y="13"/>
                    </a:cubicBezTo>
                    <a:cubicBezTo>
                      <a:pt x="43" y="3"/>
                      <a:pt x="43" y="3"/>
                      <a:pt x="43" y="3"/>
                    </a:cubicBezTo>
                    <a:cubicBezTo>
                      <a:pt x="43" y="3"/>
                      <a:pt x="43" y="2"/>
                      <a:pt x="42" y="1"/>
                    </a:cubicBezTo>
                    <a:cubicBezTo>
                      <a:pt x="42" y="1"/>
                      <a:pt x="41" y="0"/>
                      <a:pt x="40" y="0"/>
                    </a:cubicBezTo>
                    <a:cubicBezTo>
                      <a:pt x="3" y="0"/>
                      <a:pt x="3" y="0"/>
                      <a:pt x="3" y="0"/>
                    </a:cubicBezTo>
                    <a:cubicBezTo>
                      <a:pt x="3" y="0"/>
                      <a:pt x="3" y="0"/>
                      <a:pt x="3" y="0"/>
                    </a:cubicBezTo>
                    <a:cubicBezTo>
                      <a:pt x="3" y="0"/>
                      <a:pt x="2" y="0"/>
                      <a:pt x="2" y="1"/>
                    </a:cubicBezTo>
                    <a:cubicBezTo>
                      <a:pt x="2" y="1"/>
                      <a:pt x="2" y="1"/>
                      <a:pt x="2" y="1"/>
                    </a:cubicBezTo>
                    <a:cubicBezTo>
                      <a:pt x="1" y="1"/>
                      <a:pt x="0" y="2"/>
                      <a:pt x="0" y="3"/>
                    </a:cubicBezTo>
                    <a:cubicBezTo>
                      <a:pt x="0" y="13"/>
                      <a:pt x="0" y="13"/>
                      <a:pt x="0" y="13"/>
                    </a:cubicBezTo>
                    <a:cubicBezTo>
                      <a:pt x="0" y="27"/>
                      <a:pt x="0" y="27"/>
                      <a:pt x="0" y="27"/>
                    </a:cubicBezTo>
                    <a:cubicBezTo>
                      <a:pt x="0" y="112"/>
                      <a:pt x="0" y="112"/>
                      <a:pt x="0" y="112"/>
                    </a:cubicBezTo>
                    <a:cubicBezTo>
                      <a:pt x="0" y="113"/>
                      <a:pt x="1" y="114"/>
                      <a:pt x="2" y="115"/>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sp>
            <p:nvSpPr>
              <p:cNvPr id="38" name="Freeform 6">
                <a:extLst>
                  <a:ext uri="{FF2B5EF4-FFF2-40B4-BE49-F238E27FC236}">
                    <a16:creationId xmlns:a16="http://schemas.microsoft.com/office/drawing/2014/main" id="{0F71EE72-0E49-46E0-98DC-07293DB279DB}"/>
                  </a:ext>
                </a:extLst>
              </p:cNvPr>
              <p:cNvSpPr>
                <a:spLocks/>
              </p:cNvSpPr>
              <p:nvPr/>
            </p:nvSpPr>
            <p:spPr bwMode="auto">
              <a:xfrm>
                <a:off x="10044830" y="3280407"/>
                <a:ext cx="289711" cy="34679"/>
              </a:xfrm>
              <a:custGeom>
                <a:avLst/>
                <a:gdLst>
                  <a:gd name="T0" fmla="*/ 0 w 53"/>
                  <a:gd name="T1" fmla="*/ 3 h 5"/>
                  <a:gd name="T2" fmla="*/ 3 w 53"/>
                  <a:gd name="T3" fmla="*/ 5 h 5"/>
                  <a:gd name="T4" fmla="*/ 50 w 53"/>
                  <a:gd name="T5" fmla="*/ 5 h 5"/>
                  <a:gd name="T6" fmla="*/ 53 w 53"/>
                  <a:gd name="T7" fmla="*/ 3 h 5"/>
                  <a:gd name="T8" fmla="*/ 50 w 53"/>
                  <a:gd name="T9" fmla="*/ 0 h 5"/>
                  <a:gd name="T10" fmla="*/ 3 w 53"/>
                  <a:gd name="T11" fmla="*/ 0 h 5"/>
                  <a:gd name="T12" fmla="*/ 0 w 53"/>
                  <a:gd name="T13" fmla="*/ 3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0" y="3"/>
                    </a:moveTo>
                    <a:cubicBezTo>
                      <a:pt x="0" y="4"/>
                      <a:pt x="2" y="5"/>
                      <a:pt x="3" y="5"/>
                    </a:cubicBezTo>
                    <a:cubicBezTo>
                      <a:pt x="50" y="5"/>
                      <a:pt x="50" y="5"/>
                      <a:pt x="50" y="5"/>
                    </a:cubicBezTo>
                    <a:cubicBezTo>
                      <a:pt x="52" y="5"/>
                      <a:pt x="53" y="4"/>
                      <a:pt x="53" y="3"/>
                    </a:cubicBezTo>
                    <a:cubicBezTo>
                      <a:pt x="53" y="1"/>
                      <a:pt x="52" y="0"/>
                      <a:pt x="50" y="0"/>
                    </a:cubicBezTo>
                    <a:cubicBezTo>
                      <a:pt x="3" y="0"/>
                      <a:pt x="3" y="0"/>
                      <a:pt x="3" y="0"/>
                    </a:cubicBezTo>
                    <a:cubicBezTo>
                      <a:pt x="2" y="0"/>
                      <a:pt x="0" y="1"/>
                      <a:pt x="0" y="3"/>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sp>
            <p:nvSpPr>
              <p:cNvPr id="39" name="Freeform 7">
                <a:extLst>
                  <a:ext uri="{FF2B5EF4-FFF2-40B4-BE49-F238E27FC236}">
                    <a16:creationId xmlns:a16="http://schemas.microsoft.com/office/drawing/2014/main" id="{DC84197C-5CBF-4D05-A435-5D76A50EAD0D}"/>
                  </a:ext>
                </a:extLst>
              </p:cNvPr>
              <p:cNvSpPr>
                <a:spLocks/>
              </p:cNvSpPr>
              <p:nvPr/>
            </p:nvSpPr>
            <p:spPr bwMode="auto">
              <a:xfrm>
                <a:off x="10044830" y="3442241"/>
                <a:ext cx="289711" cy="34679"/>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sp>
            <p:nvSpPr>
              <p:cNvPr id="40" name="Freeform 8">
                <a:extLst>
                  <a:ext uri="{FF2B5EF4-FFF2-40B4-BE49-F238E27FC236}">
                    <a16:creationId xmlns:a16="http://schemas.microsoft.com/office/drawing/2014/main" id="{2874E70D-8DCE-4E71-9FBD-F79D57338DAF}"/>
                  </a:ext>
                </a:extLst>
              </p:cNvPr>
              <p:cNvSpPr>
                <a:spLocks/>
              </p:cNvSpPr>
              <p:nvPr/>
            </p:nvSpPr>
            <p:spPr bwMode="auto">
              <a:xfrm>
                <a:off x="10044830" y="3601186"/>
                <a:ext cx="289711" cy="34679"/>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sp>
            <p:nvSpPr>
              <p:cNvPr id="41" name="Freeform 9">
                <a:extLst>
                  <a:ext uri="{FF2B5EF4-FFF2-40B4-BE49-F238E27FC236}">
                    <a16:creationId xmlns:a16="http://schemas.microsoft.com/office/drawing/2014/main" id="{27497840-5111-4F72-9C11-8D8961B40889}"/>
                  </a:ext>
                </a:extLst>
              </p:cNvPr>
              <p:cNvSpPr>
                <a:spLocks noEditPoints="1"/>
              </p:cNvSpPr>
              <p:nvPr/>
            </p:nvSpPr>
            <p:spPr bwMode="auto">
              <a:xfrm>
                <a:off x="9901114" y="2953851"/>
                <a:ext cx="1094967" cy="1037471"/>
              </a:xfrm>
              <a:custGeom>
                <a:avLst/>
                <a:gdLst>
                  <a:gd name="T0" fmla="*/ 177 w 200"/>
                  <a:gd name="T1" fmla="*/ 3 h 149"/>
                  <a:gd name="T2" fmla="*/ 177 w 200"/>
                  <a:gd name="T3" fmla="*/ 17 h 149"/>
                  <a:gd name="T4" fmla="*/ 186 w 200"/>
                  <a:gd name="T5" fmla="*/ 21 h 149"/>
                  <a:gd name="T6" fmla="*/ 186 w 200"/>
                  <a:gd name="T7" fmla="*/ 134 h 149"/>
                  <a:gd name="T8" fmla="*/ 107 w 200"/>
                  <a:gd name="T9" fmla="*/ 134 h 149"/>
                  <a:gd name="T10" fmla="*/ 107 w 200"/>
                  <a:gd name="T11" fmla="*/ 21 h 149"/>
                  <a:gd name="T12" fmla="*/ 117 w 200"/>
                  <a:gd name="T13" fmla="*/ 17 h 149"/>
                  <a:gd name="T14" fmla="*/ 117 w 200"/>
                  <a:gd name="T15" fmla="*/ 3 h 149"/>
                  <a:gd name="T16" fmla="*/ 100 w 200"/>
                  <a:gd name="T17" fmla="*/ 9 h 149"/>
                  <a:gd name="T18" fmla="*/ 53 w 200"/>
                  <a:gd name="T19" fmla="*/ 0 h 149"/>
                  <a:gd name="T20" fmla="*/ 0 w 200"/>
                  <a:gd name="T21" fmla="*/ 20 h 149"/>
                  <a:gd name="T22" fmla="*/ 0 w 200"/>
                  <a:gd name="T23" fmla="*/ 142 h 149"/>
                  <a:gd name="T24" fmla="*/ 2 w 200"/>
                  <a:gd name="T25" fmla="*/ 147 h 149"/>
                  <a:gd name="T26" fmla="*/ 8 w 200"/>
                  <a:gd name="T27" fmla="*/ 149 h 149"/>
                  <a:gd name="T28" fmla="*/ 53 w 200"/>
                  <a:gd name="T29" fmla="*/ 145 h 149"/>
                  <a:gd name="T30" fmla="*/ 99 w 200"/>
                  <a:gd name="T31" fmla="*/ 149 h 149"/>
                  <a:gd name="T32" fmla="*/ 99 w 200"/>
                  <a:gd name="T33" fmla="*/ 149 h 149"/>
                  <a:gd name="T34" fmla="*/ 100 w 200"/>
                  <a:gd name="T35" fmla="*/ 149 h 149"/>
                  <a:gd name="T36" fmla="*/ 100 w 200"/>
                  <a:gd name="T37" fmla="*/ 149 h 149"/>
                  <a:gd name="T38" fmla="*/ 101 w 200"/>
                  <a:gd name="T39" fmla="*/ 149 h 149"/>
                  <a:gd name="T40" fmla="*/ 101 w 200"/>
                  <a:gd name="T41" fmla="*/ 149 h 149"/>
                  <a:gd name="T42" fmla="*/ 146 w 200"/>
                  <a:gd name="T43" fmla="*/ 145 h 149"/>
                  <a:gd name="T44" fmla="*/ 192 w 200"/>
                  <a:gd name="T45" fmla="*/ 149 h 149"/>
                  <a:gd name="T46" fmla="*/ 193 w 200"/>
                  <a:gd name="T47" fmla="*/ 149 h 149"/>
                  <a:gd name="T48" fmla="*/ 197 w 200"/>
                  <a:gd name="T49" fmla="*/ 147 h 149"/>
                  <a:gd name="T50" fmla="*/ 200 w 200"/>
                  <a:gd name="T51" fmla="*/ 142 h 149"/>
                  <a:gd name="T52" fmla="*/ 200 w 200"/>
                  <a:gd name="T53" fmla="*/ 20 h 149"/>
                  <a:gd name="T54" fmla="*/ 177 w 200"/>
                  <a:gd name="T55" fmla="*/ 3 h 149"/>
                  <a:gd name="T56" fmla="*/ 93 w 200"/>
                  <a:gd name="T57" fmla="*/ 134 h 149"/>
                  <a:gd name="T58" fmla="*/ 53 w 200"/>
                  <a:gd name="T59" fmla="*/ 131 h 149"/>
                  <a:gd name="T60" fmla="*/ 14 w 200"/>
                  <a:gd name="T61" fmla="*/ 134 h 149"/>
                  <a:gd name="T62" fmla="*/ 14 w 200"/>
                  <a:gd name="T63" fmla="*/ 21 h 149"/>
                  <a:gd name="T64" fmla="*/ 53 w 200"/>
                  <a:gd name="T65" fmla="*/ 14 h 149"/>
                  <a:gd name="T66" fmla="*/ 93 w 200"/>
                  <a:gd name="T67" fmla="*/ 21 h 149"/>
                  <a:gd name="T68" fmla="*/ 93 w 200"/>
                  <a:gd name="T69" fmla="*/ 13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0" h="149">
                    <a:moveTo>
                      <a:pt x="177" y="3"/>
                    </a:moveTo>
                    <a:cubicBezTo>
                      <a:pt x="177" y="17"/>
                      <a:pt x="177" y="17"/>
                      <a:pt x="177" y="17"/>
                    </a:cubicBezTo>
                    <a:cubicBezTo>
                      <a:pt x="181" y="18"/>
                      <a:pt x="185" y="20"/>
                      <a:pt x="186" y="21"/>
                    </a:cubicBezTo>
                    <a:cubicBezTo>
                      <a:pt x="186" y="134"/>
                      <a:pt x="186" y="134"/>
                      <a:pt x="186" y="134"/>
                    </a:cubicBezTo>
                    <a:cubicBezTo>
                      <a:pt x="161" y="130"/>
                      <a:pt x="131" y="130"/>
                      <a:pt x="107" y="134"/>
                    </a:cubicBezTo>
                    <a:cubicBezTo>
                      <a:pt x="107" y="21"/>
                      <a:pt x="107" y="21"/>
                      <a:pt x="107" y="21"/>
                    </a:cubicBezTo>
                    <a:cubicBezTo>
                      <a:pt x="108" y="20"/>
                      <a:pt x="111" y="18"/>
                      <a:pt x="117" y="17"/>
                    </a:cubicBezTo>
                    <a:cubicBezTo>
                      <a:pt x="117" y="3"/>
                      <a:pt x="117" y="3"/>
                      <a:pt x="117" y="3"/>
                    </a:cubicBezTo>
                    <a:cubicBezTo>
                      <a:pt x="110" y="4"/>
                      <a:pt x="104" y="6"/>
                      <a:pt x="100" y="9"/>
                    </a:cubicBezTo>
                    <a:cubicBezTo>
                      <a:pt x="90" y="2"/>
                      <a:pt x="70" y="0"/>
                      <a:pt x="53" y="0"/>
                    </a:cubicBezTo>
                    <a:cubicBezTo>
                      <a:pt x="29" y="0"/>
                      <a:pt x="0" y="5"/>
                      <a:pt x="0" y="20"/>
                    </a:cubicBezTo>
                    <a:cubicBezTo>
                      <a:pt x="0" y="142"/>
                      <a:pt x="0" y="142"/>
                      <a:pt x="0" y="142"/>
                    </a:cubicBezTo>
                    <a:cubicBezTo>
                      <a:pt x="0" y="144"/>
                      <a:pt x="1" y="146"/>
                      <a:pt x="2" y="147"/>
                    </a:cubicBezTo>
                    <a:cubicBezTo>
                      <a:pt x="4" y="148"/>
                      <a:pt x="6" y="149"/>
                      <a:pt x="8" y="149"/>
                    </a:cubicBezTo>
                    <a:cubicBezTo>
                      <a:pt x="22" y="146"/>
                      <a:pt x="37" y="145"/>
                      <a:pt x="53" y="145"/>
                    </a:cubicBezTo>
                    <a:cubicBezTo>
                      <a:pt x="69" y="145"/>
                      <a:pt x="85" y="146"/>
                      <a:pt x="99" y="149"/>
                    </a:cubicBezTo>
                    <a:cubicBezTo>
                      <a:pt x="99" y="149"/>
                      <a:pt x="99" y="149"/>
                      <a:pt x="99" y="149"/>
                    </a:cubicBezTo>
                    <a:cubicBezTo>
                      <a:pt x="99" y="149"/>
                      <a:pt x="99" y="149"/>
                      <a:pt x="100" y="149"/>
                    </a:cubicBezTo>
                    <a:cubicBezTo>
                      <a:pt x="100" y="149"/>
                      <a:pt x="100" y="149"/>
                      <a:pt x="100" y="149"/>
                    </a:cubicBezTo>
                    <a:cubicBezTo>
                      <a:pt x="100" y="149"/>
                      <a:pt x="100" y="149"/>
                      <a:pt x="101" y="149"/>
                    </a:cubicBezTo>
                    <a:cubicBezTo>
                      <a:pt x="101" y="149"/>
                      <a:pt x="101" y="149"/>
                      <a:pt x="101" y="149"/>
                    </a:cubicBezTo>
                    <a:cubicBezTo>
                      <a:pt x="115" y="146"/>
                      <a:pt x="130" y="145"/>
                      <a:pt x="146" y="145"/>
                    </a:cubicBezTo>
                    <a:cubicBezTo>
                      <a:pt x="162" y="145"/>
                      <a:pt x="178" y="146"/>
                      <a:pt x="192" y="149"/>
                    </a:cubicBezTo>
                    <a:cubicBezTo>
                      <a:pt x="192" y="149"/>
                      <a:pt x="192" y="149"/>
                      <a:pt x="193" y="149"/>
                    </a:cubicBezTo>
                    <a:cubicBezTo>
                      <a:pt x="194" y="149"/>
                      <a:pt x="196" y="148"/>
                      <a:pt x="197" y="147"/>
                    </a:cubicBezTo>
                    <a:cubicBezTo>
                      <a:pt x="199" y="146"/>
                      <a:pt x="200" y="144"/>
                      <a:pt x="200" y="142"/>
                    </a:cubicBezTo>
                    <a:cubicBezTo>
                      <a:pt x="200" y="20"/>
                      <a:pt x="200" y="20"/>
                      <a:pt x="200" y="20"/>
                    </a:cubicBezTo>
                    <a:cubicBezTo>
                      <a:pt x="200" y="11"/>
                      <a:pt x="190" y="6"/>
                      <a:pt x="177" y="3"/>
                    </a:cubicBezTo>
                    <a:close/>
                    <a:moveTo>
                      <a:pt x="93" y="134"/>
                    </a:moveTo>
                    <a:cubicBezTo>
                      <a:pt x="80" y="132"/>
                      <a:pt x="67" y="131"/>
                      <a:pt x="53" y="131"/>
                    </a:cubicBezTo>
                    <a:cubicBezTo>
                      <a:pt x="40" y="131"/>
                      <a:pt x="26" y="132"/>
                      <a:pt x="14" y="134"/>
                    </a:cubicBezTo>
                    <a:cubicBezTo>
                      <a:pt x="14" y="21"/>
                      <a:pt x="14" y="21"/>
                      <a:pt x="14" y="21"/>
                    </a:cubicBezTo>
                    <a:cubicBezTo>
                      <a:pt x="16" y="18"/>
                      <a:pt x="30" y="14"/>
                      <a:pt x="53" y="14"/>
                    </a:cubicBezTo>
                    <a:cubicBezTo>
                      <a:pt x="76" y="14"/>
                      <a:pt x="90" y="18"/>
                      <a:pt x="93" y="21"/>
                    </a:cubicBezTo>
                    <a:lnTo>
                      <a:pt x="93" y="134"/>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2" name="组合 41">
            <a:extLst>
              <a:ext uri="{FF2B5EF4-FFF2-40B4-BE49-F238E27FC236}">
                <a16:creationId xmlns:a16="http://schemas.microsoft.com/office/drawing/2014/main" id="{307F0B6C-0437-4F46-B474-FDBC2BE85279}"/>
              </a:ext>
            </a:extLst>
          </p:cNvPr>
          <p:cNvGrpSpPr/>
          <p:nvPr/>
        </p:nvGrpSpPr>
        <p:grpSpPr>
          <a:xfrm>
            <a:off x="6151540" y="1987712"/>
            <a:ext cx="749673" cy="751322"/>
            <a:chOff x="3437020" y="4201727"/>
            <a:chExt cx="863676" cy="865576"/>
          </a:xfrm>
        </p:grpSpPr>
        <p:sp>
          <p:nvSpPr>
            <p:cNvPr id="43" name="椭圆 21">
              <a:extLst>
                <a:ext uri="{FF2B5EF4-FFF2-40B4-BE49-F238E27FC236}">
                  <a16:creationId xmlns:a16="http://schemas.microsoft.com/office/drawing/2014/main" id="{4908CE79-EA7A-41B1-B352-985AB210CA48}"/>
                </a:ext>
              </a:extLst>
            </p:cNvPr>
            <p:cNvSpPr>
              <a:spLocks noChangeArrowheads="1"/>
            </p:cNvSpPr>
            <p:nvPr/>
          </p:nvSpPr>
          <p:spPr bwMode="auto">
            <a:xfrm>
              <a:off x="3437020" y="4201727"/>
              <a:ext cx="863676" cy="865576"/>
            </a:xfrm>
            <a:prstGeom prst="ellipse">
              <a:avLst/>
            </a:prstGeom>
            <a:solidFill>
              <a:schemeClr val="accent1"/>
            </a:solidFill>
            <a:ln w="38100">
              <a:solidFill>
                <a:schemeClr val="bg1">
                  <a:lumMod val="75000"/>
                </a:schemeClr>
              </a:solidFill>
              <a:miter lim="800000"/>
              <a:headEnd/>
              <a:tailEnd/>
            </a:ln>
          </p:spPr>
          <p:txBody>
            <a:bodyPr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endParaRPr lang="zh-CN" altLang="zh-CN" sz="1800">
                <a:solidFill>
                  <a:srgbClr val="FFFFFF"/>
                </a:solidFill>
                <a:sym typeface="微软雅黑" pitchFamily="34" charset="-122"/>
              </a:endParaRPr>
            </a:p>
          </p:txBody>
        </p:sp>
        <p:grpSp>
          <p:nvGrpSpPr>
            <p:cNvPr id="44" name="Group 4">
              <a:extLst>
                <a:ext uri="{FF2B5EF4-FFF2-40B4-BE49-F238E27FC236}">
                  <a16:creationId xmlns:a16="http://schemas.microsoft.com/office/drawing/2014/main" id="{4E33FF94-995D-467B-B90B-23E2A552D892}"/>
                </a:ext>
              </a:extLst>
            </p:cNvPr>
            <p:cNvGrpSpPr>
              <a:grpSpLocks noChangeAspect="1"/>
            </p:cNvGrpSpPr>
            <p:nvPr/>
          </p:nvGrpSpPr>
          <p:grpSpPr bwMode="auto">
            <a:xfrm>
              <a:off x="3626902" y="4339091"/>
              <a:ext cx="476560" cy="578496"/>
              <a:chOff x="2694" y="1931"/>
              <a:chExt cx="374" cy="454"/>
            </a:xfrm>
            <a:solidFill>
              <a:schemeClr val="bg1"/>
            </a:solidFill>
          </p:grpSpPr>
          <p:sp>
            <p:nvSpPr>
              <p:cNvPr id="45" name="Freeform 5">
                <a:extLst>
                  <a:ext uri="{FF2B5EF4-FFF2-40B4-BE49-F238E27FC236}">
                    <a16:creationId xmlns:a16="http://schemas.microsoft.com/office/drawing/2014/main" id="{550A2CA3-59AB-460E-8DFF-2B90DF4CE47B}"/>
                  </a:ext>
                </a:extLst>
              </p:cNvPr>
              <p:cNvSpPr>
                <a:spLocks noEditPoints="1"/>
              </p:cNvSpPr>
              <p:nvPr/>
            </p:nvSpPr>
            <p:spPr bwMode="auto">
              <a:xfrm>
                <a:off x="2694" y="1931"/>
                <a:ext cx="374" cy="454"/>
              </a:xfrm>
              <a:custGeom>
                <a:avLst/>
                <a:gdLst>
                  <a:gd name="T0" fmla="*/ 127 w 155"/>
                  <a:gd name="T1" fmla="*/ 7 h 189"/>
                  <a:gd name="T2" fmla="*/ 124 w 155"/>
                  <a:gd name="T3" fmla="*/ 0 h 189"/>
                  <a:gd name="T4" fmla="*/ 122 w 155"/>
                  <a:gd name="T5" fmla="*/ 7 h 189"/>
                  <a:gd name="T6" fmla="*/ 96 w 155"/>
                  <a:gd name="T7" fmla="*/ 3 h 189"/>
                  <a:gd name="T8" fmla="*/ 90 w 155"/>
                  <a:gd name="T9" fmla="*/ 3 h 189"/>
                  <a:gd name="T10" fmla="*/ 64 w 155"/>
                  <a:gd name="T11" fmla="*/ 7 h 189"/>
                  <a:gd name="T12" fmla="*/ 62 w 155"/>
                  <a:gd name="T13" fmla="*/ 0 h 189"/>
                  <a:gd name="T14" fmla="*/ 59 w 155"/>
                  <a:gd name="T15" fmla="*/ 7 h 189"/>
                  <a:gd name="T16" fmla="*/ 33 w 155"/>
                  <a:gd name="T17" fmla="*/ 3 h 189"/>
                  <a:gd name="T18" fmla="*/ 27 w 155"/>
                  <a:gd name="T19" fmla="*/ 3 h 189"/>
                  <a:gd name="T20" fmla="*/ 7 w 155"/>
                  <a:gd name="T21" fmla="*/ 7 h 189"/>
                  <a:gd name="T22" fmla="*/ 0 w 155"/>
                  <a:gd name="T23" fmla="*/ 182 h 189"/>
                  <a:gd name="T24" fmla="*/ 148 w 155"/>
                  <a:gd name="T25" fmla="*/ 189 h 189"/>
                  <a:gd name="T26" fmla="*/ 155 w 155"/>
                  <a:gd name="T27" fmla="*/ 13 h 189"/>
                  <a:gd name="T28" fmla="*/ 124 w 155"/>
                  <a:gd name="T29" fmla="*/ 40 h 189"/>
                  <a:gd name="T30" fmla="*/ 127 w 155"/>
                  <a:gd name="T31" fmla="*/ 31 h 189"/>
                  <a:gd name="T32" fmla="*/ 124 w 155"/>
                  <a:gd name="T33" fmla="*/ 44 h 189"/>
                  <a:gd name="T34" fmla="*/ 122 w 155"/>
                  <a:gd name="T35" fmla="*/ 31 h 189"/>
                  <a:gd name="T36" fmla="*/ 124 w 155"/>
                  <a:gd name="T37" fmla="*/ 40 h 189"/>
                  <a:gd name="T38" fmla="*/ 96 w 155"/>
                  <a:gd name="T39" fmla="*/ 37 h 189"/>
                  <a:gd name="T40" fmla="*/ 100 w 155"/>
                  <a:gd name="T41" fmla="*/ 37 h 189"/>
                  <a:gd name="T42" fmla="*/ 86 w 155"/>
                  <a:gd name="T43" fmla="*/ 37 h 189"/>
                  <a:gd name="T44" fmla="*/ 90 w 155"/>
                  <a:gd name="T45" fmla="*/ 37 h 189"/>
                  <a:gd name="T46" fmla="*/ 62 w 155"/>
                  <a:gd name="T47" fmla="*/ 40 h 189"/>
                  <a:gd name="T48" fmla="*/ 64 w 155"/>
                  <a:gd name="T49" fmla="*/ 31 h 189"/>
                  <a:gd name="T50" fmla="*/ 62 w 155"/>
                  <a:gd name="T51" fmla="*/ 44 h 189"/>
                  <a:gd name="T52" fmla="*/ 59 w 155"/>
                  <a:gd name="T53" fmla="*/ 31 h 189"/>
                  <a:gd name="T54" fmla="*/ 62 w 155"/>
                  <a:gd name="T55" fmla="*/ 40 h 189"/>
                  <a:gd name="T56" fmla="*/ 33 w 155"/>
                  <a:gd name="T57" fmla="*/ 37 h 189"/>
                  <a:gd name="T58" fmla="*/ 37 w 155"/>
                  <a:gd name="T59" fmla="*/ 37 h 189"/>
                  <a:gd name="T60" fmla="*/ 23 w 155"/>
                  <a:gd name="T61" fmla="*/ 37 h 189"/>
                  <a:gd name="T62" fmla="*/ 27 w 155"/>
                  <a:gd name="T63" fmla="*/ 37 h 189"/>
                  <a:gd name="T64" fmla="*/ 141 w 155"/>
                  <a:gd name="T65" fmla="*/ 175 h 189"/>
                  <a:gd name="T66" fmla="*/ 14 w 155"/>
                  <a:gd name="T67" fmla="*/ 20 h 189"/>
                  <a:gd name="T68" fmla="*/ 27 w 155"/>
                  <a:gd name="T69" fmla="*/ 25 h 189"/>
                  <a:gd name="T70" fmla="*/ 30 w 155"/>
                  <a:gd name="T71" fmla="*/ 50 h 189"/>
                  <a:gd name="T72" fmla="*/ 33 w 155"/>
                  <a:gd name="T73" fmla="*/ 25 h 189"/>
                  <a:gd name="T74" fmla="*/ 59 w 155"/>
                  <a:gd name="T75" fmla="*/ 20 h 189"/>
                  <a:gd name="T76" fmla="*/ 49 w 155"/>
                  <a:gd name="T77" fmla="*/ 37 h 189"/>
                  <a:gd name="T78" fmla="*/ 74 w 155"/>
                  <a:gd name="T79" fmla="*/ 37 h 189"/>
                  <a:gd name="T80" fmla="*/ 64 w 155"/>
                  <a:gd name="T81" fmla="*/ 20 h 189"/>
                  <a:gd name="T82" fmla="*/ 90 w 155"/>
                  <a:gd name="T83" fmla="*/ 25 h 189"/>
                  <a:gd name="T84" fmla="*/ 93 w 155"/>
                  <a:gd name="T85" fmla="*/ 50 h 189"/>
                  <a:gd name="T86" fmla="*/ 96 w 155"/>
                  <a:gd name="T87" fmla="*/ 25 h 189"/>
                  <a:gd name="T88" fmla="*/ 122 w 155"/>
                  <a:gd name="T89" fmla="*/ 20 h 189"/>
                  <a:gd name="T90" fmla="*/ 112 w 155"/>
                  <a:gd name="T91" fmla="*/ 37 h 189"/>
                  <a:gd name="T92" fmla="*/ 137 w 155"/>
                  <a:gd name="T93" fmla="*/ 37 h 189"/>
                  <a:gd name="T94" fmla="*/ 127 w 155"/>
                  <a:gd name="T95" fmla="*/ 20 h 189"/>
                  <a:gd name="T96" fmla="*/ 141 w 155"/>
                  <a:gd name="T97" fmla="*/ 175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 h="189">
                    <a:moveTo>
                      <a:pt x="148" y="7"/>
                    </a:moveTo>
                    <a:cubicBezTo>
                      <a:pt x="127" y="7"/>
                      <a:pt x="127" y="7"/>
                      <a:pt x="127" y="7"/>
                    </a:cubicBezTo>
                    <a:cubicBezTo>
                      <a:pt x="127" y="3"/>
                      <a:pt x="127" y="3"/>
                      <a:pt x="127" y="3"/>
                    </a:cubicBezTo>
                    <a:cubicBezTo>
                      <a:pt x="127" y="1"/>
                      <a:pt x="126" y="0"/>
                      <a:pt x="124" y="0"/>
                    </a:cubicBezTo>
                    <a:cubicBezTo>
                      <a:pt x="123" y="0"/>
                      <a:pt x="122" y="1"/>
                      <a:pt x="122" y="3"/>
                    </a:cubicBezTo>
                    <a:cubicBezTo>
                      <a:pt x="122" y="7"/>
                      <a:pt x="122" y="7"/>
                      <a:pt x="122" y="7"/>
                    </a:cubicBezTo>
                    <a:cubicBezTo>
                      <a:pt x="96" y="7"/>
                      <a:pt x="96" y="7"/>
                      <a:pt x="96" y="7"/>
                    </a:cubicBezTo>
                    <a:cubicBezTo>
                      <a:pt x="96" y="3"/>
                      <a:pt x="96" y="3"/>
                      <a:pt x="96" y="3"/>
                    </a:cubicBezTo>
                    <a:cubicBezTo>
                      <a:pt x="96" y="1"/>
                      <a:pt x="94" y="0"/>
                      <a:pt x="93" y="0"/>
                    </a:cubicBezTo>
                    <a:cubicBezTo>
                      <a:pt x="91" y="0"/>
                      <a:pt x="90" y="1"/>
                      <a:pt x="90" y="3"/>
                    </a:cubicBezTo>
                    <a:cubicBezTo>
                      <a:pt x="90" y="7"/>
                      <a:pt x="90" y="7"/>
                      <a:pt x="90" y="7"/>
                    </a:cubicBezTo>
                    <a:cubicBezTo>
                      <a:pt x="64" y="7"/>
                      <a:pt x="64" y="7"/>
                      <a:pt x="64" y="7"/>
                    </a:cubicBezTo>
                    <a:cubicBezTo>
                      <a:pt x="64" y="3"/>
                      <a:pt x="64" y="3"/>
                      <a:pt x="64" y="3"/>
                    </a:cubicBezTo>
                    <a:cubicBezTo>
                      <a:pt x="64" y="1"/>
                      <a:pt x="63" y="0"/>
                      <a:pt x="62" y="0"/>
                    </a:cubicBezTo>
                    <a:cubicBezTo>
                      <a:pt x="60" y="0"/>
                      <a:pt x="59" y="1"/>
                      <a:pt x="59" y="3"/>
                    </a:cubicBezTo>
                    <a:cubicBezTo>
                      <a:pt x="59" y="7"/>
                      <a:pt x="59" y="7"/>
                      <a:pt x="59" y="7"/>
                    </a:cubicBezTo>
                    <a:cubicBezTo>
                      <a:pt x="33" y="7"/>
                      <a:pt x="33" y="7"/>
                      <a:pt x="33" y="7"/>
                    </a:cubicBezTo>
                    <a:cubicBezTo>
                      <a:pt x="33" y="3"/>
                      <a:pt x="33" y="3"/>
                      <a:pt x="33" y="3"/>
                    </a:cubicBezTo>
                    <a:cubicBezTo>
                      <a:pt x="33" y="1"/>
                      <a:pt x="32" y="0"/>
                      <a:pt x="30" y="0"/>
                    </a:cubicBezTo>
                    <a:cubicBezTo>
                      <a:pt x="29" y="0"/>
                      <a:pt x="27" y="1"/>
                      <a:pt x="27" y="3"/>
                    </a:cubicBezTo>
                    <a:cubicBezTo>
                      <a:pt x="27" y="7"/>
                      <a:pt x="27" y="7"/>
                      <a:pt x="27" y="7"/>
                    </a:cubicBezTo>
                    <a:cubicBezTo>
                      <a:pt x="7" y="7"/>
                      <a:pt x="7" y="7"/>
                      <a:pt x="7" y="7"/>
                    </a:cubicBezTo>
                    <a:cubicBezTo>
                      <a:pt x="3" y="7"/>
                      <a:pt x="0" y="10"/>
                      <a:pt x="0" y="13"/>
                    </a:cubicBezTo>
                    <a:cubicBezTo>
                      <a:pt x="0" y="182"/>
                      <a:pt x="0" y="182"/>
                      <a:pt x="0" y="182"/>
                    </a:cubicBezTo>
                    <a:cubicBezTo>
                      <a:pt x="0" y="186"/>
                      <a:pt x="3" y="189"/>
                      <a:pt x="7" y="189"/>
                    </a:cubicBezTo>
                    <a:cubicBezTo>
                      <a:pt x="148" y="189"/>
                      <a:pt x="148" y="189"/>
                      <a:pt x="148" y="189"/>
                    </a:cubicBezTo>
                    <a:cubicBezTo>
                      <a:pt x="152" y="189"/>
                      <a:pt x="155" y="186"/>
                      <a:pt x="155" y="182"/>
                    </a:cubicBezTo>
                    <a:cubicBezTo>
                      <a:pt x="155" y="13"/>
                      <a:pt x="155" y="13"/>
                      <a:pt x="155" y="13"/>
                    </a:cubicBezTo>
                    <a:cubicBezTo>
                      <a:pt x="155" y="10"/>
                      <a:pt x="152" y="7"/>
                      <a:pt x="148" y="7"/>
                    </a:cubicBezTo>
                    <a:close/>
                    <a:moveTo>
                      <a:pt x="124" y="40"/>
                    </a:moveTo>
                    <a:cubicBezTo>
                      <a:pt x="126" y="40"/>
                      <a:pt x="127" y="39"/>
                      <a:pt x="127" y="37"/>
                    </a:cubicBezTo>
                    <a:cubicBezTo>
                      <a:pt x="127" y="31"/>
                      <a:pt x="127" y="31"/>
                      <a:pt x="127" y="31"/>
                    </a:cubicBezTo>
                    <a:cubicBezTo>
                      <a:pt x="130" y="32"/>
                      <a:pt x="131" y="35"/>
                      <a:pt x="131" y="37"/>
                    </a:cubicBezTo>
                    <a:cubicBezTo>
                      <a:pt x="131" y="41"/>
                      <a:pt x="128" y="44"/>
                      <a:pt x="124" y="44"/>
                    </a:cubicBezTo>
                    <a:cubicBezTo>
                      <a:pt x="120" y="44"/>
                      <a:pt x="117" y="41"/>
                      <a:pt x="117" y="37"/>
                    </a:cubicBezTo>
                    <a:cubicBezTo>
                      <a:pt x="117" y="34"/>
                      <a:pt x="119" y="32"/>
                      <a:pt x="122" y="31"/>
                    </a:cubicBezTo>
                    <a:cubicBezTo>
                      <a:pt x="122" y="37"/>
                      <a:pt x="122" y="37"/>
                      <a:pt x="122" y="37"/>
                    </a:cubicBezTo>
                    <a:cubicBezTo>
                      <a:pt x="122" y="39"/>
                      <a:pt x="123" y="40"/>
                      <a:pt x="124" y="40"/>
                    </a:cubicBezTo>
                    <a:close/>
                    <a:moveTo>
                      <a:pt x="93" y="40"/>
                    </a:moveTo>
                    <a:cubicBezTo>
                      <a:pt x="94" y="40"/>
                      <a:pt x="96" y="39"/>
                      <a:pt x="96" y="37"/>
                    </a:cubicBezTo>
                    <a:cubicBezTo>
                      <a:pt x="96" y="31"/>
                      <a:pt x="96" y="31"/>
                      <a:pt x="96" y="31"/>
                    </a:cubicBezTo>
                    <a:cubicBezTo>
                      <a:pt x="98" y="32"/>
                      <a:pt x="100" y="35"/>
                      <a:pt x="100" y="37"/>
                    </a:cubicBezTo>
                    <a:cubicBezTo>
                      <a:pt x="100" y="41"/>
                      <a:pt x="97" y="44"/>
                      <a:pt x="93" y="44"/>
                    </a:cubicBezTo>
                    <a:cubicBezTo>
                      <a:pt x="89" y="44"/>
                      <a:pt x="86" y="41"/>
                      <a:pt x="86" y="37"/>
                    </a:cubicBezTo>
                    <a:cubicBezTo>
                      <a:pt x="86" y="34"/>
                      <a:pt x="88" y="32"/>
                      <a:pt x="90" y="31"/>
                    </a:cubicBezTo>
                    <a:cubicBezTo>
                      <a:pt x="90" y="37"/>
                      <a:pt x="90" y="37"/>
                      <a:pt x="90" y="37"/>
                    </a:cubicBezTo>
                    <a:cubicBezTo>
                      <a:pt x="90" y="39"/>
                      <a:pt x="91" y="40"/>
                      <a:pt x="93" y="40"/>
                    </a:cubicBezTo>
                    <a:close/>
                    <a:moveTo>
                      <a:pt x="62" y="40"/>
                    </a:moveTo>
                    <a:cubicBezTo>
                      <a:pt x="63" y="40"/>
                      <a:pt x="64" y="39"/>
                      <a:pt x="64" y="37"/>
                    </a:cubicBezTo>
                    <a:cubicBezTo>
                      <a:pt x="64" y="31"/>
                      <a:pt x="64" y="31"/>
                      <a:pt x="64" y="31"/>
                    </a:cubicBezTo>
                    <a:cubicBezTo>
                      <a:pt x="67" y="32"/>
                      <a:pt x="69" y="35"/>
                      <a:pt x="69" y="37"/>
                    </a:cubicBezTo>
                    <a:cubicBezTo>
                      <a:pt x="69" y="41"/>
                      <a:pt x="65" y="44"/>
                      <a:pt x="62" y="44"/>
                    </a:cubicBezTo>
                    <a:cubicBezTo>
                      <a:pt x="58" y="44"/>
                      <a:pt x="54" y="41"/>
                      <a:pt x="54" y="37"/>
                    </a:cubicBezTo>
                    <a:cubicBezTo>
                      <a:pt x="54" y="34"/>
                      <a:pt x="56" y="32"/>
                      <a:pt x="59" y="31"/>
                    </a:cubicBezTo>
                    <a:cubicBezTo>
                      <a:pt x="59" y="37"/>
                      <a:pt x="59" y="37"/>
                      <a:pt x="59" y="37"/>
                    </a:cubicBezTo>
                    <a:cubicBezTo>
                      <a:pt x="59" y="39"/>
                      <a:pt x="60" y="40"/>
                      <a:pt x="62" y="40"/>
                    </a:cubicBezTo>
                    <a:close/>
                    <a:moveTo>
                      <a:pt x="30" y="40"/>
                    </a:moveTo>
                    <a:cubicBezTo>
                      <a:pt x="32" y="40"/>
                      <a:pt x="33" y="39"/>
                      <a:pt x="33" y="37"/>
                    </a:cubicBezTo>
                    <a:cubicBezTo>
                      <a:pt x="33" y="31"/>
                      <a:pt x="33" y="31"/>
                      <a:pt x="33" y="31"/>
                    </a:cubicBezTo>
                    <a:cubicBezTo>
                      <a:pt x="35" y="32"/>
                      <a:pt x="37" y="35"/>
                      <a:pt x="37" y="37"/>
                    </a:cubicBezTo>
                    <a:cubicBezTo>
                      <a:pt x="37" y="41"/>
                      <a:pt x="34" y="44"/>
                      <a:pt x="30" y="44"/>
                    </a:cubicBezTo>
                    <a:cubicBezTo>
                      <a:pt x="26" y="44"/>
                      <a:pt x="23" y="41"/>
                      <a:pt x="23" y="37"/>
                    </a:cubicBezTo>
                    <a:cubicBezTo>
                      <a:pt x="23" y="34"/>
                      <a:pt x="25" y="32"/>
                      <a:pt x="27" y="31"/>
                    </a:cubicBezTo>
                    <a:cubicBezTo>
                      <a:pt x="27" y="37"/>
                      <a:pt x="27" y="37"/>
                      <a:pt x="27" y="37"/>
                    </a:cubicBezTo>
                    <a:cubicBezTo>
                      <a:pt x="27" y="39"/>
                      <a:pt x="29" y="40"/>
                      <a:pt x="30" y="40"/>
                    </a:cubicBezTo>
                    <a:close/>
                    <a:moveTo>
                      <a:pt x="141" y="175"/>
                    </a:moveTo>
                    <a:cubicBezTo>
                      <a:pt x="14" y="175"/>
                      <a:pt x="14" y="175"/>
                      <a:pt x="14" y="175"/>
                    </a:cubicBezTo>
                    <a:cubicBezTo>
                      <a:pt x="14" y="20"/>
                      <a:pt x="14" y="20"/>
                      <a:pt x="14" y="20"/>
                    </a:cubicBezTo>
                    <a:cubicBezTo>
                      <a:pt x="27" y="20"/>
                      <a:pt x="27" y="20"/>
                      <a:pt x="27" y="20"/>
                    </a:cubicBezTo>
                    <a:cubicBezTo>
                      <a:pt x="27" y="25"/>
                      <a:pt x="27" y="25"/>
                      <a:pt x="27" y="25"/>
                    </a:cubicBezTo>
                    <a:cubicBezTo>
                      <a:pt x="22" y="26"/>
                      <a:pt x="18" y="31"/>
                      <a:pt x="18" y="37"/>
                    </a:cubicBezTo>
                    <a:cubicBezTo>
                      <a:pt x="18" y="44"/>
                      <a:pt x="23" y="50"/>
                      <a:pt x="30" y="50"/>
                    </a:cubicBezTo>
                    <a:cubicBezTo>
                      <a:pt x="37" y="50"/>
                      <a:pt x="43" y="44"/>
                      <a:pt x="43" y="37"/>
                    </a:cubicBezTo>
                    <a:cubicBezTo>
                      <a:pt x="43" y="31"/>
                      <a:pt x="39" y="26"/>
                      <a:pt x="33" y="25"/>
                    </a:cubicBezTo>
                    <a:cubicBezTo>
                      <a:pt x="33" y="20"/>
                      <a:pt x="33" y="20"/>
                      <a:pt x="33" y="20"/>
                    </a:cubicBezTo>
                    <a:cubicBezTo>
                      <a:pt x="59" y="20"/>
                      <a:pt x="59" y="20"/>
                      <a:pt x="59" y="20"/>
                    </a:cubicBezTo>
                    <a:cubicBezTo>
                      <a:pt x="59" y="25"/>
                      <a:pt x="59" y="25"/>
                      <a:pt x="59" y="25"/>
                    </a:cubicBezTo>
                    <a:cubicBezTo>
                      <a:pt x="53" y="26"/>
                      <a:pt x="49" y="31"/>
                      <a:pt x="49" y="37"/>
                    </a:cubicBezTo>
                    <a:cubicBezTo>
                      <a:pt x="49" y="44"/>
                      <a:pt x="55" y="50"/>
                      <a:pt x="62" y="50"/>
                    </a:cubicBezTo>
                    <a:cubicBezTo>
                      <a:pt x="68" y="50"/>
                      <a:pt x="74" y="44"/>
                      <a:pt x="74" y="37"/>
                    </a:cubicBezTo>
                    <a:cubicBezTo>
                      <a:pt x="74" y="31"/>
                      <a:pt x="70" y="26"/>
                      <a:pt x="64" y="25"/>
                    </a:cubicBezTo>
                    <a:cubicBezTo>
                      <a:pt x="64" y="20"/>
                      <a:pt x="64" y="20"/>
                      <a:pt x="64" y="20"/>
                    </a:cubicBezTo>
                    <a:cubicBezTo>
                      <a:pt x="90" y="20"/>
                      <a:pt x="90" y="20"/>
                      <a:pt x="90" y="20"/>
                    </a:cubicBezTo>
                    <a:cubicBezTo>
                      <a:pt x="90" y="25"/>
                      <a:pt x="90" y="25"/>
                      <a:pt x="90" y="25"/>
                    </a:cubicBezTo>
                    <a:cubicBezTo>
                      <a:pt x="85" y="26"/>
                      <a:pt x="80" y="31"/>
                      <a:pt x="80" y="37"/>
                    </a:cubicBezTo>
                    <a:cubicBezTo>
                      <a:pt x="80" y="44"/>
                      <a:pt x="86" y="50"/>
                      <a:pt x="93" y="50"/>
                    </a:cubicBezTo>
                    <a:cubicBezTo>
                      <a:pt x="100" y="50"/>
                      <a:pt x="105" y="44"/>
                      <a:pt x="105" y="37"/>
                    </a:cubicBezTo>
                    <a:cubicBezTo>
                      <a:pt x="105" y="31"/>
                      <a:pt x="101" y="26"/>
                      <a:pt x="96" y="25"/>
                    </a:cubicBezTo>
                    <a:cubicBezTo>
                      <a:pt x="96" y="20"/>
                      <a:pt x="96" y="20"/>
                      <a:pt x="96" y="20"/>
                    </a:cubicBezTo>
                    <a:cubicBezTo>
                      <a:pt x="122" y="20"/>
                      <a:pt x="122" y="20"/>
                      <a:pt x="122" y="20"/>
                    </a:cubicBezTo>
                    <a:cubicBezTo>
                      <a:pt x="122" y="25"/>
                      <a:pt x="122" y="25"/>
                      <a:pt x="122" y="25"/>
                    </a:cubicBezTo>
                    <a:cubicBezTo>
                      <a:pt x="116" y="26"/>
                      <a:pt x="112" y="31"/>
                      <a:pt x="112" y="37"/>
                    </a:cubicBezTo>
                    <a:cubicBezTo>
                      <a:pt x="112" y="44"/>
                      <a:pt x="117" y="50"/>
                      <a:pt x="124" y="50"/>
                    </a:cubicBezTo>
                    <a:cubicBezTo>
                      <a:pt x="131" y="50"/>
                      <a:pt x="137" y="44"/>
                      <a:pt x="137" y="37"/>
                    </a:cubicBezTo>
                    <a:cubicBezTo>
                      <a:pt x="137" y="31"/>
                      <a:pt x="133" y="26"/>
                      <a:pt x="127" y="25"/>
                    </a:cubicBezTo>
                    <a:cubicBezTo>
                      <a:pt x="127" y="20"/>
                      <a:pt x="127" y="20"/>
                      <a:pt x="127" y="20"/>
                    </a:cubicBezTo>
                    <a:cubicBezTo>
                      <a:pt x="141" y="20"/>
                      <a:pt x="141" y="20"/>
                      <a:pt x="141" y="20"/>
                    </a:cubicBezTo>
                    <a:lnTo>
                      <a:pt x="141"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6" name="Freeform 6">
                <a:extLst>
                  <a:ext uri="{FF2B5EF4-FFF2-40B4-BE49-F238E27FC236}">
                    <a16:creationId xmlns:a16="http://schemas.microsoft.com/office/drawing/2014/main" id="{2A69B5DC-3DA7-4325-AC27-6D2FB465FA03}"/>
                  </a:ext>
                </a:extLst>
              </p:cNvPr>
              <p:cNvSpPr>
                <a:spLocks/>
              </p:cNvSpPr>
              <p:nvPr/>
            </p:nvSpPr>
            <p:spPr bwMode="auto">
              <a:xfrm>
                <a:off x="2820" y="2272"/>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7" name="Freeform 7">
                <a:extLst>
                  <a:ext uri="{FF2B5EF4-FFF2-40B4-BE49-F238E27FC236}">
                    <a16:creationId xmlns:a16="http://schemas.microsoft.com/office/drawing/2014/main" id="{CD740F07-2CF6-4E65-85D6-E8F1B6EA9284}"/>
                  </a:ext>
                </a:extLst>
              </p:cNvPr>
              <p:cNvSpPr>
                <a:spLocks/>
              </p:cNvSpPr>
              <p:nvPr/>
            </p:nvSpPr>
            <p:spPr bwMode="auto">
              <a:xfrm>
                <a:off x="2820" y="2190"/>
                <a:ext cx="181" cy="14"/>
              </a:xfrm>
              <a:custGeom>
                <a:avLst/>
                <a:gdLst>
                  <a:gd name="T0" fmla="*/ 73 w 75"/>
                  <a:gd name="T1" fmla="*/ 0 h 6"/>
                  <a:gd name="T2" fmla="*/ 2 w 75"/>
                  <a:gd name="T3" fmla="*/ 0 h 6"/>
                  <a:gd name="T4" fmla="*/ 0 w 75"/>
                  <a:gd name="T5" fmla="*/ 3 h 6"/>
                  <a:gd name="T6" fmla="*/ 2 w 75"/>
                  <a:gd name="T7" fmla="*/ 6 h 6"/>
                  <a:gd name="T8" fmla="*/ 73 w 75"/>
                  <a:gd name="T9" fmla="*/ 6 h 6"/>
                  <a:gd name="T10" fmla="*/ 75 w 75"/>
                  <a:gd name="T11" fmla="*/ 3 h 6"/>
                  <a:gd name="T12" fmla="*/ 73 w 7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75" h="6">
                    <a:moveTo>
                      <a:pt x="73" y="0"/>
                    </a:moveTo>
                    <a:cubicBezTo>
                      <a:pt x="2" y="0"/>
                      <a:pt x="2" y="0"/>
                      <a:pt x="2" y="0"/>
                    </a:cubicBezTo>
                    <a:cubicBezTo>
                      <a:pt x="1" y="0"/>
                      <a:pt x="0" y="2"/>
                      <a:pt x="0" y="3"/>
                    </a:cubicBezTo>
                    <a:cubicBezTo>
                      <a:pt x="0" y="5"/>
                      <a:pt x="1" y="6"/>
                      <a:pt x="2" y="6"/>
                    </a:cubicBezTo>
                    <a:cubicBezTo>
                      <a:pt x="73" y="6"/>
                      <a:pt x="73" y="6"/>
                      <a:pt x="73" y="6"/>
                    </a:cubicBezTo>
                    <a:cubicBezTo>
                      <a:pt x="74" y="6"/>
                      <a:pt x="75" y="5"/>
                      <a:pt x="75" y="3"/>
                    </a:cubicBezTo>
                    <a:cubicBezTo>
                      <a:pt x="75" y="2"/>
                      <a:pt x="74" y="0"/>
                      <a:pt x="7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8" name="Freeform 8">
                <a:extLst>
                  <a:ext uri="{FF2B5EF4-FFF2-40B4-BE49-F238E27FC236}">
                    <a16:creationId xmlns:a16="http://schemas.microsoft.com/office/drawing/2014/main" id="{3E2F54C1-0787-457B-A8CB-72AB93484FD3}"/>
                  </a:ext>
                </a:extLst>
              </p:cNvPr>
              <p:cNvSpPr>
                <a:spLocks/>
              </p:cNvSpPr>
              <p:nvPr/>
            </p:nvSpPr>
            <p:spPr bwMode="auto">
              <a:xfrm>
                <a:off x="2820" y="2111"/>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9" name="Freeform 9">
                <a:extLst>
                  <a:ext uri="{FF2B5EF4-FFF2-40B4-BE49-F238E27FC236}">
                    <a16:creationId xmlns:a16="http://schemas.microsoft.com/office/drawing/2014/main" id="{E41DC141-360B-44C9-B4F2-321AA3D7E813}"/>
                  </a:ext>
                </a:extLst>
              </p:cNvPr>
              <p:cNvSpPr>
                <a:spLocks/>
              </p:cNvSpPr>
              <p:nvPr/>
            </p:nvSpPr>
            <p:spPr bwMode="auto">
              <a:xfrm>
                <a:off x="2755" y="2096"/>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50" name="Freeform 10">
                <a:extLst>
                  <a:ext uri="{FF2B5EF4-FFF2-40B4-BE49-F238E27FC236}">
                    <a16:creationId xmlns:a16="http://schemas.microsoft.com/office/drawing/2014/main" id="{64573FED-1022-47B7-A53A-63B42192381E}"/>
                  </a:ext>
                </a:extLst>
              </p:cNvPr>
              <p:cNvSpPr>
                <a:spLocks/>
              </p:cNvSpPr>
              <p:nvPr/>
            </p:nvSpPr>
            <p:spPr bwMode="auto">
              <a:xfrm>
                <a:off x="2755" y="2176"/>
                <a:ext cx="41" cy="43"/>
              </a:xfrm>
              <a:custGeom>
                <a:avLst/>
                <a:gdLst>
                  <a:gd name="T0" fmla="*/ 15 w 17"/>
                  <a:gd name="T1" fmla="*/ 0 h 18"/>
                  <a:gd name="T2" fmla="*/ 3 w 17"/>
                  <a:gd name="T3" fmla="*/ 0 h 18"/>
                  <a:gd name="T4" fmla="*/ 0 w 17"/>
                  <a:gd name="T5" fmla="*/ 3 h 18"/>
                  <a:gd name="T6" fmla="*/ 0 w 17"/>
                  <a:gd name="T7" fmla="*/ 15 h 18"/>
                  <a:gd name="T8" fmla="*/ 3 w 17"/>
                  <a:gd name="T9" fmla="*/ 18 h 18"/>
                  <a:gd name="T10" fmla="*/ 15 w 17"/>
                  <a:gd name="T11" fmla="*/ 18 h 18"/>
                  <a:gd name="T12" fmla="*/ 17 w 17"/>
                  <a:gd name="T13" fmla="*/ 15 h 18"/>
                  <a:gd name="T14" fmla="*/ 17 w 17"/>
                  <a:gd name="T15" fmla="*/ 3 h 18"/>
                  <a:gd name="T16" fmla="*/ 15 w 17"/>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0"/>
                    </a:moveTo>
                    <a:cubicBezTo>
                      <a:pt x="3" y="0"/>
                      <a:pt x="3" y="0"/>
                      <a:pt x="3" y="0"/>
                    </a:cubicBezTo>
                    <a:cubicBezTo>
                      <a:pt x="1" y="0"/>
                      <a:pt x="0" y="2"/>
                      <a:pt x="0" y="3"/>
                    </a:cubicBezTo>
                    <a:cubicBezTo>
                      <a:pt x="0" y="15"/>
                      <a:pt x="0" y="15"/>
                      <a:pt x="0" y="15"/>
                    </a:cubicBezTo>
                    <a:cubicBezTo>
                      <a:pt x="0" y="17"/>
                      <a:pt x="1" y="18"/>
                      <a:pt x="3" y="18"/>
                    </a:cubicBezTo>
                    <a:cubicBezTo>
                      <a:pt x="15" y="18"/>
                      <a:pt x="15" y="18"/>
                      <a:pt x="15" y="18"/>
                    </a:cubicBezTo>
                    <a:cubicBezTo>
                      <a:pt x="16" y="18"/>
                      <a:pt x="17" y="17"/>
                      <a:pt x="17" y="15"/>
                    </a:cubicBezTo>
                    <a:cubicBezTo>
                      <a:pt x="17" y="3"/>
                      <a:pt x="17" y="3"/>
                      <a:pt x="17" y="3"/>
                    </a:cubicBezTo>
                    <a:cubicBezTo>
                      <a:pt x="17" y="2"/>
                      <a:pt x="16"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51" name="Freeform 11">
                <a:extLst>
                  <a:ext uri="{FF2B5EF4-FFF2-40B4-BE49-F238E27FC236}">
                    <a16:creationId xmlns:a16="http://schemas.microsoft.com/office/drawing/2014/main" id="{A8CEF5CF-7CE2-4ABD-9EC7-778821CCF6C4}"/>
                  </a:ext>
                </a:extLst>
              </p:cNvPr>
              <p:cNvSpPr>
                <a:spLocks/>
              </p:cNvSpPr>
              <p:nvPr/>
            </p:nvSpPr>
            <p:spPr bwMode="auto">
              <a:xfrm>
                <a:off x="2755" y="2257"/>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52" name="组合 51">
            <a:extLst>
              <a:ext uri="{FF2B5EF4-FFF2-40B4-BE49-F238E27FC236}">
                <a16:creationId xmlns:a16="http://schemas.microsoft.com/office/drawing/2014/main" id="{3D1549E4-296D-4EA0-985D-2499714B1BAC}"/>
              </a:ext>
            </a:extLst>
          </p:cNvPr>
          <p:cNvGrpSpPr/>
          <p:nvPr/>
        </p:nvGrpSpPr>
        <p:grpSpPr>
          <a:xfrm>
            <a:off x="7655308" y="2193319"/>
            <a:ext cx="749673" cy="751322"/>
            <a:chOff x="3437020" y="5246272"/>
            <a:chExt cx="863676" cy="865576"/>
          </a:xfrm>
        </p:grpSpPr>
        <p:sp>
          <p:nvSpPr>
            <p:cNvPr id="53" name="椭圆 21">
              <a:extLst>
                <a:ext uri="{FF2B5EF4-FFF2-40B4-BE49-F238E27FC236}">
                  <a16:creationId xmlns:a16="http://schemas.microsoft.com/office/drawing/2014/main" id="{CCF63D8B-9951-45DB-829E-30BE92215D25}"/>
                </a:ext>
              </a:extLst>
            </p:cNvPr>
            <p:cNvSpPr>
              <a:spLocks noChangeArrowheads="1"/>
            </p:cNvSpPr>
            <p:nvPr/>
          </p:nvSpPr>
          <p:spPr bwMode="auto">
            <a:xfrm>
              <a:off x="3437020" y="5246272"/>
              <a:ext cx="863676" cy="865576"/>
            </a:xfrm>
            <a:prstGeom prst="ellipse">
              <a:avLst/>
            </a:prstGeom>
            <a:solidFill>
              <a:schemeClr val="accent1"/>
            </a:solidFill>
            <a:ln w="38100">
              <a:solidFill>
                <a:schemeClr val="bg1">
                  <a:lumMod val="75000"/>
                </a:schemeClr>
              </a:solidFill>
              <a:miter lim="800000"/>
              <a:headEnd/>
              <a:tailEnd/>
            </a:ln>
          </p:spPr>
          <p:txBody>
            <a:bodyPr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endParaRPr lang="zh-CN" altLang="zh-CN" sz="1800">
                <a:solidFill>
                  <a:srgbClr val="FFFFFF"/>
                </a:solidFill>
                <a:sym typeface="微软雅黑" pitchFamily="34" charset="-122"/>
              </a:endParaRPr>
            </a:p>
          </p:txBody>
        </p:sp>
        <p:sp>
          <p:nvSpPr>
            <p:cNvPr id="54" name="Freeform 9">
              <a:extLst>
                <a:ext uri="{FF2B5EF4-FFF2-40B4-BE49-F238E27FC236}">
                  <a16:creationId xmlns:a16="http://schemas.microsoft.com/office/drawing/2014/main" id="{7E4E5348-6724-4E44-B39E-B8D9C626953C}"/>
                </a:ext>
              </a:extLst>
            </p:cNvPr>
            <p:cNvSpPr>
              <a:spLocks noEditPoints="1"/>
            </p:cNvSpPr>
            <p:nvPr/>
          </p:nvSpPr>
          <p:spPr bwMode="auto">
            <a:xfrm>
              <a:off x="3564624" y="5446833"/>
              <a:ext cx="605440" cy="464249"/>
            </a:xfrm>
            <a:custGeom>
              <a:avLst/>
              <a:gdLst>
                <a:gd name="T0" fmla="*/ 16 w 104"/>
                <a:gd name="T1" fmla="*/ 2 h 79"/>
                <a:gd name="T2" fmla="*/ 27 w 104"/>
                <a:gd name="T3" fmla="*/ 4 h 79"/>
                <a:gd name="T4" fmla="*/ 19 w 104"/>
                <a:gd name="T5" fmla="*/ 48 h 79"/>
                <a:gd name="T6" fmla="*/ 4 w 104"/>
                <a:gd name="T7" fmla="*/ 45 h 79"/>
                <a:gd name="T8" fmla="*/ 16 w 104"/>
                <a:gd name="T9" fmla="*/ 2 h 79"/>
                <a:gd name="T10" fmla="*/ 18 w 104"/>
                <a:gd name="T11" fmla="*/ 65 h 79"/>
                <a:gd name="T12" fmla="*/ 16 w 104"/>
                <a:gd name="T13" fmla="*/ 72 h 79"/>
                <a:gd name="T14" fmla="*/ 101 w 104"/>
                <a:gd name="T15" fmla="*/ 72 h 79"/>
                <a:gd name="T16" fmla="*/ 104 w 104"/>
                <a:gd name="T17" fmla="*/ 72 h 79"/>
                <a:gd name="T18" fmla="*/ 104 w 104"/>
                <a:gd name="T19" fmla="*/ 68 h 79"/>
                <a:gd name="T20" fmla="*/ 104 w 104"/>
                <a:gd name="T21" fmla="*/ 26 h 79"/>
                <a:gd name="T22" fmla="*/ 104 w 104"/>
                <a:gd name="T23" fmla="*/ 24 h 79"/>
                <a:gd name="T24" fmla="*/ 103 w 104"/>
                <a:gd name="T25" fmla="*/ 23 h 79"/>
                <a:gd name="T26" fmla="*/ 90 w 104"/>
                <a:gd name="T27" fmla="*/ 10 h 79"/>
                <a:gd name="T28" fmla="*/ 89 w 104"/>
                <a:gd name="T29" fmla="*/ 9 h 79"/>
                <a:gd name="T30" fmla="*/ 87 w 104"/>
                <a:gd name="T31" fmla="*/ 9 h 79"/>
                <a:gd name="T32" fmla="*/ 31 w 104"/>
                <a:gd name="T33" fmla="*/ 9 h 79"/>
                <a:gd name="T34" fmla="*/ 31 w 104"/>
                <a:gd name="T35" fmla="*/ 17 h 79"/>
                <a:gd name="T36" fmla="*/ 84 w 104"/>
                <a:gd name="T37" fmla="*/ 17 h 79"/>
                <a:gd name="T38" fmla="*/ 83 w 104"/>
                <a:gd name="T39" fmla="*/ 28 h 79"/>
                <a:gd name="T40" fmla="*/ 83 w 104"/>
                <a:gd name="T41" fmla="*/ 30 h 79"/>
                <a:gd name="T42" fmla="*/ 85 w 104"/>
                <a:gd name="T43" fmla="*/ 30 h 79"/>
                <a:gd name="T44" fmla="*/ 97 w 104"/>
                <a:gd name="T45" fmla="*/ 29 h 79"/>
                <a:gd name="T46" fmla="*/ 97 w 104"/>
                <a:gd name="T47" fmla="*/ 65 h 79"/>
                <a:gd name="T48" fmla="*/ 18 w 104"/>
                <a:gd name="T49" fmla="*/ 65 h 79"/>
                <a:gd name="T50" fmla="*/ 95 w 104"/>
                <a:gd name="T51" fmla="*/ 26 h 79"/>
                <a:gd name="T52" fmla="*/ 86 w 104"/>
                <a:gd name="T53" fmla="*/ 26 h 79"/>
                <a:gd name="T54" fmla="*/ 87 w 104"/>
                <a:gd name="T55" fmla="*/ 18 h 79"/>
                <a:gd name="T56" fmla="*/ 95 w 104"/>
                <a:gd name="T57" fmla="*/ 26 h 79"/>
                <a:gd name="T58" fmla="*/ 32 w 104"/>
                <a:gd name="T59" fmla="*/ 43 h 79"/>
                <a:gd name="T60" fmla="*/ 74 w 104"/>
                <a:gd name="T61" fmla="*/ 43 h 79"/>
                <a:gd name="T62" fmla="*/ 74 w 104"/>
                <a:gd name="T63" fmla="*/ 45 h 79"/>
                <a:gd name="T64" fmla="*/ 32 w 104"/>
                <a:gd name="T65" fmla="*/ 45 h 79"/>
                <a:gd name="T66" fmla="*/ 32 w 104"/>
                <a:gd name="T67" fmla="*/ 43 h 79"/>
                <a:gd name="T68" fmla="*/ 32 w 104"/>
                <a:gd name="T69" fmla="*/ 32 h 79"/>
                <a:gd name="T70" fmla="*/ 71 w 104"/>
                <a:gd name="T71" fmla="*/ 32 h 79"/>
                <a:gd name="T72" fmla="*/ 71 w 104"/>
                <a:gd name="T73" fmla="*/ 35 h 79"/>
                <a:gd name="T74" fmla="*/ 32 w 104"/>
                <a:gd name="T75" fmla="*/ 35 h 79"/>
                <a:gd name="T76" fmla="*/ 32 w 104"/>
                <a:gd name="T77" fmla="*/ 32 h 79"/>
                <a:gd name="T78" fmla="*/ 32 w 104"/>
                <a:gd name="T79" fmla="*/ 22 h 79"/>
                <a:gd name="T80" fmla="*/ 71 w 104"/>
                <a:gd name="T81" fmla="*/ 22 h 79"/>
                <a:gd name="T82" fmla="*/ 71 w 104"/>
                <a:gd name="T83" fmla="*/ 25 h 79"/>
                <a:gd name="T84" fmla="*/ 32 w 104"/>
                <a:gd name="T85" fmla="*/ 25 h 79"/>
                <a:gd name="T86" fmla="*/ 32 w 104"/>
                <a:gd name="T87" fmla="*/ 22 h 79"/>
                <a:gd name="T88" fmla="*/ 3 w 104"/>
                <a:gd name="T89" fmla="*/ 66 h 79"/>
                <a:gd name="T90" fmla="*/ 9 w 104"/>
                <a:gd name="T91" fmla="*/ 68 h 79"/>
                <a:gd name="T92" fmla="*/ 9 w 104"/>
                <a:gd name="T93" fmla="*/ 74 h 79"/>
                <a:gd name="T94" fmla="*/ 5 w 104"/>
                <a:gd name="T95" fmla="*/ 79 h 79"/>
                <a:gd name="T96" fmla="*/ 2 w 104"/>
                <a:gd name="T97" fmla="*/ 78 h 79"/>
                <a:gd name="T98" fmla="*/ 0 w 104"/>
                <a:gd name="T99" fmla="*/ 72 h 79"/>
                <a:gd name="T100" fmla="*/ 3 w 104"/>
                <a:gd name="T101" fmla="*/ 66 h 79"/>
                <a:gd name="T102" fmla="*/ 4 w 104"/>
                <a:gd name="T103" fmla="*/ 48 h 79"/>
                <a:gd name="T104" fmla="*/ 2 w 104"/>
                <a:gd name="T105" fmla="*/ 65 h 79"/>
                <a:gd name="T106" fmla="*/ 12 w 104"/>
                <a:gd name="T107" fmla="*/ 67 h 79"/>
                <a:gd name="T108" fmla="*/ 17 w 104"/>
                <a:gd name="T109" fmla="*/ 51 h 79"/>
                <a:gd name="T110" fmla="*/ 4 w 104"/>
                <a:gd name="T111" fmla="*/ 4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4" h="79">
                  <a:moveTo>
                    <a:pt x="16" y="2"/>
                  </a:moveTo>
                  <a:cubicBezTo>
                    <a:pt x="21" y="0"/>
                    <a:pt x="24" y="1"/>
                    <a:pt x="27" y="4"/>
                  </a:cubicBezTo>
                  <a:cubicBezTo>
                    <a:pt x="26" y="20"/>
                    <a:pt x="23" y="35"/>
                    <a:pt x="19" y="48"/>
                  </a:cubicBezTo>
                  <a:cubicBezTo>
                    <a:pt x="14" y="47"/>
                    <a:pt x="9" y="46"/>
                    <a:pt x="4" y="45"/>
                  </a:cubicBezTo>
                  <a:cubicBezTo>
                    <a:pt x="6" y="29"/>
                    <a:pt x="10" y="15"/>
                    <a:pt x="16" y="2"/>
                  </a:cubicBezTo>
                  <a:close/>
                  <a:moveTo>
                    <a:pt x="18" y="65"/>
                  </a:moveTo>
                  <a:cubicBezTo>
                    <a:pt x="16" y="72"/>
                    <a:pt x="16" y="72"/>
                    <a:pt x="16" y="72"/>
                  </a:cubicBezTo>
                  <a:cubicBezTo>
                    <a:pt x="69" y="72"/>
                    <a:pt x="74" y="72"/>
                    <a:pt x="101" y="72"/>
                  </a:cubicBezTo>
                  <a:cubicBezTo>
                    <a:pt x="104" y="72"/>
                    <a:pt x="104" y="72"/>
                    <a:pt x="104" y="72"/>
                  </a:cubicBezTo>
                  <a:cubicBezTo>
                    <a:pt x="104" y="68"/>
                    <a:pt x="104" y="68"/>
                    <a:pt x="104" y="68"/>
                  </a:cubicBezTo>
                  <a:cubicBezTo>
                    <a:pt x="104" y="26"/>
                    <a:pt x="104" y="26"/>
                    <a:pt x="104" y="26"/>
                  </a:cubicBezTo>
                  <a:cubicBezTo>
                    <a:pt x="104" y="24"/>
                    <a:pt x="104" y="24"/>
                    <a:pt x="104" y="24"/>
                  </a:cubicBezTo>
                  <a:cubicBezTo>
                    <a:pt x="103" y="23"/>
                    <a:pt x="103" y="23"/>
                    <a:pt x="103" y="23"/>
                  </a:cubicBezTo>
                  <a:cubicBezTo>
                    <a:pt x="90" y="10"/>
                    <a:pt x="90" y="10"/>
                    <a:pt x="90" y="10"/>
                  </a:cubicBezTo>
                  <a:cubicBezTo>
                    <a:pt x="89" y="9"/>
                    <a:pt x="89" y="9"/>
                    <a:pt x="89" y="9"/>
                  </a:cubicBezTo>
                  <a:cubicBezTo>
                    <a:pt x="87" y="9"/>
                    <a:pt x="87" y="9"/>
                    <a:pt x="87" y="9"/>
                  </a:cubicBezTo>
                  <a:cubicBezTo>
                    <a:pt x="31" y="9"/>
                    <a:pt x="31" y="9"/>
                    <a:pt x="31" y="9"/>
                  </a:cubicBezTo>
                  <a:cubicBezTo>
                    <a:pt x="31" y="12"/>
                    <a:pt x="31" y="14"/>
                    <a:pt x="31" y="17"/>
                  </a:cubicBezTo>
                  <a:cubicBezTo>
                    <a:pt x="84" y="17"/>
                    <a:pt x="84" y="17"/>
                    <a:pt x="84" y="17"/>
                  </a:cubicBezTo>
                  <a:cubicBezTo>
                    <a:pt x="83" y="28"/>
                    <a:pt x="83" y="28"/>
                    <a:pt x="83" y="28"/>
                  </a:cubicBezTo>
                  <a:cubicBezTo>
                    <a:pt x="83" y="30"/>
                    <a:pt x="83" y="30"/>
                    <a:pt x="83" y="30"/>
                  </a:cubicBezTo>
                  <a:cubicBezTo>
                    <a:pt x="85" y="30"/>
                    <a:pt x="85" y="30"/>
                    <a:pt x="85" y="30"/>
                  </a:cubicBezTo>
                  <a:cubicBezTo>
                    <a:pt x="97" y="29"/>
                    <a:pt x="97" y="29"/>
                    <a:pt x="97" y="29"/>
                  </a:cubicBezTo>
                  <a:cubicBezTo>
                    <a:pt x="97" y="65"/>
                    <a:pt x="97" y="65"/>
                    <a:pt x="97" y="65"/>
                  </a:cubicBezTo>
                  <a:cubicBezTo>
                    <a:pt x="79" y="65"/>
                    <a:pt x="57" y="65"/>
                    <a:pt x="18" y="65"/>
                  </a:cubicBezTo>
                  <a:close/>
                  <a:moveTo>
                    <a:pt x="95" y="26"/>
                  </a:moveTo>
                  <a:cubicBezTo>
                    <a:pt x="86" y="26"/>
                    <a:pt x="86" y="26"/>
                    <a:pt x="86" y="26"/>
                  </a:cubicBezTo>
                  <a:cubicBezTo>
                    <a:pt x="87" y="18"/>
                    <a:pt x="87" y="18"/>
                    <a:pt x="87" y="18"/>
                  </a:cubicBezTo>
                  <a:cubicBezTo>
                    <a:pt x="95" y="26"/>
                    <a:pt x="95" y="26"/>
                    <a:pt x="95" y="26"/>
                  </a:cubicBezTo>
                  <a:close/>
                  <a:moveTo>
                    <a:pt x="32" y="43"/>
                  </a:moveTo>
                  <a:cubicBezTo>
                    <a:pt x="74" y="43"/>
                    <a:pt x="74" y="43"/>
                    <a:pt x="74" y="43"/>
                  </a:cubicBezTo>
                  <a:cubicBezTo>
                    <a:pt x="74" y="45"/>
                    <a:pt x="74" y="45"/>
                    <a:pt x="74" y="45"/>
                  </a:cubicBezTo>
                  <a:cubicBezTo>
                    <a:pt x="32" y="45"/>
                    <a:pt x="32" y="45"/>
                    <a:pt x="32" y="45"/>
                  </a:cubicBezTo>
                  <a:cubicBezTo>
                    <a:pt x="32" y="43"/>
                    <a:pt x="32" y="43"/>
                    <a:pt x="32" y="43"/>
                  </a:cubicBezTo>
                  <a:close/>
                  <a:moveTo>
                    <a:pt x="32" y="32"/>
                  </a:moveTo>
                  <a:cubicBezTo>
                    <a:pt x="71" y="32"/>
                    <a:pt x="71" y="32"/>
                    <a:pt x="71" y="32"/>
                  </a:cubicBezTo>
                  <a:cubicBezTo>
                    <a:pt x="71" y="35"/>
                    <a:pt x="71" y="35"/>
                    <a:pt x="71" y="35"/>
                  </a:cubicBezTo>
                  <a:cubicBezTo>
                    <a:pt x="32" y="35"/>
                    <a:pt x="32" y="35"/>
                    <a:pt x="32" y="35"/>
                  </a:cubicBezTo>
                  <a:cubicBezTo>
                    <a:pt x="32" y="32"/>
                    <a:pt x="32" y="32"/>
                    <a:pt x="32" y="32"/>
                  </a:cubicBezTo>
                  <a:close/>
                  <a:moveTo>
                    <a:pt x="32" y="22"/>
                  </a:moveTo>
                  <a:cubicBezTo>
                    <a:pt x="71" y="22"/>
                    <a:pt x="71" y="22"/>
                    <a:pt x="71" y="22"/>
                  </a:cubicBezTo>
                  <a:cubicBezTo>
                    <a:pt x="71" y="25"/>
                    <a:pt x="71" y="25"/>
                    <a:pt x="71" y="25"/>
                  </a:cubicBezTo>
                  <a:cubicBezTo>
                    <a:pt x="32" y="25"/>
                    <a:pt x="32" y="25"/>
                    <a:pt x="32" y="25"/>
                  </a:cubicBezTo>
                  <a:cubicBezTo>
                    <a:pt x="32" y="22"/>
                    <a:pt x="32" y="22"/>
                    <a:pt x="32" y="22"/>
                  </a:cubicBezTo>
                  <a:close/>
                  <a:moveTo>
                    <a:pt x="3" y="66"/>
                  </a:moveTo>
                  <a:cubicBezTo>
                    <a:pt x="9" y="68"/>
                    <a:pt x="9" y="68"/>
                    <a:pt x="9" y="68"/>
                  </a:cubicBezTo>
                  <a:cubicBezTo>
                    <a:pt x="9" y="74"/>
                    <a:pt x="9" y="74"/>
                    <a:pt x="9" y="74"/>
                  </a:cubicBezTo>
                  <a:cubicBezTo>
                    <a:pt x="5" y="79"/>
                    <a:pt x="5" y="79"/>
                    <a:pt x="5" y="79"/>
                  </a:cubicBezTo>
                  <a:cubicBezTo>
                    <a:pt x="4" y="79"/>
                    <a:pt x="3" y="79"/>
                    <a:pt x="2" y="78"/>
                  </a:cubicBezTo>
                  <a:cubicBezTo>
                    <a:pt x="0" y="72"/>
                    <a:pt x="0" y="72"/>
                    <a:pt x="0" y="72"/>
                  </a:cubicBezTo>
                  <a:cubicBezTo>
                    <a:pt x="3" y="66"/>
                    <a:pt x="3" y="66"/>
                    <a:pt x="3" y="66"/>
                  </a:cubicBezTo>
                  <a:close/>
                  <a:moveTo>
                    <a:pt x="4" y="48"/>
                  </a:moveTo>
                  <a:cubicBezTo>
                    <a:pt x="3" y="53"/>
                    <a:pt x="3" y="59"/>
                    <a:pt x="2" y="65"/>
                  </a:cubicBezTo>
                  <a:cubicBezTo>
                    <a:pt x="5" y="65"/>
                    <a:pt x="9" y="66"/>
                    <a:pt x="12" y="67"/>
                  </a:cubicBezTo>
                  <a:cubicBezTo>
                    <a:pt x="14" y="61"/>
                    <a:pt x="15" y="56"/>
                    <a:pt x="17" y="51"/>
                  </a:cubicBezTo>
                  <a:cubicBezTo>
                    <a:pt x="13" y="50"/>
                    <a:pt x="9" y="49"/>
                    <a:pt x="4" y="4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pic>
        <p:nvPicPr>
          <p:cNvPr id="55" name="图片 54">
            <a:extLst>
              <a:ext uri="{FF2B5EF4-FFF2-40B4-BE49-F238E27FC236}">
                <a16:creationId xmlns:a16="http://schemas.microsoft.com/office/drawing/2014/main" id="{FF8D0994-BE57-4B0A-A3D6-2FA4FF4F60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grpSp>
        <p:nvGrpSpPr>
          <p:cNvPr id="60" name="组合 59">
            <a:extLst>
              <a:ext uri="{FF2B5EF4-FFF2-40B4-BE49-F238E27FC236}">
                <a16:creationId xmlns:a16="http://schemas.microsoft.com/office/drawing/2014/main" id="{11399697-BCA9-4EF1-8768-EB17F63B24F4}"/>
              </a:ext>
            </a:extLst>
          </p:cNvPr>
          <p:cNvGrpSpPr/>
          <p:nvPr/>
        </p:nvGrpSpPr>
        <p:grpSpPr>
          <a:xfrm>
            <a:off x="4759863" y="2203225"/>
            <a:ext cx="749673" cy="751323"/>
            <a:chOff x="3437021" y="1033173"/>
            <a:chExt cx="863676" cy="865577"/>
          </a:xfrm>
        </p:grpSpPr>
        <p:sp>
          <p:nvSpPr>
            <p:cNvPr id="61" name="椭圆 18">
              <a:extLst>
                <a:ext uri="{FF2B5EF4-FFF2-40B4-BE49-F238E27FC236}">
                  <a16:creationId xmlns:a16="http://schemas.microsoft.com/office/drawing/2014/main" id="{69C46EDC-39D4-4260-A4B3-4AED62E945F8}"/>
                </a:ext>
              </a:extLst>
            </p:cNvPr>
            <p:cNvSpPr>
              <a:spLocks noChangeArrowheads="1"/>
            </p:cNvSpPr>
            <p:nvPr/>
          </p:nvSpPr>
          <p:spPr bwMode="auto">
            <a:xfrm>
              <a:off x="3437021" y="1033173"/>
              <a:ext cx="863676" cy="865577"/>
            </a:xfrm>
            <a:prstGeom prst="ellipse">
              <a:avLst/>
            </a:prstGeom>
            <a:solidFill>
              <a:schemeClr val="accent1"/>
            </a:solidFill>
            <a:ln w="38100">
              <a:solidFill>
                <a:schemeClr val="bg1">
                  <a:lumMod val="75000"/>
                </a:schemeClr>
              </a:solidFill>
              <a:miter lim="800000"/>
              <a:headEnd/>
              <a:tailEnd/>
            </a:ln>
          </p:spPr>
          <p:txBody>
            <a:bodyPr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endParaRPr lang="zh-CN" altLang="zh-CN" sz="1800">
                <a:solidFill>
                  <a:srgbClr val="FFFFFF"/>
                </a:solidFill>
                <a:sym typeface="微软雅黑" pitchFamily="34" charset="-122"/>
              </a:endParaRPr>
            </a:p>
          </p:txBody>
        </p:sp>
        <p:pic>
          <p:nvPicPr>
            <p:cNvPr id="62" name="图片 61">
              <a:extLst>
                <a:ext uri="{FF2B5EF4-FFF2-40B4-BE49-F238E27FC236}">
                  <a16:creationId xmlns:a16="http://schemas.microsoft.com/office/drawing/2014/main" id="{EC29DB85-2E62-4E74-9FCD-F458CF7CCABA}"/>
                </a:ext>
              </a:extLst>
            </p:cNvPr>
            <p:cNvPicPr>
              <a:picLocks noChangeAspect="1"/>
            </p:cNvPicPr>
            <p:nvPr/>
          </p:nvPicPr>
          <p:blipFill>
            <a:blip r:embed="rId3" cstate="screen">
              <a:biLevel thresh="25000"/>
              <a:extLst>
                <a:ext uri="{28A0092B-C50C-407E-A947-70E740481C1C}">
                  <a14:useLocalDpi xmlns:a14="http://schemas.microsoft.com/office/drawing/2010/main"/>
                </a:ext>
              </a:extLst>
            </a:blip>
            <a:stretch>
              <a:fillRect/>
            </a:stretch>
          </p:blipFill>
          <p:spPr>
            <a:xfrm>
              <a:off x="3587275" y="1169757"/>
              <a:ext cx="552644" cy="566109"/>
            </a:xfrm>
            <a:prstGeom prst="rect">
              <a:avLst/>
            </a:prstGeom>
          </p:spPr>
        </p:pic>
      </p:grpSp>
      <p:sp>
        <p:nvSpPr>
          <p:cNvPr id="63" name="矩形 66">
            <a:extLst>
              <a:ext uri="{FF2B5EF4-FFF2-40B4-BE49-F238E27FC236}">
                <a16:creationId xmlns:a16="http://schemas.microsoft.com/office/drawing/2014/main" id="{9214F1C8-6978-4347-B2F0-A408AF95B205}"/>
              </a:ext>
            </a:extLst>
          </p:cNvPr>
          <p:cNvSpPr>
            <a:spLocks noChangeArrowheads="1"/>
          </p:cNvSpPr>
          <p:nvPr/>
        </p:nvSpPr>
        <p:spPr bwMode="auto">
          <a:xfrm>
            <a:off x="3306064" y="3427346"/>
            <a:ext cx="1133254" cy="55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8" tIns="45719" rIns="91438" bIns="45719">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r>
              <a:rPr lang="zh-CN" altLang="en-US" sz="1500" b="1" dirty="0">
                <a:solidFill>
                  <a:schemeClr val="accent1"/>
                </a:solidFill>
                <a:sym typeface="微软雅黑" pitchFamily="34" charset="-122"/>
              </a:rPr>
              <a:t>研究目标</a:t>
            </a:r>
            <a:endParaRPr lang="en-US" altLang="zh-CN" sz="1500" b="1" dirty="0">
              <a:solidFill>
                <a:schemeClr val="accent1"/>
              </a:solidFill>
              <a:sym typeface="微软雅黑" pitchFamily="34" charset="-122"/>
            </a:endParaRPr>
          </a:p>
          <a:p>
            <a:pPr algn="ctr" eaLnBrk="1" hangingPunct="1">
              <a:spcBef>
                <a:spcPct val="0"/>
              </a:spcBef>
              <a:buFont typeface="Arial" charset="0"/>
              <a:buNone/>
            </a:pPr>
            <a:r>
              <a:rPr lang="zh-CN" altLang="en-US" sz="1500" b="1" dirty="0">
                <a:solidFill>
                  <a:schemeClr val="accent1"/>
                </a:solidFill>
                <a:sym typeface="微软雅黑" pitchFamily="34" charset="-122"/>
              </a:rPr>
              <a:t>与内容</a:t>
            </a:r>
          </a:p>
        </p:txBody>
      </p:sp>
    </p:spTree>
    <p:extLst>
      <p:ext uri="{BB962C8B-B14F-4D97-AF65-F5344CB8AC3E}">
        <p14:creationId xmlns:p14="http://schemas.microsoft.com/office/powerpoint/2010/main" val="4256598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829E92D-BBC3-D2F6-1FB1-0283DE8695EA}"/>
              </a:ext>
            </a:extLst>
          </p:cNvPr>
          <p:cNvSpPr/>
          <p:nvPr/>
        </p:nvSpPr>
        <p:spPr>
          <a:xfrm>
            <a:off x="120274" y="1235611"/>
            <a:ext cx="3975951" cy="3055521"/>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FC3FED5E-4EE0-464C-8613-10B209C0AD37}"/>
              </a:ext>
            </a:extLst>
          </p:cNvPr>
          <p:cNvSpPr>
            <a:spLocks noGrp="1"/>
          </p:cNvSpPr>
          <p:nvPr>
            <p:ph type="sldNum" sz="quarter" idx="12"/>
          </p:nvPr>
        </p:nvSpPr>
        <p:spPr/>
        <p:txBody>
          <a:bodyPr/>
          <a:lstStyle/>
          <a:p>
            <a:r>
              <a:rPr lang="en-US" altLang="zh-CN"/>
              <a:t>2</a:t>
            </a:r>
            <a:endParaRPr lang="zh-CN" altLang="en-US" dirty="0"/>
          </a:p>
        </p:txBody>
      </p:sp>
      <p:sp>
        <p:nvSpPr>
          <p:cNvPr id="31" name="矩形 30">
            <a:extLst>
              <a:ext uri="{FF2B5EF4-FFF2-40B4-BE49-F238E27FC236}">
                <a16:creationId xmlns:a16="http://schemas.microsoft.com/office/drawing/2014/main" id="{9E096731-F0CE-4A94-A6AC-C8D83AC53AD5}"/>
              </a:ext>
            </a:extLst>
          </p:cNvPr>
          <p:cNvSpPr/>
          <p:nvPr/>
        </p:nvSpPr>
        <p:spPr>
          <a:xfrm>
            <a:off x="580526" y="78941"/>
            <a:ext cx="2059030"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1 </a:t>
            </a:r>
            <a:r>
              <a:rPr kumimoji="0" lang="zh-CN" altLang="en-US"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研究背景与意义</a:t>
            </a:r>
          </a:p>
        </p:txBody>
      </p:sp>
      <p:sp>
        <p:nvSpPr>
          <p:cNvPr id="32" name="矩形 31">
            <a:extLst>
              <a:ext uri="{FF2B5EF4-FFF2-40B4-BE49-F238E27FC236}">
                <a16:creationId xmlns:a16="http://schemas.microsoft.com/office/drawing/2014/main" id="{2F8FD3CB-7F8C-4B1D-8D1F-A8CCDA39C31E}"/>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0AA6B4D6-54B4-437C-B073-F634492D7B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pic>
        <p:nvPicPr>
          <p:cNvPr id="6" name="图片 5">
            <a:extLst>
              <a:ext uri="{FF2B5EF4-FFF2-40B4-BE49-F238E27FC236}">
                <a16:creationId xmlns:a16="http://schemas.microsoft.com/office/drawing/2014/main" id="{F07FC30E-D3D6-B212-BACD-2E6EC7D64A5C}"/>
              </a:ext>
            </a:extLst>
          </p:cNvPr>
          <p:cNvPicPr>
            <a:picLocks/>
          </p:cNvPicPr>
          <p:nvPr/>
        </p:nvPicPr>
        <p:blipFill>
          <a:blip r:embed="rId4"/>
          <a:srcRect t="6340" r="14520" b="6816"/>
          <a:stretch>
            <a:fillRect/>
          </a:stretch>
        </p:blipFill>
        <p:spPr>
          <a:xfrm>
            <a:off x="2522307" y="1263693"/>
            <a:ext cx="1215695" cy="2745582"/>
          </a:xfrm>
          <a:prstGeom prst="rect">
            <a:avLst/>
          </a:prstGeom>
        </p:spPr>
      </p:pic>
      <p:pic>
        <p:nvPicPr>
          <p:cNvPr id="7" name="图片 6" descr="sonic_waveform">
            <a:extLst>
              <a:ext uri="{FF2B5EF4-FFF2-40B4-BE49-F238E27FC236}">
                <a16:creationId xmlns:a16="http://schemas.microsoft.com/office/drawing/2014/main" id="{F01611BA-8E5B-E4BB-E723-FD38BE6A085C}"/>
              </a:ext>
            </a:extLst>
          </p:cNvPr>
          <p:cNvPicPr>
            <a:picLocks noChangeAspect="1"/>
          </p:cNvPicPr>
          <p:nvPr/>
        </p:nvPicPr>
        <p:blipFill>
          <a:blip r:embed="rId5"/>
          <a:srcRect l="4007" r="7117"/>
          <a:stretch>
            <a:fillRect/>
          </a:stretch>
        </p:blipFill>
        <p:spPr>
          <a:xfrm>
            <a:off x="4660490" y="2083618"/>
            <a:ext cx="1748935" cy="1476121"/>
          </a:xfrm>
          <a:prstGeom prst="rect">
            <a:avLst/>
          </a:prstGeom>
        </p:spPr>
      </p:pic>
      <p:sp>
        <p:nvSpPr>
          <p:cNvPr id="8" name="右箭头 6">
            <a:extLst>
              <a:ext uri="{FF2B5EF4-FFF2-40B4-BE49-F238E27FC236}">
                <a16:creationId xmlns:a16="http://schemas.microsoft.com/office/drawing/2014/main" id="{0C73708D-AE1B-40F4-D3C5-3BFAA342C184}"/>
              </a:ext>
            </a:extLst>
          </p:cNvPr>
          <p:cNvSpPr/>
          <p:nvPr/>
        </p:nvSpPr>
        <p:spPr>
          <a:xfrm rot="10800000">
            <a:off x="4175743" y="2703344"/>
            <a:ext cx="294788" cy="160958"/>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D230BCB0-BB3F-185C-DF20-FA38F0D65E8C}"/>
              </a:ext>
            </a:extLst>
          </p:cNvPr>
          <p:cNvSpPr txBox="1"/>
          <p:nvPr/>
        </p:nvSpPr>
        <p:spPr>
          <a:xfrm>
            <a:off x="2710697" y="3959077"/>
            <a:ext cx="990958" cy="332055"/>
          </a:xfrm>
          <a:prstGeom prst="rect">
            <a:avLst/>
          </a:prstGeom>
          <a:noFill/>
        </p:spPr>
        <p:txBody>
          <a:bodyPr wrap="square" rtlCol="0">
            <a:noAutofit/>
          </a:bodyPr>
          <a:lstStyle/>
          <a:p>
            <a:pPr indent="0">
              <a:lnSpc>
                <a:spcPct val="130000"/>
              </a:lnSpc>
              <a:buFont typeface="Arial" panose="020B0604020202090204" pitchFamily="34" charset="0"/>
              <a:buNone/>
            </a:pPr>
            <a:r>
              <a:rPr lang="en-US" altLang="zh-CN" sz="1200" dirty="0">
                <a:solidFill>
                  <a:schemeClr val="tx1"/>
                </a:solidFill>
                <a:uFillTx/>
                <a:latin typeface="Times New Roman" panose="02020503050405090304" pitchFamily="18" charset="0"/>
              </a:rPr>
              <a:t>CAST Image</a:t>
            </a:r>
          </a:p>
        </p:txBody>
      </p:sp>
      <p:sp>
        <p:nvSpPr>
          <p:cNvPr id="10" name="文本框 9">
            <a:extLst>
              <a:ext uri="{FF2B5EF4-FFF2-40B4-BE49-F238E27FC236}">
                <a16:creationId xmlns:a16="http://schemas.microsoft.com/office/drawing/2014/main" id="{79454592-CF68-89D4-8E00-C1D804DEC216}"/>
              </a:ext>
            </a:extLst>
          </p:cNvPr>
          <p:cNvSpPr txBox="1"/>
          <p:nvPr/>
        </p:nvSpPr>
        <p:spPr>
          <a:xfrm>
            <a:off x="4745208" y="3474744"/>
            <a:ext cx="1810500" cy="344711"/>
          </a:xfrm>
          <a:prstGeom prst="rect">
            <a:avLst/>
          </a:prstGeom>
          <a:noFill/>
        </p:spPr>
        <p:txBody>
          <a:bodyPr wrap="square" rtlCol="0">
            <a:noAutofit/>
          </a:bodyPr>
          <a:lstStyle/>
          <a:p>
            <a:pPr indent="0">
              <a:lnSpc>
                <a:spcPct val="130000"/>
              </a:lnSpc>
              <a:buFont typeface="Arial" panose="020B0604020202090204" pitchFamily="34" charset="0"/>
              <a:buNone/>
            </a:pPr>
            <a:r>
              <a:rPr lang="en-US" altLang="zh-CN" sz="1200" dirty="0">
                <a:solidFill>
                  <a:schemeClr val="tx1"/>
                </a:solidFill>
                <a:uFillTx/>
                <a:latin typeface="Times New Roman" panose="02020503050405090304" pitchFamily="18" charset="0"/>
              </a:rPr>
              <a:t>XSILMR01-Side A image</a:t>
            </a:r>
          </a:p>
        </p:txBody>
      </p:sp>
      <p:pic>
        <p:nvPicPr>
          <p:cNvPr id="12" name="图片 11">
            <a:extLst>
              <a:ext uri="{FF2B5EF4-FFF2-40B4-BE49-F238E27FC236}">
                <a16:creationId xmlns:a16="http://schemas.microsoft.com/office/drawing/2014/main" id="{B7D9D275-946A-D5D5-CC89-D911C287428A}"/>
              </a:ext>
            </a:extLst>
          </p:cNvPr>
          <p:cNvPicPr>
            <a:picLocks noChangeAspect="1"/>
          </p:cNvPicPr>
          <p:nvPr/>
        </p:nvPicPr>
        <p:blipFill>
          <a:blip r:embed="rId6"/>
          <a:stretch>
            <a:fillRect/>
          </a:stretch>
        </p:blipFill>
        <p:spPr>
          <a:xfrm>
            <a:off x="6768020" y="1419237"/>
            <a:ext cx="2252918" cy="2682179"/>
          </a:xfrm>
          <a:prstGeom prst="rect">
            <a:avLst/>
          </a:prstGeom>
        </p:spPr>
      </p:pic>
      <p:pic>
        <p:nvPicPr>
          <p:cNvPr id="14" name="图片 13">
            <a:extLst>
              <a:ext uri="{FF2B5EF4-FFF2-40B4-BE49-F238E27FC236}">
                <a16:creationId xmlns:a16="http://schemas.microsoft.com/office/drawing/2014/main" id="{F07FEE3D-04A9-45B5-177A-ED7177F49099}"/>
              </a:ext>
            </a:extLst>
          </p:cNvPr>
          <p:cNvPicPr>
            <a:picLocks noChangeAspect="1"/>
          </p:cNvPicPr>
          <p:nvPr/>
        </p:nvPicPr>
        <p:blipFill>
          <a:blip r:embed="rId7"/>
          <a:stretch>
            <a:fillRect/>
          </a:stretch>
        </p:blipFill>
        <p:spPr>
          <a:xfrm>
            <a:off x="205707" y="1534874"/>
            <a:ext cx="1598671" cy="2450903"/>
          </a:xfrm>
          <a:prstGeom prst="rect">
            <a:avLst/>
          </a:prstGeom>
        </p:spPr>
      </p:pic>
      <p:sp>
        <p:nvSpPr>
          <p:cNvPr id="15" name="右箭头 6">
            <a:extLst>
              <a:ext uri="{FF2B5EF4-FFF2-40B4-BE49-F238E27FC236}">
                <a16:creationId xmlns:a16="http://schemas.microsoft.com/office/drawing/2014/main" id="{7D85CB59-AAB1-814E-2A1E-D78E623A63CE}"/>
              </a:ext>
            </a:extLst>
          </p:cNvPr>
          <p:cNvSpPr/>
          <p:nvPr/>
        </p:nvSpPr>
        <p:spPr>
          <a:xfrm>
            <a:off x="2016690" y="2679847"/>
            <a:ext cx="294788" cy="160958"/>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3E2FD98E-C37B-5650-66D8-1EA27D9EA816}"/>
              </a:ext>
            </a:extLst>
          </p:cNvPr>
          <p:cNvSpPr txBox="1"/>
          <p:nvPr/>
        </p:nvSpPr>
        <p:spPr>
          <a:xfrm>
            <a:off x="1623218" y="852368"/>
            <a:ext cx="970061" cy="342338"/>
          </a:xfrm>
          <a:prstGeom prst="rect">
            <a:avLst/>
          </a:prstGeom>
          <a:noFill/>
        </p:spPr>
        <p:txBody>
          <a:bodyPr wrap="square" rtlCol="0">
            <a:spAutoFit/>
          </a:bodyPr>
          <a:lstStyle/>
          <a:p>
            <a:pPr>
              <a:lnSpc>
                <a:spcPct val="130000"/>
              </a:lnSpc>
            </a:pPr>
            <a:r>
              <a:rPr lang="zh-CN" altLang="en-US" sz="1400" b="1" dirty="0">
                <a:latin typeface="Times New Roman" panose="02020603050405020304" pitchFamily="18" charset="0"/>
                <a:ea typeface="宋体" panose="02010600030101010101" pitchFamily="2" charset="-122"/>
              </a:rPr>
              <a:t>超声测井</a:t>
            </a:r>
          </a:p>
        </p:txBody>
      </p:sp>
      <p:sp>
        <p:nvSpPr>
          <p:cNvPr id="18" name="右箭头 6">
            <a:extLst>
              <a:ext uri="{FF2B5EF4-FFF2-40B4-BE49-F238E27FC236}">
                <a16:creationId xmlns:a16="http://schemas.microsoft.com/office/drawing/2014/main" id="{FB0E3DA9-815A-6162-555E-355E91C27630}"/>
              </a:ext>
            </a:extLst>
          </p:cNvPr>
          <p:cNvSpPr/>
          <p:nvPr/>
        </p:nvSpPr>
        <p:spPr>
          <a:xfrm rot="10800000">
            <a:off x="6453100" y="2679847"/>
            <a:ext cx="294788" cy="160958"/>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802FD9C9-D456-8AFD-4A34-43C44A339091}"/>
              </a:ext>
            </a:extLst>
          </p:cNvPr>
          <p:cNvSpPr/>
          <p:nvPr/>
        </p:nvSpPr>
        <p:spPr>
          <a:xfrm>
            <a:off x="4616814" y="1236005"/>
            <a:ext cx="4404124" cy="3048645"/>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7421EF6-A828-305A-433F-0150242567D1}"/>
              </a:ext>
            </a:extLst>
          </p:cNvPr>
          <p:cNvSpPr txBox="1"/>
          <p:nvPr/>
        </p:nvSpPr>
        <p:spPr>
          <a:xfrm>
            <a:off x="6197436" y="913183"/>
            <a:ext cx="910765" cy="342338"/>
          </a:xfrm>
          <a:prstGeom prst="rect">
            <a:avLst/>
          </a:prstGeom>
          <a:noFill/>
        </p:spPr>
        <p:txBody>
          <a:bodyPr wrap="square" rtlCol="0">
            <a:spAutoFit/>
          </a:bodyPr>
          <a:lstStyle/>
          <a:p>
            <a:pPr>
              <a:lnSpc>
                <a:spcPct val="130000"/>
              </a:lnSpc>
            </a:pPr>
            <a:r>
              <a:rPr lang="zh-CN" altLang="en-US" sz="1400" b="1" dirty="0">
                <a:latin typeface="Times New Roman" panose="02020603050405020304" pitchFamily="18" charset="0"/>
                <a:ea typeface="宋体" panose="02010600030101010101" pitchFamily="2" charset="-122"/>
              </a:rPr>
              <a:t>声波测井</a:t>
            </a:r>
          </a:p>
        </p:txBody>
      </p:sp>
      <p:sp>
        <p:nvSpPr>
          <p:cNvPr id="22" name="文本框 21">
            <a:extLst>
              <a:ext uri="{FF2B5EF4-FFF2-40B4-BE49-F238E27FC236}">
                <a16:creationId xmlns:a16="http://schemas.microsoft.com/office/drawing/2014/main" id="{628AED23-72F4-B36B-5A4D-307D86BFBE0A}"/>
              </a:ext>
            </a:extLst>
          </p:cNvPr>
          <p:cNvSpPr txBox="1"/>
          <p:nvPr/>
        </p:nvSpPr>
        <p:spPr>
          <a:xfrm>
            <a:off x="497053" y="3985777"/>
            <a:ext cx="990958" cy="332055"/>
          </a:xfrm>
          <a:prstGeom prst="rect">
            <a:avLst/>
          </a:prstGeom>
          <a:noFill/>
        </p:spPr>
        <p:txBody>
          <a:bodyPr wrap="square" rtlCol="0">
            <a:noAutofit/>
          </a:bodyPr>
          <a:lstStyle/>
          <a:p>
            <a:pPr indent="0">
              <a:lnSpc>
                <a:spcPct val="130000"/>
              </a:lnSpc>
              <a:buFont typeface="Arial" panose="020B0604020202090204" pitchFamily="34" charset="0"/>
              <a:buNone/>
            </a:pPr>
            <a:r>
              <a:rPr lang="en-US" altLang="zh-CN" sz="1200" dirty="0">
                <a:solidFill>
                  <a:schemeClr val="tx1"/>
                </a:solidFill>
                <a:uFillTx/>
                <a:latin typeface="Times New Roman" panose="02020503050405090304" pitchFamily="18" charset="0"/>
              </a:rPr>
              <a:t>CAST </a:t>
            </a:r>
            <a:r>
              <a:rPr lang="en-US" altLang="zh-CN" sz="1200" dirty="0">
                <a:latin typeface="Times New Roman" panose="02020503050405090304" pitchFamily="18" charset="0"/>
              </a:rPr>
              <a:t>Tool</a:t>
            </a:r>
            <a:endParaRPr lang="en-US" altLang="zh-CN" sz="1200" dirty="0">
              <a:solidFill>
                <a:schemeClr val="tx1"/>
              </a:solidFill>
              <a:uFillTx/>
              <a:latin typeface="Times New Roman" panose="02020503050405090304" pitchFamily="18" charset="0"/>
            </a:endParaRPr>
          </a:p>
        </p:txBody>
      </p:sp>
      <p:sp>
        <p:nvSpPr>
          <p:cNvPr id="23" name="文本框 22">
            <a:extLst>
              <a:ext uri="{FF2B5EF4-FFF2-40B4-BE49-F238E27FC236}">
                <a16:creationId xmlns:a16="http://schemas.microsoft.com/office/drawing/2014/main" id="{0B910FCF-26B0-88AC-1612-DCF1D6356984}"/>
              </a:ext>
            </a:extLst>
          </p:cNvPr>
          <p:cNvSpPr txBox="1"/>
          <p:nvPr/>
        </p:nvSpPr>
        <p:spPr>
          <a:xfrm>
            <a:off x="5185145" y="4484437"/>
            <a:ext cx="2935346" cy="342338"/>
          </a:xfrm>
          <a:prstGeom prst="rect">
            <a:avLst/>
          </a:prstGeom>
          <a:noFill/>
        </p:spPr>
        <p:txBody>
          <a:bodyPr wrap="square" rtlCol="0">
            <a:spAutoFit/>
          </a:bodyPr>
          <a:lstStyle/>
          <a:p>
            <a:pPr>
              <a:lnSpc>
                <a:spcPct val="130000"/>
              </a:lnSpc>
            </a:pPr>
            <a:r>
              <a:rPr lang="zh-CN" altLang="en-US" sz="1400" dirty="0">
                <a:latin typeface="Times New Roman" panose="02020603050405020304" pitchFamily="18" charset="0"/>
                <a:ea typeface="宋体" panose="02010600030101010101" pitchFamily="2" charset="-122"/>
              </a:rPr>
              <a:t>声波：便宜、全覆盖，但分辨率低</a:t>
            </a:r>
          </a:p>
        </p:txBody>
      </p:sp>
      <p:sp>
        <p:nvSpPr>
          <p:cNvPr id="24" name="文本框 23">
            <a:extLst>
              <a:ext uri="{FF2B5EF4-FFF2-40B4-BE49-F238E27FC236}">
                <a16:creationId xmlns:a16="http://schemas.microsoft.com/office/drawing/2014/main" id="{311AC13F-DFB5-B904-9617-06A8A1AD6A66}"/>
              </a:ext>
            </a:extLst>
          </p:cNvPr>
          <p:cNvSpPr txBox="1"/>
          <p:nvPr/>
        </p:nvSpPr>
        <p:spPr>
          <a:xfrm>
            <a:off x="272674" y="4484437"/>
            <a:ext cx="2935346" cy="342338"/>
          </a:xfrm>
          <a:prstGeom prst="rect">
            <a:avLst/>
          </a:prstGeom>
          <a:noFill/>
        </p:spPr>
        <p:txBody>
          <a:bodyPr wrap="square" rtlCol="0">
            <a:spAutoFit/>
          </a:bodyPr>
          <a:lstStyle/>
          <a:p>
            <a:pPr>
              <a:lnSpc>
                <a:spcPct val="130000"/>
              </a:lnSpc>
            </a:pPr>
            <a:r>
              <a:rPr lang="en-US" altLang="zh-CN" sz="1400" dirty="0">
                <a:latin typeface="Times New Roman" panose="02020603050405020304" pitchFamily="18" charset="0"/>
                <a:ea typeface="宋体" panose="02010600030101010101" pitchFamily="2" charset="-122"/>
              </a:rPr>
              <a:t>CAST</a:t>
            </a:r>
            <a:r>
              <a:rPr lang="zh-CN" altLang="en-US" sz="1400" dirty="0">
                <a:latin typeface="Times New Roman" panose="02020603050405020304" pitchFamily="18" charset="0"/>
                <a:ea typeface="宋体" panose="02010600030101010101" pitchFamily="2" charset="-122"/>
              </a:rPr>
              <a:t>：高精度，但昂贵、覆盖窄</a:t>
            </a:r>
          </a:p>
        </p:txBody>
      </p:sp>
      <p:sp>
        <p:nvSpPr>
          <p:cNvPr id="27" name="矩形 26">
            <a:extLst>
              <a:ext uri="{FF2B5EF4-FFF2-40B4-BE49-F238E27FC236}">
                <a16:creationId xmlns:a16="http://schemas.microsoft.com/office/drawing/2014/main" id="{191B1E81-5452-B225-71EA-7184C4B2F646}"/>
              </a:ext>
            </a:extLst>
          </p:cNvPr>
          <p:cNvSpPr/>
          <p:nvPr/>
        </p:nvSpPr>
        <p:spPr>
          <a:xfrm>
            <a:off x="2903296" y="116544"/>
            <a:ext cx="4312844" cy="742306"/>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9" name="直接箭头连接符 28">
            <a:extLst>
              <a:ext uri="{FF2B5EF4-FFF2-40B4-BE49-F238E27FC236}">
                <a16:creationId xmlns:a16="http://schemas.microsoft.com/office/drawing/2014/main" id="{475BF431-0197-7CF0-5BF1-92FD28EE390A}"/>
              </a:ext>
            </a:extLst>
          </p:cNvPr>
          <p:cNvCxnSpPr>
            <a:cxnSpLocks/>
            <a:stCxn id="27" idx="3"/>
          </p:cNvCxnSpPr>
          <p:nvPr/>
        </p:nvCxnSpPr>
        <p:spPr>
          <a:xfrm>
            <a:off x="7216140" y="487697"/>
            <a:ext cx="844631" cy="1859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0D666278-7B0B-59FB-CFFF-999FCD73FBA7}"/>
              </a:ext>
            </a:extLst>
          </p:cNvPr>
          <p:cNvSpPr txBox="1"/>
          <p:nvPr/>
        </p:nvSpPr>
        <p:spPr>
          <a:xfrm>
            <a:off x="2949573" y="168494"/>
            <a:ext cx="4239177" cy="622414"/>
          </a:xfrm>
          <a:prstGeom prst="rect">
            <a:avLst/>
          </a:prstGeom>
          <a:noFill/>
        </p:spPr>
        <p:txBody>
          <a:bodyPr wrap="square" rtlCol="0">
            <a:spAutoFit/>
          </a:bodyPr>
          <a:lstStyle/>
          <a:p>
            <a:pPr>
              <a:lnSpc>
                <a:spcPct val="130000"/>
              </a:lnSpc>
            </a:pPr>
            <a:r>
              <a:rPr lang="zh-CN" altLang="en-US" sz="1400" dirty="0">
                <a:latin typeface="Times New Roman" panose="02020603050405020304" pitchFamily="18" charset="0"/>
                <a:ea typeface="宋体" panose="02010600030101010101" pitchFamily="2" charset="-122"/>
              </a:rPr>
              <a:t>固井质量是油气安全的关键，窜槽（</a:t>
            </a:r>
            <a:r>
              <a:rPr lang="en-US" altLang="zh-CN" sz="1400" dirty="0">
                <a:latin typeface="Times New Roman" panose="02020603050405020304" pitchFamily="18" charset="0"/>
                <a:ea typeface="宋体" panose="02010600030101010101" pitchFamily="2" charset="-122"/>
              </a:rPr>
              <a:t>Channeling</a:t>
            </a:r>
            <a:r>
              <a:rPr lang="zh-CN" altLang="en-US" sz="1400" dirty="0">
                <a:latin typeface="Times New Roman" panose="02020603050405020304" pitchFamily="18" charset="0"/>
                <a:ea typeface="宋体" panose="02010600030101010101" pitchFamily="2" charset="-122"/>
              </a:rPr>
              <a:t>）会导致严重事故。</a:t>
            </a:r>
          </a:p>
        </p:txBody>
      </p:sp>
      <p:cxnSp>
        <p:nvCxnSpPr>
          <p:cNvPr id="39" name="直接箭头连接符 38">
            <a:extLst>
              <a:ext uri="{FF2B5EF4-FFF2-40B4-BE49-F238E27FC236}">
                <a16:creationId xmlns:a16="http://schemas.microsoft.com/office/drawing/2014/main" id="{F79DBF52-03B6-E7A3-B773-D6A167011867}"/>
              </a:ext>
            </a:extLst>
          </p:cNvPr>
          <p:cNvCxnSpPr>
            <a:stCxn id="27" idx="1"/>
          </p:cNvCxnSpPr>
          <p:nvPr/>
        </p:nvCxnSpPr>
        <p:spPr>
          <a:xfrm flipH="1">
            <a:off x="1691640" y="487697"/>
            <a:ext cx="1211656" cy="2019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2780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9E096731-F0CE-4A94-A6AC-C8D83AC53AD5}"/>
              </a:ext>
            </a:extLst>
          </p:cNvPr>
          <p:cNvSpPr/>
          <p:nvPr/>
        </p:nvSpPr>
        <p:spPr>
          <a:xfrm>
            <a:off x="580526" y="78941"/>
            <a:ext cx="2497954"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2 </a:t>
            </a:r>
            <a:r>
              <a:rPr kumimoji="0" lang="zh-CN" altLang="en-US"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研国内外现状与问题</a:t>
            </a:r>
          </a:p>
        </p:txBody>
      </p:sp>
      <p:sp>
        <p:nvSpPr>
          <p:cNvPr id="32" name="矩形 31">
            <a:extLst>
              <a:ext uri="{FF2B5EF4-FFF2-40B4-BE49-F238E27FC236}">
                <a16:creationId xmlns:a16="http://schemas.microsoft.com/office/drawing/2014/main" id="{2F8FD3CB-7F8C-4B1D-8D1F-A8CCDA39C31E}"/>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0AA6B4D6-54B4-437C-B073-F634492D7B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sp>
        <p:nvSpPr>
          <p:cNvPr id="6" name="流程图: 接点 5">
            <a:extLst>
              <a:ext uri="{FF2B5EF4-FFF2-40B4-BE49-F238E27FC236}">
                <a16:creationId xmlns:a16="http://schemas.microsoft.com/office/drawing/2014/main" id="{02940496-3F51-401D-17D3-6FA7704C40E8}"/>
              </a:ext>
            </a:extLst>
          </p:cNvPr>
          <p:cNvSpPr/>
          <p:nvPr/>
        </p:nvSpPr>
        <p:spPr>
          <a:xfrm>
            <a:off x="291187" y="1860091"/>
            <a:ext cx="838200" cy="868680"/>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Times New Roman" panose="02020603050405020304" pitchFamily="18" charset="0"/>
                <a:ea typeface="宋体" panose="02010600030101010101" pitchFamily="2" charset="-122"/>
              </a:rPr>
              <a:t>物理驱动</a:t>
            </a:r>
          </a:p>
        </p:txBody>
      </p:sp>
      <p:sp>
        <p:nvSpPr>
          <p:cNvPr id="7" name="流程图: 接点 6">
            <a:extLst>
              <a:ext uri="{FF2B5EF4-FFF2-40B4-BE49-F238E27FC236}">
                <a16:creationId xmlns:a16="http://schemas.microsoft.com/office/drawing/2014/main" id="{B642E1B3-250D-FC5A-B555-F2157DA4FF45}"/>
              </a:ext>
            </a:extLst>
          </p:cNvPr>
          <p:cNvSpPr/>
          <p:nvPr/>
        </p:nvSpPr>
        <p:spPr>
          <a:xfrm>
            <a:off x="251676" y="3857611"/>
            <a:ext cx="838200" cy="868680"/>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Times New Roman" panose="02020603050405020304" pitchFamily="18" charset="0"/>
                <a:ea typeface="宋体" panose="02010600030101010101" pitchFamily="2" charset="-122"/>
              </a:rPr>
              <a:t>深度学习引入</a:t>
            </a:r>
          </a:p>
        </p:txBody>
      </p:sp>
      <p:sp>
        <p:nvSpPr>
          <p:cNvPr id="15" name="流程图: 接点 14">
            <a:extLst>
              <a:ext uri="{FF2B5EF4-FFF2-40B4-BE49-F238E27FC236}">
                <a16:creationId xmlns:a16="http://schemas.microsoft.com/office/drawing/2014/main" id="{FDEE1579-DCBC-758C-3F52-F2F14B996948}"/>
              </a:ext>
            </a:extLst>
          </p:cNvPr>
          <p:cNvSpPr/>
          <p:nvPr/>
        </p:nvSpPr>
        <p:spPr>
          <a:xfrm>
            <a:off x="1432744" y="1993078"/>
            <a:ext cx="632460" cy="602705"/>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dirty="0">
                <a:latin typeface="Times New Roman" panose="02020603050405020304" pitchFamily="18" charset="0"/>
                <a:ea typeface="宋体" panose="02010600030101010101" pitchFamily="2" charset="-122"/>
              </a:rPr>
              <a:t>1952</a:t>
            </a:r>
            <a:endParaRPr lang="zh-CN" altLang="en-US" sz="1000" b="1" dirty="0">
              <a:latin typeface="Times New Roman" panose="02020603050405020304" pitchFamily="18" charset="0"/>
              <a:ea typeface="宋体" panose="02010600030101010101" pitchFamily="2" charset="-122"/>
            </a:endParaRPr>
          </a:p>
        </p:txBody>
      </p:sp>
      <p:sp>
        <p:nvSpPr>
          <p:cNvPr id="17" name="流程图: 接点 16">
            <a:extLst>
              <a:ext uri="{FF2B5EF4-FFF2-40B4-BE49-F238E27FC236}">
                <a16:creationId xmlns:a16="http://schemas.microsoft.com/office/drawing/2014/main" id="{49CCC80A-FB49-C7A8-4634-FD51398BEBCD}"/>
              </a:ext>
            </a:extLst>
          </p:cNvPr>
          <p:cNvSpPr/>
          <p:nvPr/>
        </p:nvSpPr>
        <p:spPr>
          <a:xfrm>
            <a:off x="3266935" y="1982450"/>
            <a:ext cx="632460" cy="602705"/>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dirty="0">
                <a:latin typeface="Times New Roman" panose="02020603050405020304" pitchFamily="18" charset="0"/>
                <a:ea typeface="宋体" panose="02010600030101010101" pitchFamily="2" charset="-122"/>
              </a:rPr>
              <a:t>1984</a:t>
            </a:r>
            <a:endParaRPr lang="zh-CN" altLang="en-US" sz="1000" b="1" dirty="0">
              <a:latin typeface="Times New Roman" panose="02020603050405020304" pitchFamily="18" charset="0"/>
              <a:ea typeface="宋体" panose="02010600030101010101" pitchFamily="2" charset="-122"/>
            </a:endParaRPr>
          </a:p>
        </p:txBody>
      </p:sp>
      <p:sp>
        <p:nvSpPr>
          <p:cNvPr id="18" name="流程图: 接点 17">
            <a:extLst>
              <a:ext uri="{FF2B5EF4-FFF2-40B4-BE49-F238E27FC236}">
                <a16:creationId xmlns:a16="http://schemas.microsoft.com/office/drawing/2014/main" id="{3F7FB817-A5FF-053C-8B2D-0A8D90056244}"/>
              </a:ext>
            </a:extLst>
          </p:cNvPr>
          <p:cNvSpPr/>
          <p:nvPr/>
        </p:nvSpPr>
        <p:spPr>
          <a:xfrm>
            <a:off x="5109866" y="1982449"/>
            <a:ext cx="632460" cy="602705"/>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dirty="0">
                <a:latin typeface="Times New Roman" panose="02020603050405020304" pitchFamily="18" charset="0"/>
                <a:ea typeface="宋体" panose="02010600030101010101" pitchFamily="2" charset="-122"/>
              </a:rPr>
              <a:t>2016</a:t>
            </a:r>
            <a:endParaRPr lang="zh-CN" altLang="en-US" sz="1000" b="1" dirty="0">
              <a:latin typeface="Times New Roman" panose="02020603050405020304" pitchFamily="18" charset="0"/>
              <a:ea typeface="宋体" panose="02010600030101010101" pitchFamily="2" charset="-122"/>
            </a:endParaRPr>
          </a:p>
        </p:txBody>
      </p:sp>
      <p:sp>
        <p:nvSpPr>
          <p:cNvPr id="19" name="流程图: 接点 18">
            <a:extLst>
              <a:ext uri="{FF2B5EF4-FFF2-40B4-BE49-F238E27FC236}">
                <a16:creationId xmlns:a16="http://schemas.microsoft.com/office/drawing/2014/main" id="{EB3241AA-A658-D349-F908-AC804283C977}"/>
              </a:ext>
            </a:extLst>
          </p:cNvPr>
          <p:cNvSpPr/>
          <p:nvPr/>
        </p:nvSpPr>
        <p:spPr>
          <a:xfrm>
            <a:off x="7628644" y="1985998"/>
            <a:ext cx="632460" cy="602705"/>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dirty="0">
                <a:latin typeface="Times New Roman" panose="02020603050405020304" pitchFamily="18" charset="0"/>
                <a:ea typeface="宋体" panose="02010600030101010101" pitchFamily="2" charset="-122"/>
              </a:rPr>
              <a:t>2020</a:t>
            </a:r>
          </a:p>
        </p:txBody>
      </p:sp>
      <p:grpSp>
        <p:nvGrpSpPr>
          <p:cNvPr id="25" name="组合 24">
            <a:extLst>
              <a:ext uri="{FF2B5EF4-FFF2-40B4-BE49-F238E27FC236}">
                <a16:creationId xmlns:a16="http://schemas.microsoft.com/office/drawing/2014/main" id="{C9E8BFDE-D4E4-2C6D-913F-881AC7F56B48}"/>
              </a:ext>
            </a:extLst>
          </p:cNvPr>
          <p:cNvGrpSpPr/>
          <p:nvPr/>
        </p:nvGrpSpPr>
        <p:grpSpPr>
          <a:xfrm flipH="1">
            <a:off x="111739" y="1081291"/>
            <a:ext cx="1677656" cy="901159"/>
            <a:chOff x="895845" y="1475950"/>
            <a:chExt cx="2130746" cy="1406950"/>
          </a:xfrm>
        </p:grpSpPr>
        <p:sp>
          <p:nvSpPr>
            <p:cNvPr id="26" name="椭圆 25">
              <a:extLst>
                <a:ext uri="{FF2B5EF4-FFF2-40B4-BE49-F238E27FC236}">
                  <a16:creationId xmlns:a16="http://schemas.microsoft.com/office/drawing/2014/main" id="{7284CAA6-F54D-B3C6-29D4-FD95230B84E6}"/>
                </a:ext>
              </a:extLst>
            </p:cNvPr>
            <p:cNvSpPr/>
            <p:nvPr/>
          </p:nvSpPr>
          <p:spPr>
            <a:xfrm>
              <a:off x="895845" y="2755900"/>
              <a:ext cx="127000" cy="127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chemeClr val="tx1">
                    <a:lumMod val="75000"/>
                    <a:lumOff val="25000"/>
                  </a:schemeClr>
                </a:solidFill>
                <a:latin typeface="微软雅黑" pitchFamily="34" charset="-122"/>
                <a:ea typeface="微软雅黑" pitchFamily="34" charset="-122"/>
              </a:endParaRPr>
            </a:p>
          </p:txBody>
        </p:sp>
        <p:cxnSp>
          <p:nvCxnSpPr>
            <p:cNvPr id="27" name="直接连接符 26">
              <a:extLst>
                <a:ext uri="{FF2B5EF4-FFF2-40B4-BE49-F238E27FC236}">
                  <a16:creationId xmlns:a16="http://schemas.microsoft.com/office/drawing/2014/main" id="{978CA550-DD9A-420C-3F94-BD35F2EBBB36}"/>
                </a:ext>
              </a:extLst>
            </p:cNvPr>
            <p:cNvCxnSpPr>
              <a:cxnSpLocks/>
              <a:stCxn id="26" idx="0"/>
            </p:cNvCxnSpPr>
            <p:nvPr/>
          </p:nvCxnSpPr>
          <p:spPr>
            <a:xfrm flipV="1">
              <a:off x="959345" y="1604886"/>
              <a:ext cx="0" cy="1151014"/>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8" name="文本框 3">
              <a:extLst>
                <a:ext uri="{FF2B5EF4-FFF2-40B4-BE49-F238E27FC236}">
                  <a16:creationId xmlns:a16="http://schemas.microsoft.com/office/drawing/2014/main" id="{53F9ABAE-513E-A97A-F12D-16A73C9B2CFF}"/>
                </a:ext>
              </a:extLst>
            </p:cNvPr>
            <p:cNvSpPr txBox="1"/>
            <p:nvPr/>
          </p:nvSpPr>
          <p:spPr>
            <a:xfrm>
              <a:off x="936245" y="1475950"/>
              <a:ext cx="2090346" cy="1369486"/>
            </a:xfrm>
            <a:prstGeom prst="rect">
              <a:avLst/>
            </a:prstGeom>
            <a:noFill/>
          </p:spPr>
          <p:txBody>
            <a:bodyPr wrap="square" rtlCol="0">
              <a:spAutoFit/>
            </a:bodyPr>
            <a:lstStyle/>
            <a:p>
              <a:r>
                <a:rPr lang="en-US" altLang="zh-CN" sz="1500" b="1" dirty="0" err="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Biot</a:t>
              </a:r>
              <a:r>
                <a:rPr lang="en-US" altLang="zh-CN" sz="1500" b="1" dirty="0">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rPr>
                <a:t>等</a:t>
              </a:r>
              <a:endParaRPr lang="en-US" altLang="zh-CN"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endParaRPr>
            </a:p>
            <a:p>
              <a:pPr lvl="0"/>
              <a:r>
                <a:rPr lang="zh-CN" altLang="en-US"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提出了流体饱和多孔介质中的弹性波传播理论。</a:t>
              </a:r>
              <a:endParaRPr lang="en-US" altLang="zh-CN"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endParaRPr>
            </a:p>
          </p:txBody>
        </p:sp>
      </p:grpSp>
      <p:grpSp>
        <p:nvGrpSpPr>
          <p:cNvPr id="36" name="组合 35">
            <a:extLst>
              <a:ext uri="{FF2B5EF4-FFF2-40B4-BE49-F238E27FC236}">
                <a16:creationId xmlns:a16="http://schemas.microsoft.com/office/drawing/2014/main" id="{8927B28A-E1CA-45B2-EDB3-7D1B0F5F2DF8}"/>
              </a:ext>
            </a:extLst>
          </p:cNvPr>
          <p:cNvGrpSpPr/>
          <p:nvPr/>
        </p:nvGrpSpPr>
        <p:grpSpPr>
          <a:xfrm flipH="1">
            <a:off x="2105707" y="1081018"/>
            <a:ext cx="1545282" cy="901159"/>
            <a:chOff x="895845" y="1475950"/>
            <a:chExt cx="2130746" cy="1406950"/>
          </a:xfrm>
        </p:grpSpPr>
        <p:sp>
          <p:nvSpPr>
            <p:cNvPr id="37" name="椭圆 36">
              <a:extLst>
                <a:ext uri="{FF2B5EF4-FFF2-40B4-BE49-F238E27FC236}">
                  <a16:creationId xmlns:a16="http://schemas.microsoft.com/office/drawing/2014/main" id="{43359507-1E52-24D8-E57D-FF74897F949C}"/>
                </a:ext>
              </a:extLst>
            </p:cNvPr>
            <p:cNvSpPr/>
            <p:nvPr/>
          </p:nvSpPr>
          <p:spPr>
            <a:xfrm>
              <a:off x="895845" y="2755900"/>
              <a:ext cx="127000" cy="127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chemeClr val="tx1">
                    <a:lumMod val="75000"/>
                    <a:lumOff val="25000"/>
                  </a:schemeClr>
                </a:solidFill>
                <a:latin typeface="微软雅黑" pitchFamily="34" charset="-122"/>
                <a:ea typeface="微软雅黑" pitchFamily="34" charset="-122"/>
              </a:endParaRPr>
            </a:p>
          </p:txBody>
        </p:sp>
        <p:cxnSp>
          <p:nvCxnSpPr>
            <p:cNvPr id="48" name="直接连接符 47">
              <a:extLst>
                <a:ext uri="{FF2B5EF4-FFF2-40B4-BE49-F238E27FC236}">
                  <a16:creationId xmlns:a16="http://schemas.microsoft.com/office/drawing/2014/main" id="{CA84CE86-17BD-E6D4-91E1-5B218A2830D4}"/>
                </a:ext>
              </a:extLst>
            </p:cNvPr>
            <p:cNvCxnSpPr>
              <a:cxnSpLocks/>
              <a:stCxn id="37" idx="0"/>
            </p:cNvCxnSpPr>
            <p:nvPr/>
          </p:nvCxnSpPr>
          <p:spPr>
            <a:xfrm flipV="1">
              <a:off x="959345" y="1604886"/>
              <a:ext cx="0" cy="1151014"/>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9" name="文本框 3">
              <a:extLst>
                <a:ext uri="{FF2B5EF4-FFF2-40B4-BE49-F238E27FC236}">
                  <a16:creationId xmlns:a16="http://schemas.microsoft.com/office/drawing/2014/main" id="{28E4D751-9A38-E1A3-979D-77863C181A36}"/>
                </a:ext>
              </a:extLst>
            </p:cNvPr>
            <p:cNvSpPr txBox="1"/>
            <p:nvPr/>
          </p:nvSpPr>
          <p:spPr>
            <a:xfrm>
              <a:off x="936245" y="1475950"/>
              <a:ext cx="2090346" cy="1369486"/>
            </a:xfrm>
            <a:prstGeom prst="rect">
              <a:avLst/>
            </a:prstGeom>
            <a:noFill/>
          </p:spPr>
          <p:txBody>
            <a:bodyPr wrap="square" rtlCol="0">
              <a:spAutoFit/>
            </a:bodyPr>
            <a:lstStyle/>
            <a:p>
              <a:r>
                <a:rPr lang="en-US" altLang="zh-CN" sz="1500" b="1" dirty="0">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Tubman </a:t>
              </a:r>
              <a:r>
                <a:rPr lang="zh-CN" altLang="en-US"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rPr>
                <a:t>等</a:t>
              </a:r>
              <a:endParaRPr lang="en-US" altLang="zh-CN"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endParaRPr>
            </a:p>
            <a:p>
              <a:pPr lvl="0"/>
              <a:r>
                <a:rPr lang="zh-CN" altLang="en-US"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提出了单极子声源在套管井中的频散特性计算通用公式。</a:t>
              </a:r>
              <a:endParaRPr lang="en-US" altLang="zh-CN"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endParaRPr>
            </a:p>
          </p:txBody>
        </p:sp>
      </p:grpSp>
      <p:grpSp>
        <p:nvGrpSpPr>
          <p:cNvPr id="52" name="组合 51">
            <a:extLst>
              <a:ext uri="{FF2B5EF4-FFF2-40B4-BE49-F238E27FC236}">
                <a16:creationId xmlns:a16="http://schemas.microsoft.com/office/drawing/2014/main" id="{607EB258-E55E-627C-365C-73F7DA016846}"/>
              </a:ext>
            </a:extLst>
          </p:cNvPr>
          <p:cNvGrpSpPr/>
          <p:nvPr/>
        </p:nvGrpSpPr>
        <p:grpSpPr>
          <a:xfrm flipH="1">
            <a:off x="3943192" y="1081018"/>
            <a:ext cx="1545282" cy="901159"/>
            <a:chOff x="895845" y="1475950"/>
            <a:chExt cx="2130746" cy="1406950"/>
          </a:xfrm>
        </p:grpSpPr>
        <p:sp>
          <p:nvSpPr>
            <p:cNvPr id="53" name="椭圆 52">
              <a:extLst>
                <a:ext uri="{FF2B5EF4-FFF2-40B4-BE49-F238E27FC236}">
                  <a16:creationId xmlns:a16="http://schemas.microsoft.com/office/drawing/2014/main" id="{D3E62C8E-CA39-1A43-7249-9C4F34C233BC}"/>
                </a:ext>
              </a:extLst>
            </p:cNvPr>
            <p:cNvSpPr/>
            <p:nvPr/>
          </p:nvSpPr>
          <p:spPr>
            <a:xfrm>
              <a:off x="895845" y="2755900"/>
              <a:ext cx="127000" cy="127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chemeClr val="tx1">
                    <a:lumMod val="75000"/>
                    <a:lumOff val="25000"/>
                  </a:schemeClr>
                </a:solidFill>
                <a:latin typeface="微软雅黑" pitchFamily="34" charset="-122"/>
                <a:ea typeface="微软雅黑" pitchFamily="34" charset="-122"/>
              </a:endParaRPr>
            </a:p>
          </p:txBody>
        </p:sp>
        <p:cxnSp>
          <p:nvCxnSpPr>
            <p:cNvPr id="54" name="直接连接符 53">
              <a:extLst>
                <a:ext uri="{FF2B5EF4-FFF2-40B4-BE49-F238E27FC236}">
                  <a16:creationId xmlns:a16="http://schemas.microsoft.com/office/drawing/2014/main" id="{94993EA6-278C-EE68-9E7D-C1F60C5A7C0C}"/>
                </a:ext>
              </a:extLst>
            </p:cNvPr>
            <p:cNvCxnSpPr>
              <a:cxnSpLocks/>
              <a:stCxn id="53" idx="0"/>
            </p:cNvCxnSpPr>
            <p:nvPr/>
          </p:nvCxnSpPr>
          <p:spPr>
            <a:xfrm flipV="1">
              <a:off x="959345" y="1604886"/>
              <a:ext cx="0" cy="1151014"/>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5" name="文本框 3">
              <a:extLst>
                <a:ext uri="{FF2B5EF4-FFF2-40B4-BE49-F238E27FC236}">
                  <a16:creationId xmlns:a16="http://schemas.microsoft.com/office/drawing/2014/main" id="{7EE80A05-D53B-8E4A-C211-A6B331FF4D8B}"/>
                </a:ext>
              </a:extLst>
            </p:cNvPr>
            <p:cNvSpPr txBox="1"/>
            <p:nvPr/>
          </p:nvSpPr>
          <p:spPr>
            <a:xfrm>
              <a:off x="936245" y="1475950"/>
              <a:ext cx="2090346" cy="1369486"/>
            </a:xfrm>
            <a:prstGeom prst="rect">
              <a:avLst/>
            </a:prstGeom>
            <a:noFill/>
          </p:spPr>
          <p:txBody>
            <a:bodyPr wrap="square" rtlCol="0">
              <a:spAutoFit/>
            </a:bodyPr>
            <a:lstStyle/>
            <a:p>
              <a:r>
                <a:rPr lang="zh-CN" altLang="en-US"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rPr>
                <a:t>张秀梅</a:t>
              </a:r>
              <a:r>
                <a:rPr lang="en-US" altLang="zh-CN" sz="1500" b="1" dirty="0">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rPr>
                <a:t>等</a:t>
              </a:r>
              <a:endParaRPr lang="en-US" altLang="zh-CN"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endParaRPr>
            </a:p>
            <a:p>
              <a:pPr lvl="0"/>
              <a:r>
                <a:rPr lang="zh-CN" altLang="en-US"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深入研究了固井质量差条件下的“泄露模式”</a:t>
              </a:r>
              <a:endParaRPr lang="en-US" altLang="zh-CN"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endParaRPr>
            </a:p>
          </p:txBody>
        </p:sp>
      </p:grpSp>
      <p:grpSp>
        <p:nvGrpSpPr>
          <p:cNvPr id="56" name="组合 55">
            <a:extLst>
              <a:ext uri="{FF2B5EF4-FFF2-40B4-BE49-F238E27FC236}">
                <a16:creationId xmlns:a16="http://schemas.microsoft.com/office/drawing/2014/main" id="{E4335552-35FE-3CE6-17F2-326F9B724DC3}"/>
              </a:ext>
            </a:extLst>
          </p:cNvPr>
          <p:cNvGrpSpPr/>
          <p:nvPr/>
        </p:nvGrpSpPr>
        <p:grpSpPr>
          <a:xfrm flipH="1">
            <a:off x="5788378" y="1084839"/>
            <a:ext cx="2211193" cy="1246495"/>
            <a:chOff x="895845" y="1475950"/>
            <a:chExt cx="2700131" cy="1946112"/>
          </a:xfrm>
        </p:grpSpPr>
        <p:sp>
          <p:nvSpPr>
            <p:cNvPr id="57" name="椭圆 56">
              <a:extLst>
                <a:ext uri="{FF2B5EF4-FFF2-40B4-BE49-F238E27FC236}">
                  <a16:creationId xmlns:a16="http://schemas.microsoft.com/office/drawing/2014/main" id="{5E8A7D99-1F7D-FAE7-4B0B-EAA97EA092E5}"/>
                </a:ext>
              </a:extLst>
            </p:cNvPr>
            <p:cNvSpPr/>
            <p:nvPr/>
          </p:nvSpPr>
          <p:spPr>
            <a:xfrm>
              <a:off x="895845" y="2755900"/>
              <a:ext cx="127000" cy="127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chemeClr val="tx1">
                    <a:lumMod val="75000"/>
                    <a:lumOff val="25000"/>
                  </a:schemeClr>
                </a:solidFill>
                <a:latin typeface="微软雅黑" pitchFamily="34" charset="-122"/>
                <a:ea typeface="微软雅黑" pitchFamily="34" charset="-122"/>
              </a:endParaRPr>
            </a:p>
          </p:txBody>
        </p:sp>
        <p:cxnSp>
          <p:nvCxnSpPr>
            <p:cNvPr id="58" name="直接连接符 57">
              <a:extLst>
                <a:ext uri="{FF2B5EF4-FFF2-40B4-BE49-F238E27FC236}">
                  <a16:creationId xmlns:a16="http://schemas.microsoft.com/office/drawing/2014/main" id="{1CB69A0A-3798-922E-C952-C9B50D926D44}"/>
                </a:ext>
              </a:extLst>
            </p:cNvPr>
            <p:cNvCxnSpPr>
              <a:cxnSpLocks/>
              <a:stCxn id="57" idx="0"/>
            </p:cNvCxnSpPr>
            <p:nvPr/>
          </p:nvCxnSpPr>
          <p:spPr>
            <a:xfrm flipV="1">
              <a:off x="959345" y="1604886"/>
              <a:ext cx="0" cy="1151014"/>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9" name="文本框 3">
              <a:extLst>
                <a:ext uri="{FF2B5EF4-FFF2-40B4-BE49-F238E27FC236}">
                  <a16:creationId xmlns:a16="http://schemas.microsoft.com/office/drawing/2014/main" id="{D505D95B-2DA3-3A29-F47D-BBB7D72029BA}"/>
                </a:ext>
              </a:extLst>
            </p:cNvPr>
            <p:cNvSpPr txBox="1"/>
            <p:nvPr/>
          </p:nvSpPr>
          <p:spPr>
            <a:xfrm>
              <a:off x="936245" y="1475950"/>
              <a:ext cx="2659731" cy="1946112"/>
            </a:xfrm>
            <a:prstGeom prst="rect">
              <a:avLst/>
            </a:prstGeom>
            <a:noFill/>
          </p:spPr>
          <p:txBody>
            <a:bodyPr wrap="square" rtlCol="0">
              <a:spAutoFit/>
            </a:bodyPr>
            <a:lstStyle/>
            <a:p>
              <a:r>
                <a:rPr lang="zh-CN" altLang="en-US"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rPr>
                <a:t>王华 等</a:t>
              </a:r>
              <a:endParaRPr lang="en-US" altLang="zh-CN"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endParaRPr>
            </a:p>
            <a:p>
              <a:pPr lvl="0"/>
              <a:r>
                <a:rPr lang="zh-CN" altLang="en-US"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出版</a:t>
              </a:r>
              <a:r>
                <a:rPr lang="en-US" altLang="zh-CN" sz="1200" dirty="0">
                  <a:solidFill>
                    <a:prstClr val="black">
                      <a:lumMod val="75000"/>
                      <a:lumOff val="25000"/>
                    </a:prstClr>
                  </a:solidFill>
                  <a:latin typeface="Times New Roman" panose="02020603050405020304" pitchFamily="18" charset="0"/>
                  <a:ea typeface="宋体" panose="02010600030101010101" pitchFamily="2" charset="-122"/>
                  <a:cs typeface="Times New Roman" panose="02020603050405020304" pitchFamily="18" charset="0"/>
                </a:rPr>
                <a:t>《Borehole Acoustic Logging: Theory and Methods》</a:t>
              </a:r>
              <a:r>
                <a:rPr lang="zh-CN" altLang="en-US"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专著。系统完善了多极子阵列声波测井理论。</a:t>
              </a:r>
              <a:endParaRPr lang="en-US" altLang="zh-CN"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endParaRPr>
            </a:p>
          </p:txBody>
        </p:sp>
      </p:grpSp>
      <p:sp>
        <p:nvSpPr>
          <p:cNvPr id="60" name="虚尾箭头 7">
            <a:extLst>
              <a:ext uri="{FF2B5EF4-FFF2-40B4-BE49-F238E27FC236}">
                <a16:creationId xmlns:a16="http://schemas.microsoft.com/office/drawing/2014/main" id="{746C03A7-36BD-98CA-DFCB-C7845C0D7AF6}"/>
              </a:ext>
            </a:extLst>
          </p:cNvPr>
          <p:cNvSpPr/>
          <p:nvPr/>
        </p:nvSpPr>
        <p:spPr>
          <a:xfrm>
            <a:off x="2562743" y="2161080"/>
            <a:ext cx="409575" cy="266700"/>
          </a:xfrm>
          <a:prstGeom prst="strip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微软雅黑" pitchFamily="34" charset="-122"/>
              <a:ea typeface="微软雅黑" pitchFamily="34" charset="-122"/>
            </a:endParaRPr>
          </a:p>
        </p:txBody>
      </p:sp>
      <p:sp>
        <p:nvSpPr>
          <p:cNvPr id="61" name="虚尾箭头 7">
            <a:extLst>
              <a:ext uri="{FF2B5EF4-FFF2-40B4-BE49-F238E27FC236}">
                <a16:creationId xmlns:a16="http://schemas.microsoft.com/office/drawing/2014/main" id="{5A4764DA-485A-6846-EFCA-CDD2FA2A28AD}"/>
              </a:ext>
            </a:extLst>
          </p:cNvPr>
          <p:cNvSpPr/>
          <p:nvPr/>
        </p:nvSpPr>
        <p:spPr>
          <a:xfrm>
            <a:off x="4393215" y="2161080"/>
            <a:ext cx="409575" cy="266700"/>
          </a:xfrm>
          <a:prstGeom prst="strip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微软雅黑" pitchFamily="34" charset="-122"/>
              <a:ea typeface="微软雅黑" pitchFamily="34" charset="-122"/>
            </a:endParaRPr>
          </a:p>
        </p:txBody>
      </p:sp>
      <p:sp>
        <p:nvSpPr>
          <p:cNvPr id="62" name="虚尾箭头 7">
            <a:extLst>
              <a:ext uri="{FF2B5EF4-FFF2-40B4-BE49-F238E27FC236}">
                <a16:creationId xmlns:a16="http://schemas.microsoft.com/office/drawing/2014/main" id="{8408E34A-FE00-1EBE-0E44-A1A43E31E255}"/>
              </a:ext>
            </a:extLst>
          </p:cNvPr>
          <p:cNvSpPr/>
          <p:nvPr/>
        </p:nvSpPr>
        <p:spPr>
          <a:xfrm>
            <a:off x="6672644" y="2164628"/>
            <a:ext cx="409575" cy="266700"/>
          </a:xfrm>
          <a:prstGeom prst="strip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微软雅黑" pitchFamily="34" charset="-122"/>
              <a:ea typeface="微软雅黑" pitchFamily="34" charset="-122"/>
            </a:endParaRPr>
          </a:p>
        </p:txBody>
      </p:sp>
      <p:sp>
        <p:nvSpPr>
          <p:cNvPr id="64" name="流程图: 接点 63">
            <a:extLst>
              <a:ext uri="{FF2B5EF4-FFF2-40B4-BE49-F238E27FC236}">
                <a16:creationId xmlns:a16="http://schemas.microsoft.com/office/drawing/2014/main" id="{925DF51C-6DB3-E53B-A361-630346CE5C9F}"/>
              </a:ext>
            </a:extLst>
          </p:cNvPr>
          <p:cNvSpPr/>
          <p:nvPr/>
        </p:nvSpPr>
        <p:spPr>
          <a:xfrm>
            <a:off x="1992669" y="4008385"/>
            <a:ext cx="632460" cy="602705"/>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dirty="0">
                <a:latin typeface="Times New Roman" panose="02020603050405020304" pitchFamily="18" charset="0"/>
                <a:ea typeface="宋体" panose="02010600030101010101" pitchFamily="2" charset="-122"/>
              </a:rPr>
              <a:t>2016</a:t>
            </a:r>
            <a:endParaRPr lang="zh-CN" altLang="en-US" sz="1000" b="1" dirty="0">
              <a:latin typeface="Times New Roman" panose="02020603050405020304" pitchFamily="18" charset="0"/>
              <a:ea typeface="宋体" panose="02010600030101010101" pitchFamily="2" charset="-122"/>
            </a:endParaRPr>
          </a:p>
        </p:txBody>
      </p:sp>
      <p:grpSp>
        <p:nvGrpSpPr>
          <p:cNvPr id="65" name="组合 64">
            <a:extLst>
              <a:ext uri="{FF2B5EF4-FFF2-40B4-BE49-F238E27FC236}">
                <a16:creationId xmlns:a16="http://schemas.microsoft.com/office/drawing/2014/main" id="{6C0FDBDE-5D8C-2EB9-E67D-B2DFFF543259}"/>
              </a:ext>
            </a:extLst>
          </p:cNvPr>
          <p:cNvGrpSpPr/>
          <p:nvPr/>
        </p:nvGrpSpPr>
        <p:grpSpPr>
          <a:xfrm flipH="1">
            <a:off x="107839" y="3184032"/>
            <a:ext cx="2279833" cy="914264"/>
            <a:chOff x="895845" y="1604886"/>
            <a:chExt cx="2090346" cy="1427412"/>
          </a:xfrm>
        </p:grpSpPr>
        <p:sp>
          <p:nvSpPr>
            <p:cNvPr id="66" name="椭圆 65">
              <a:extLst>
                <a:ext uri="{FF2B5EF4-FFF2-40B4-BE49-F238E27FC236}">
                  <a16:creationId xmlns:a16="http://schemas.microsoft.com/office/drawing/2014/main" id="{EFD1132D-EED6-57F9-800F-072D54D2CCB2}"/>
                </a:ext>
              </a:extLst>
            </p:cNvPr>
            <p:cNvSpPr/>
            <p:nvPr/>
          </p:nvSpPr>
          <p:spPr>
            <a:xfrm>
              <a:off x="895845" y="2755900"/>
              <a:ext cx="127000" cy="127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chemeClr val="tx1">
                    <a:lumMod val="75000"/>
                    <a:lumOff val="25000"/>
                  </a:schemeClr>
                </a:solidFill>
                <a:latin typeface="微软雅黑" pitchFamily="34" charset="-122"/>
                <a:ea typeface="微软雅黑" pitchFamily="34" charset="-122"/>
              </a:endParaRPr>
            </a:p>
          </p:txBody>
        </p:sp>
        <p:cxnSp>
          <p:nvCxnSpPr>
            <p:cNvPr id="67" name="直接连接符 66">
              <a:extLst>
                <a:ext uri="{FF2B5EF4-FFF2-40B4-BE49-F238E27FC236}">
                  <a16:creationId xmlns:a16="http://schemas.microsoft.com/office/drawing/2014/main" id="{D92EB321-972C-0429-DC72-4247E44E3E7A}"/>
                </a:ext>
              </a:extLst>
            </p:cNvPr>
            <p:cNvCxnSpPr>
              <a:cxnSpLocks/>
              <a:stCxn id="66" idx="0"/>
            </p:cNvCxnSpPr>
            <p:nvPr/>
          </p:nvCxnSpPr>
          <p:spPr>
            <a:xfrm flipV="1">
              <a:off x="959345" y="1604886"/>
              <a:ext cx="0" cy="1151014"/>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68" name="文本框 3">
              <a:extLst>
                <a:ext uri="{FF2B5EF4-FFF2-40B4-BE49-F238E27FC236}">
                  <a16:creationId xmlns:a16="http://schemas.microsoft.com/office/drawing/2014/main" id="{FA7AB6EA-C759-B54F-DE65-1CDED9DFA76E}"/>
                </a:ext>
              </a:extLst>
            </p:cNvPr>
            <p:cNvSpPr txBox="1"/>
            <p:nvPr/>
          </p:nvSpPr>
          <p:spPr>
            <a:xfrm>
              <a:off x="895845" y="1662811"/>
              <a:ext cx="2090346" cy="1369487"/>
            </a:xfrm>
            <a:prstGeom prst="rect">
              <a:avLst/>
            </a:prstGeom>
            <a:noFill/>
          </p:spPr>
          <p:txBody>
            <a:bodyPr wrap="square" rtlCol="0">
              <a:spAutoFit/>
            </a:bodyPr>
            <a:lstStyle/>
            <a:p>
              <a:r>
                <a:rPr lang="en-US" altLang="zh-CN" sz="1500" b="1" dirty="0">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He </a:t>
              </a:r>
              <a:r>
                <a:rPr lang="zh-CN" altLang="en-US"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rPr>
                <a:t>等</a:t>
              </a:r>
              <a:endParaRPr lang="en-US" altLang="zh-CN"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endParaRPr>
            </a:p>
            <a:p>
              <a:pPr lvl="0"/>
              <a:r>
                <a:rPr lang="zh-CN" altLang="en-US"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提出残差网</a:t>
              </a:r>
              <a:r>
                <a:rPr lang="en-US" altLang="zh-CN"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a:t>
              </a:r>
              <a:r>
                <a:rPr lang="en-US" altLang="zh-CN" sz="1200" dirty="0" err="1">
                  <a:solidFill>
                    <a:prstClr val="black">
                      <a:lumMod val="75000"/>
                      <a:lumOff val="25000"/>
                    </a:prstClr>
                  </a:solidFill>
                  <a:latin typeface="Times New Roman" panose="02020603050405020304" pitchFamily="18" charset="0"/>
                  <a:ea typeface="宋体" panose="02010600030101010101" pitchFamily="2" charset="-122"/>
                  <a:cs typeface="Times New Roman" panose="02020603050405020304" pitchFamily="18" charset="0"/>
                </a:rPr>
                <a:t>ResNet</a:t>
              </a:r>
              <a:r>
                <a:rPr lang="en-US" altLang="zh-CN"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a:t>
              </a:r>
              <a:r>
                <a:rPr lang="zh-CN" altLang="en-US"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。解决了深层网络训练退化问题</a:t>
              </a:r>
              <a:endParaRPr lang="en-US" altLang="zh-CN"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endParaRPr>
            </a:p>
          </p:txBody>
        </p:sp>
      </p:grpSp>
      <p:sp>
        <p:nvSpPr>
          <p:cNvPr id="69" name="虚尾箭头 7">
            <a:extLst>
              <a:ext uri="{FF2B5EF4-FFF2-40B4-BE49-F238E27FC236}">
                <a16:creationId xmlns:a16="http://schemas.microsoft.com/office/drawing/2014/main" id="{E378C34F-BF57-3C73-7B31-703EBB041A96}"/>
              </a:ext>
            </a:extLst>
          </p:cNvPr>
          <p:cNvSpPr/>
          <p:nvPr/>
        </p:nvSpPr>
        <p:spPr>
          <a:xfrm>
            <a:off x="3498053" y="4184285"/>
            <a:ext cx="409575" cy="266700"/>
          </a:xfrm>
          <a:prstGeom prst="strip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微软雅黑" pitchFamily="34" charset="-122"/>
              <a:ea typeface="微软雅黑" pitchFamily="34" charset="-122"/>
            </a:endParaRPr>
          </a:p>
        </p:txBody>
      </p:sp>
      <p:sp>
        <p:nvSpPr>
          <p:cNvPr id="70" name="流程图: 接点 69">
            <a:extLst>
              <a:ext uri="{FF2B5EF4-FFF2-40B4-BE49-F238E27FC236}">
                <a16:creationId xmlns:a16="http://schemas.microsoft.com/office/drawing/2014/main" id="{AE74983D-CCB7-6ABF-D93F-D623676B8ED0}"/>
              </a:ext>
            </a:extLst>
          </p:cNvPr>
          <p:cNvSpPr/>
          <p:nvPr/>
        </p:nvSpPr>
        <p:spPr>
          <a:xfrm>
            <a:off x="4637539" y="4014669"/>
            <a:ext cx="632460" cy="602705"/>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dirty="0">
                <a:latin typeface="Times New Roman" panose="02020603050405020304" pitchFamily="18" charset="0"/>
                <a:ea typeface="宋体" panose="02010600030101010101" pitchFamily="2" charset="-122"/>
              </a:rPr>
              <a:t>2017</a:t>
            </a:r>
            <a:endParaRPr lang="zh-CN" altLang="en-US" sz="1000" b="1" dirty="0">
              <a:latin typeface="Times New Roman" panose="02020603050405020304" pitchFamily="18" charset="0"/>
              <a:ea typeface="宋体" panose="02010600030101010101" pitchFamily="2" charset="-122"/>
            </a:endParaRPr>
          </a:p>
        </p:txBody>
      </p:sp>
      <p:grpSp>
        <p:nvGrpSpPr>
          <p:cNvPr id="71" name="组合 70">
            <a:extLst>
              <a:ext uri="{FF2B5EF4-FFF2-40B4-BE49-F238E27FC236}">
                <a16:creationId xmlns:a16="http://schemas.microsoft.com/office/drawing/2014/main" id="{0F94F9AC-925F-55A3-6AB1-C77DEB9BEE48}"/>
              </a:ext>
            </a:extLst>
          </p:cNvPr>
          <p:cNvGrpSpPr/>
          <p:nvPr/>
        </p:nvGrpSpPr>
        <p:grpSpPr>
          <a:xfrm flipH="1">
            <a:off x="2678239" y="3120318"/>
            <a:ext cx="2465930" cy="1246495"/>
            <a:chOff x="797945" y="1494928"/>
            <a:chExt cx="2090346" cy="1946111"/>
          </a:xfrm>
        </p:grpSpPr>
        <p:sp>
          <p:nvSpPr>
            <p:cNvPr id="72" name="椭圆 71">
              <a:extLst>
                <a:ext uri="{FF2B5EF4-FFF2-40B4-BE49-F238E27FC236}">
                  <a16:creationId xmlns:a16="http://schemas.microsoft.com/office/drawing/2014/main" id="{57246071-E5CE-9E32-0020-3933DFD071F4}"/>
                </a:ext>
              </a:extLst>
            </p:cNvPr>
            <p:cNvSpPr/>
            <p:nvPr/>
          </p:nvSpPr>
          <p:spPr>
            <a:xfrm>
              <a:off x="895845" y="2755900"/>
              <a:ext cx="127000" cy="127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chemeClr val="tx1">
                    <a:lumMod val="75000"/>
                    <a:lumOff val="25000"/>
                  </a:schemeClr>
                </a:solidFill>
                <a:latin typeface="微软雅黑" pitchFamily="34" charset="-122"/>
                <a:ea typeface="微软雅黑" pitchFamily="34" charset="-122"/>
              </a:endParaRPr>
            </a:p>
          </p:txBody>
        </p:sp>
        <p:cxnSp>
          <p:nvCxnSpPr>
            <p:cNvPr id="73" name="直接连接符 72">
              <a:extLst>
                <a:ext uri="{FF2B5EF4-FFF2-40B4-BE49-F238E27FC236}">
                  <a16:creationId xmlns:a16="http://schemas.microsoft.com/office/drawing/2014/main" id="{66BD501A-112F-9504-15E9-DA2D36799D13}"/>
                </a:ext>
              </a:extLst>
            </p:cNvPr>
            <p:cNvCxnSpPr>
              <a:cxnSpLocks/>
              <a:stCxn id="72" idx="0"/>
            </p:cNvCxnSpPr>
            <p:nvPr/>
          </p:nvCxnSpPr>
          <p:spPr>
            <a:xfrm flipV="1">
              <a:off x="959345" y="1604886"/>
              <a:ext cx="0" cy="1151014"/>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4" name="文本框 3">
              <a:extLst>
                <a:ext uri="{FF2B5EF4-FFF2-40B4-BE49-F238E27FC236}">
                  <a16:creationId xmlns:a16="http://schemas.microsoft.com/office/drawing/2014/main" id="{28C261D2-ED82-AF86-372C-37C9408C7AEC}"/>
                </a:ext>
              </a:extLst>
            </p:cNvPr>
            <p:cNvSpPr txBox="1"/>
            <p:nvPr/>
          </p:nvSpPr>
          <p:spPr>
            <a:xfrm>
              <a:off x="797945" y="1494928"/>
              <a:ext cx="2090346" cy="1946111"/>
            </a:xfrm>
            <a:prstGeom prst="rect">
              <a:avLst/>
            </a:prstGeom>
            <a:noFill/>
          </p:spPr>
          <p:txBody>
            <a:bodyPr wrap="square" rtlCol="0">
              <a:spAutoFit/>
            </a:bodyPr>
            <a:lstStyle/>
            <a:p>
              <a:r>
                <a:rPr lang="en-US" altLang="zh-CN" sz="1500" b="1" dirty="0">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Selvaraju </a:t>
              </a:r>
              <a:r>
                <a:rPr lang="zh-CN" altLang="en-US"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rPr>
                <a:t>等</a:t>
              </a:r>
              <a:endParaRPr lang="en-US" altLang="zh-CN"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endParaRPr>
            </a:p>
            <a:p>
              <a:pPr lvl="0"/>
              <a:r>
                <a:rPr lang="zh-CN" altLang="en-US"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提出 </a:t>
              </a:r>
              <a:r>
                <a:rPr lang="en-US" altLang="zh-CN"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Grad-CAM </a:t>
              </a:r>
              <a:r>
                <a:rPr lang="zh-CN" altLang="en-US"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可视化技术。打破了深度学习的“黑箱”，为物理可解释性提供了工具。</a:t>
              </a:r>
              <a:endParaRPr lang="en-US" altLang="zh-CN"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endParaRPr>
            </a:p>
          </p:txBody>
        </p:sp>
      </p:grpSp>
      <p:sp>
        <p:nvSpPr>
          <p:cNvPr id="75" name="流程图: 接点 74">
            <a:extLst>
              <a:ext uri="{FF2B5EF4-FFF2-40B4-BE49-F238E27FC236}">
                <a16:creationId xmlns:a16="http://schemas.microsoft.com/office/drawing/2014/main" id="{C3DBE2EB-C755-033E-BFBB-E2EA815508C6}"/>
              </a:ext>
            </a:extLst>
          </p:cNvPr>
          <p:cNvSpPr/>
          <p:nvPr/>
        </p:nvSpPr>
        <p:spPr>
          <a:xfrm>
            <a:off x="7607132" y="4025765"/>
            <a:ext cx="632460" cy="602705"/>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dirty="0">
                <a:latin typeface="Times New Roman" panose="02020603050405020304" pitchFamily="18" charset="0"/>
                <a:ea typeface="宋体" panose="02010600030101010101" pitchFamily="2" charset="-122"/>
              </a:rPr>
              <a:t>2021</a:t>
            </a:r>
          </a:p>
        </p:txBody>
      </p:sp>
      <p:grpSp>
        <p:nvGrpSpPr>
          <p:cNvPr id="76" name="组合 75">
            <a:extLst>
              <a:ext uri="{FF2B5EF4-FFF2-40B4-BE49-F238E27FC236}">
                <a16:creationId xmlns:a16="http://schemas.microsoft.com/office/drawing/2014/main" id="{0DB1304E-B83B-CDFF-DCEE-7647B172213B}"/>
              </a:ext>
            </a:extLst>
          </p:cNvPr>
          <p:cNvGrpSpPr/>
          <p:nvPr/>
        </p:nvGrpSpPr>
        <p:grpSpPr>
          <a:xfrm flipH="1">
            <a:off x="5560567" y="3114645"/>
            <a:ext cx="2465930" cy="894677"/>
            <a:chOff x="876569" y="1486071"/>
            <a:chExt cx="2090346" cy="1396829"/>
          </a:xfrm>
        </p:grpSpPr>
        <p:sp>
          <p:nvSpPr>
            <p:cNvPr id="77" name="椭圆 76">
              <a:extLst>
                <a:ext uri="{FF2B5EF4-FFF2-40B4-BE49-F238E27FC236}">
                  <a16:creationId xmlns:a16="http://schemas.microsoft.com/office/drawing/2014/main" id="{F692B035-C85F-79A5-FD10-7C783901D94F}"/>
                </a:ext>
              </a:extLst>
            </p:cNvPr>
            <p:cNvSpPr/>
            <p:nvPr/>
          </p:nvSpPr>
          <p:spPr>
            <a:xfrm>
              <a:off x="895845" y="2755900"/>
              <a:ext cx="127000" cy="1270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chemeClr val="tx1">
                    <a:lumMod val="75000"/>
                    <a:lumOff val="25000"/>
                  </a:schemeClr>
                </a:solidFill>
                <a:latin typeface="微软雅黑" pitchFamily="34" charset="-122"/>
                <a:ea typeface="微软雅黑" pitchFamily="34" charset="-122"/>
              </a:endParaRPr>
            </a:p>
          </p:txBody>
        </p:sp>
        <p:cxnSp>
          <p:nvCxnSpPr>
            <p:cNvPr id="78" name="直接连接符 77">
              <a:extLst>
                <a:ext uri="{FF2B5EF4-FFF2-40B4-BE49-F238E27FC236}">
                  <a16:creationId xmlns:a16="http://schemas.microsoft.com/office/drawing/2014/main" id="{9C3A5F99-F955-9626-5B42-8CDB811EEF77}"/>
                </a:ext>
              </a:extLst>
            </p:cNvPr>
            <p:cNvCxnSpPr>
              <a:cxnSpLocks/>
              <a:stCxn id="77" idx="0"/>
            </p:cNvCxnSpPr>
            <p:nvPr/>
          </p:nvCxnSpPr>
          <p:spPr>
            <a:xfrm flipV="1">
              <a:off x="959345" y="1604886"/>
              <a:ext cx="0" cy="1151014"/>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9" name="文本框 3">
              <a:extLst>
                <a:ext uri="{FF2B5EF4-FFF2-40B4-BE49-F238E27FC236}">
                  <a16:creationId xmlns:a16="http://schemas.microsoft.com/office/drawing/2014/main" id="{AD023E0C-EB4F-7397-8053-549EAD1A50F1}"/>
                </a:ext>
              </a:extLst>
            </p:cNvPr>
            <p:cNvSpPr txBox="1"/>
            <p:nvPr/>
          </p:nvSpPr>
          <p:spPr>
            <a:xfrm>
              <a:off x="876569" y="1486071"/>
              <a:ext cx="2090346" cy="1369485"/>
            </a:xfrm>
            <a:prstGeom prst="rect">
              <a:avLst/>
            </a:prstGeom>
            <a:noFill/>
          </p:spPr>
          <p:txBody>
            <a:bodyPr wrap="square" rtlCol="0">
              <a:spAutoFit/>
            </a:bodyPr>
            <a:lstStyle/>
            <a:p>
              <a:r>
                <a:rPr lang="en-US" altLang="zh-CN" sz="1500" b="1" dirty="0">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Tan &amp; Le </a:t>
              </a:r>
              <a:r>
                <a:rPr lang="zh-CN" altLang="en-US"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rPr>
                <a:t>等</a:t>
              </a:r>
              <a:endParaRPr lang="en-US" altLang="zh-CN" sz="15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endParaRPr>
            </a:p>
            <a:p>
              <a:pPr lvl="0"/>
              <a:r>
                <a:rPr lang="zh-CN" altLang="en-US"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提出 </a:t>
              </a:r>
              <a:r>
                <a:rPr lang="en-US" altLang="zh-CN" sz="1200" dirty="0">
                  <a:solidFill>
                    <a:prstClr val="black">
                      <a:lumMod val="75000"/>
                      <a:lumOff val="25000"/>
                    </a:prstClr>
                  </a:solidFill>
                  <a:latin typeface="Times New Roman" panose="02020603050405020304" pitchFamily="18" charset="0"/>
                  <a:ea typeface="宋体" panose="02010600030101010101" pitchFamily="2" charset="-122"/>
                  <a:cs typeface="Times New Roman" panose="02020603050405020304" pitchFamily="18" charset="0"/>
                </a:rPr>
                <a:t>EfficientNetV2</a:t>
              </a:r>
              <a:r>
                <a:rPr lang="zh-CN" altLang="en-US"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rPr>
                <a:t>。通过复合缩放实现了更快的训练速度和更高的参数效率</a:t>
              </a:r>
              <a:endParaRPr lang="en-US" altLang="zh-CN" sz="1200" dirty="0">
                <a:solidFill>
                  <a:prstClr val="black">
                    <a:lumMod val="75000"/>
                    <a:lumOff val="25000"/>
                  </a:prstClr>
                </a:solidFill>
                <a:latin typeface="宋体" panose="02010600030101010101" pitchFamily="2" charset="-122"/>
                <a:ea typeface="宋体" panose="02010600030101010101" pitchFamily="2" charset="-122"/>
                <a:cs typeface="Times New Roman" panose="02020603050405020304" pitchFamily="18" charset="0"/>
              </a:endParaRPr>
            </a:p>
          </p:txBody>
        </p:sp>
      </p:grpSp>
      <p:sp>
        <p:nvSpPr>
          <p:cNvPr id="80" name="虚尾箭头 7">
            <a:extLst>
              <a:ext uri="{FF2B5EF4-FFF2-40B4-BE49-F238E27FC236}">
                <a16:creationId xmlns:a16="http://schemas.microsoft.com/office/drawing/2014/main" id="{F80C758E-84D9-26E1-D9DB-8AD90D32F1BB}"/>
              </a:ext>
            </a:extLst>
          </p:cNvPr>
          <p:cNvSpPr/>
          <p:nvPr/>
        </p:nvSpPr>
        <p:spPr>
          <a:xfrm>
            <a:off x="6593106" y="4207443"/>
            <a:ext cx="409575" cy="266700"/>
          </a:xfrm>
          <a:prstGeom prst="strip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微软雅黑" pitchFamily="34" charset="-122"/>
              <a:ea typeface="微软雅黑" pitchFamily="34" charset="-122"/>
            </a:endParaRPr>
          </a:p>
        </p:txBody>
      </p:sp>
      <p:sp>
        <p:nvSpPr>
          <p:cNvPr id="81" name="灯片编号占位符 1">
            <a:extLst>
              <a:ext uri="{FF2B5EF4-FFF2-40B4-BE49-F238E27FC236}">
                <a16:creationId xmlns:a16="http://schemas.microsoft.com/office/drawing/2014/main" id="{4C46D18C-5479-CEAA-3CFB-437B3672670A}"/>
              </a:ext>
            </a:extLst>
          </p:cNvPr>
          <p:cNvSpPr>
            <a:spLocks noGrp="1"/>
          </p:cNvSpPr>
          <p:nvPr>
            <p:ph type="sldNum" sz="quarter" idx="12"/>
          </p:nvPr>
        </p:nvSpPr>
        <p:spPr>
          <a:xfrm>
            <a:off x="8110950" y="4808860"/>
            <a:ext cx="1042988" cy="273844"/>
          </a:xfrm>
        </p:spPr>
        <p:txBody>
          <a:bodyPr/>
          <a:lstStyle/>
          <a:p>
            <a:r>
              <a:rPr lang="en-US" altLang="zh-CN" dirty="0"/>
              <a:t>3</a:t>
            </a:r>
            <a:endParaRPr lang="zh-CN" altLang="en-US" dirty="0"/>
          </a:p>
        </p:txBody>
      </p:sp>
    </p:spTree>
    <p:extLst>
      <p:ext uri="{BB962C8B-B14F-4D97-AF65-F5344CB8AC3E}">
        <p14:creationId xmlns:p14="http://schemas.microsoft.com/office/powerpoint/2010/main" val="420282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C3FED5E-4EE0-464C-8613-10B209C0AD37}"/>
              </a:ext>
            </a:extLst>
          </p:cNvPr>
          <p:cNvSpPr>
            <a:spLocks noGrp="1"/>
          </p:cNvSpPr>
          <p:nvPr>
            <p:ph type="sldNum" sz="quarter" idx="12"/>
          </p:nvPr>
        </p:nvSpPr>
        <p:spPr>
          <a:xfrm>
            <a:off x="8101012" y="4796269"/>
            <a:ext cx="1042988" cy="273844"/>
          </a:xfrm>
        </p:spPr>
        <p:txBody>
          <a:bodyPr/>
          <a:lstStyle/>
          <a:p>
            <a:r>
              <a:rPr lang="en-US" altLang="zh-CN" dirty="0"/>
              <a:t>4</a:t>
            </a:r>
            <a:endParaRPr lang="zh-CN" altLang="en-US" dirty="0"/>
          </a:p>
        </p:txBody>
      </p:sp>
      <p:sp>
        <p:nvSpPr>
          <p:cNvPr id="31" name="矩形 30">
            <a:extLst>
              <a:ext uri="{FF2B5EF4-FFF2-40B4-BE49-F238E27FC236}">
                <a16:creationId xmlns:a16="http://schemas.microsoft.com/office/drawing/2014/main" id="{9E096731-F0CE-4A94-A6AC-C8D83AC53AD5}"/>
              </a:ext>
            </a:extLst>
          </p:cNvPr>
          <p:cNvSpPr/>
          <p:nvPr/>
        </p:nvSpPr>
        <p:spPr>
          <a:xfrm>
            <a:off x="580525" y="78941"/>
            <a:ext cx="2181555"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3 </a:t>
            </a:r>
            <a:r>
              <a:rPr kumimoji="0" lang="zh-CN" altLang="en-US"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研究目标与内容</a:t>
            </a:r>
          </a:p>
        </p:txBody>
      </p:sp>
      <p:sp>
        <p:nvSpPr>
          <p:cNvPr id="32" name="矩形 31">
            <a:extLst>
              <a:ext uri="{FF2B5EF4-FFF2-40B4-BE49-F238E27FC236}">
                <a16:creationId xmlns:a16="http://schemas.microsoft.com/office/drawing/2014/main" id="{2F8FD3CB-7F8C-4B1D-8D1F-A8CCDA39C31E}"/>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0AA6B4D6-54B4-437C-B073-F634492D7B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sp>
        <p:nvSpPr>
          <p:cNvPr id="29" name="矩形 28">
            <a:extLst>
              <a:ext uri="{FF2B5EF4-FFF2-40B4-BE49-F238E27FC236}">
                <a16:creationId xmlns:a16="http://schemas.microsoft.com/office/drawing/2014/main" id="{FCF4AE4C-3BB4-42FB-B3C9-544F2B9B1393}"/>
              </a:ext>
            </a:extLst>
          </p:cNvPr>
          <p:cNvSpPr/>
          <p:nvPr/>
        </p:nvSpPr>
        <p:spPr bwMode="auto">
          <a:xfrm>
            <a:off x="580525" y="667159"/>
            <a:ext cx="1083229" cy="331216"/>
          </a:xfrm>
          <a:prstGeom prst="rect">
            <a:avLst/>
          </a:prstGeom>
          <a:solidFill>
            <a:schemeClr val="accent1"/>
          </a:solidFill>
          <a:ln>
            <a:noFill/>
          </a:ln>
        </p:spPr>
        <p:txBody>
          <a:bodyPr vert="horz" wrap="square" lIns="68580" tIns="34290" rIns="68580" bIns="34290" numCol="1" rtlCol="0" anchor="t" anchorCtr="0" compatLnSpc="1">
            <a:prstTxWarp prst="textNoShape">
              <a:avLst/>
            </a:prstTxWarp>
          </a:bodyPr>
          <a:lstStyle/>
          <a:p>
            <a:pPr algn="ctr"/>
            <a:r>
              <a:rPr lang="zh-CN" altLang="en-US"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研究目标</a:t>
            </a:r>
            <a:endParaRPr lang="zh-CN" altLang="en-US" sz="1800" b="1" dirty="0">
              <a:solidFill>
                <a:schemeClr val="bg1"/>
              </a:solidFill>
              <a:latin typeface="微软雅黑" panose="020B0503020204020204" pitchFamily="34" charset="-122"/>
              <a:ea typeface="微软雅黑" panose="020B0503020204020204" pitchFamily="34" charset="-122"/>
            </a:endParaRPr>
          </a:p>
        </p:txBody>
      </p:sp>
      <p:sp>
        <p:nvSpPr>
          <p:cNvPr id="439" name="椭圆 438">
            <a:extLst>
              <a:ext uri="{FF2B5EF4-FFF2-40B4-BE49-F238E27FC236}">
                <a16:creationId xmlns:a16="http://schemas.microsoft.com/office/drawing/2014/main" id="{FA49D374-6627-4EBA-82F8-406C9AB41B57}"/>
              </a:ext>
            </a:extLst>
          </p:cNvPr>
          <p:cNvSpPr/>
          <p:nvPr/>
        </p:nvSpPr>
        <p:spPr>
          <a:xfrm>
            <a:off x="125009" y="649168"/>
            <a:ext cx="388547" cy="388547"/>
          </a:xfrm>
          <a:prstGeom prst="ellipse">
            <a:avLst/>
          </a:prstGeom>
          <a:solidFill>
            <a:srgbClr val="002060"/>
          </a:solidFill>
          <a:ln w="38100">
            <a:solidFill>
              <a:schemeClr val="bg1"/>
            </a:solidFill>
          </a:ln>
          <a:effectLst>
            <a:outerShdw blurRad="266700" dist="889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t>1</a:t>
            </a:r>
            <a:endParaRPr lang="zh-CN" altLang="en-US" sz="2800" dirty="0"/>
          </a:p>
        </p:txBody>
      </p:sp>
      <p:sp>
        <p:nvSpPr>
          <p:cNvPr id="5" name="矩形 4">
            <a:extLst>
              <a:ext uri="{FF2B5EF4-FFF2-40B4-BE49-F238E27FC236}">
                <a16:creationId xmlns:a16="http://schemas.microsoft.com/office/drawing/2014/main" id="{7A4D640D-0560-012B-1A49-B40D47F367BA}"/>
              </a:ext>
            </a:extLst>
          </p:cNvPr>
          <p:cNvSpPr/>
          <p:nvPr/>
        </p:nvSpPr>
        <p:spPr>
          <a:xfrm>
            <a:off x="276189" y="1052284"/>
            <a:ext cx="8611496" cy="3656593"/>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DE71B4F-7BD7-D354-91CB-95513CACA237}"/>
              </a:ext>
            </a:extLst>
          </p:cNvPr>
          <p:cNvSpPr txBox="1"/>
          <p:nvPr/>
        </p:nvSpPr>
        <p:spPr>
          <a:xfrm>
            <a:off x="2815921" y="4694082"/>
            <a:ext cx="3532033" cy="449418"/>
          </a:xfrm>
          <a:prstGeom prst="rect">
            <a:avLst/>
          </a:prstGeom>
          <a:noFill/>
        </p:spPr>
        <p:txBody>
          <a:bodyPr wrap="square" rtlCol="0">
            <a:spAutoFit/>
          </a:bodyPr>
          <a:lstStyle/>
          <a:p>
            <a:pPr>
              <a:lnSpc>
                <a:spcPct val="130000"/>
              </a:lnSpc>
            </a:pPr>
            <a:r>
              <a:rPr lang="zh-CN" altLang="en-US" sz="2000" b="1" dirty="0">
                <a:latin typeface="Times New Roman" panose="02020603050405020304" pitchFamily="18" charset="0"/>
                <a:ea typeface="宋体" panose="02010600030101010101" pitchFamily="2" charset="-122"/>
              </a:rPr>
              <a:t>物理引导的数据驱动评价框架</a:t>
            </a:r>
          </a:p>
        </p:txBody>
      </p:sp>
      <p:sp>
        <p:nvSpPr>
          <p:cNvPr id="7" name="文本框 6">
            <a:extLst>
              <a:ext uri="{FF2B5EF4-FFF2-40B4-BE49-F238E27FC236}">
                <a16:creationId xmlns:a16="http://schemas.microsoft.com/office/drawing/2014/main" id="{D93C59C8-5718-024E-2B7D-819CF3949D6F}"/>
              </a:ext>
            </a:extLst>
          </p:cNvPr>
          <p:cNvSpPr txBox="1"/>
          <p:nvPr/>
        </p:nvSpPr>
        <p:spPr>
          <a:xfrm>
            <a:off x="964018" y="1520260"/>
            <a:ext cx="1643273" cy="546625"/>
          </a:xfrm>
          <a:prstGeom prst="rect">
            <a:avLst/>
          </a:prstGeom>
          <a:noFill/>
        </p:spPr>
        <p:txBody>
          <a:bodyPr wrap="square" rtlCol="0">
            <a:spAutoFit/>
          </a:bodyPr>
          <a:lstStyle/>
          <a:p>
            <a:pPr>
              <a:lnSpc>
                <a:spcPct val="130000"/>
              </a:lnSpc>
            </a:pPr>
            <a:r>
              <a:rPr lang="zh-CN" altLang="en-US" sz="1200" b="1" dirty="0">
                <a:latin typeface="Times New Roman" panose="02020603050405020304" pitchFamily="18" charset="0"/>
                <a:ea typeface="宋体" panose="02010600030101010101" pitchFamily="2" charset="-122"/>
              </a:rPr>
              <a:t>构建“声波</a:t>
            </a:r>
            <a:r>
              <a:rPr lang="en-US" altLang="zh-CN" sz="1200" b="1" dirty="0">
                <a:latin typeface="Times New Roman" panose="02020603050405020304" pitchFamily="18" charset="0"/>
                <a:ea typeface="宋体" panose="02010600030101010101" pitchFamily="2" charset="-122"/>
              </a:rPr>
              <a:t>-</a:t>
            </a:r>
            <a:r>
              <a:rPr lang="zh-CN" altLang="en-US" sz="1200" b="1" dirty="0">
                <a:latin typeface="Times New Roman" panose="02020603050405020304" pitchFamily="18" charset="0"/>
                <a:ea typeface="宋体" panose="02010600030101010101" pitchFamily="2" charset="-122"/>
              </a:rPr>
              <a:t>超声”高分辨率监督数据集</a:t>
            </a:r>
          </a:p>
        </p:txBody>
      </p:sp>
      <p:sp>
        <p:nvSpPr>
          <p:cNvPr id="8" name="文本框 7">
            <a:extLst>
              <a:ext uri="{FF2B5EF4-FFF2-40B4-BE49-F238E27FC236}">
                <a16:creationId xmlns:a16="http://schemas.microsoft.com/office/drawing/2014/main" id="{BF176E5B-42BE-1D53-9E28-375DAC84FC26}"/>
              </a:ext>
            </a:extLst>
          </p:cNvPr>
          <p:cNvSpPr txBox="1"/>
          <p:nvPr/>
        </p:nvSpPr>
        <p:spPr>
          <a:xfrm>
            <a:off x="3874269" y="1543773"/>
            <a:ext cx="2240381" cy="546625"/>
          </a:xfrm>
          <a:prstGeom prst="rect">
            <a:avLst/>
          </a:prstGeom>
          <a:noFill/>
        </p:spPr>
        <p:txBody>
          <a:bodyPr wrap="square" rtlCol="0">
            <a:spAutoFit/>
          </a:bodyPr>
          <a:lstStyle/>
          <a:p>
            <a:pPr>
              <a:lnSpc>
                <a:spcPct val="130000"/>
              </a:lnSpc>
            </a:pPr>
            <a:r>
              <a:rPr lang="zh-CN" altLang="en-US" sz="1200" b="1" dirty="0">
                <a:latin typeface="Times New Roman" panose="02020603050405020304" pitchFamily="18" charset="0"/>
                <a:ea typeface="宋体" panose="02010600030101010101" pitchFamily="2" charset="-122"/>
              </a:rPr>
              <a:t>提出</a:t>
            </a:r>
            <a:r>
              <a:rPr lang="en-US" altLang="zh-CN" sz="1200" b="1" dirty="0">
                <a:latin typeface="Times New Roman" panose="02020603050405020304" pitchFamily="18" charset="0"/>
                <a:ea typeface="宋体" panose="02010600030101010101" pitchFamily="2" charset="-122"/>
              </a:rPr>
              <a:t>FFT</a:t>
            </a:r>
            <a:r>
              <a:rPr lang="zh-CN" altLang="en-US" sz="1200" b="1" dirty="0">
                <a:latin typeface="Times New Roman" panose="02020603050405020304" pitchFamily="18" charset="0"/>
                <a:ea typeface="宋体" panose="02010600030101010101" pitchFamily="2" charset="-122"/>
              </a:rPr>
              <a:t>频谱回归与</a:t>
            </a:r>
            <a:r>
              <a:rPr lang="en-US" altLang="zh-CN" sz="1200" b="1" dirty="0">
                <a:latin typeface="Times New Roman" panose="02020603050405020304" pitchFamily="18" charset="0"/>
                <a:ea typeface="宋体" panose="02010600030101010101" pitchFamily="2" charset="-122"/>
              </a:rPr>
              <a:t>1D</a:t>
            </a:r>
            <a:r>
              <a:rPr lang="zh-CN" altLang="en-US" sz="1200" b="1" dirty="0">
                <a:latin typeface="Times New Roman" panose="02020603050405020304" pitchFamily="18" charset="0"/>
                <a:ea typeface="宋体" panose="02010600030101010101" pitchFamily="2" charset="-122"/>
              </a:rPr>
              <a:t>剖面回归模型，解决方位失配问题。</a:t>
            </a:r>
          </a:p>
        </p:txBody>
      </p:sp>
      <p:sp>
        <p:nvSpPr>
          <p:cNvPr id="9" name="流程图: 过程 8">
            <a:extLst>
              <a:ext uri="{FF2B5EF4-FFF2-40B4-BE49-F238E27FC236}">
                <a16:creationId xmlns:a16="http://schemas.microsoft.com/office/drawing/2014/main" id="{FA658FD4-9CCC-661B-48C9-7C45DE4EC34A}"/>
              </a:ext>
            </a:extLst>
          </p:cNvPr>
          <p:cNvSpPr/>
          <p:nvPr/>
        </p:nvSpPr>
        <p:spPr>
          <a:xfrm>
            <a:off x="1015978" y="1243375"/>
            <a:ext cx="1356610" cy="299803"/>
          </a:xfrm>
          <a:prstGeom prst="flowChartProces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宋体" panose="02010600030101010101" pitchFamily="2" charset="-122"/>
                <a:ea typeface="宋体" panose="02010600030101010101" pitchFamily="2" charset="-122"/>
              </a:rPr>
              <a:t>数据构建</a:t>
            </a:r>
          </a:p>
        </p:txBody>
      </p:sp>
      <p:sp>
        <p:nvSpPr>
          <p:cNvPr id="10" name="流程图: 过程 9">
            <a:extLst>
              <a:ext uri="{FF2B5EF4-FFF2-40B4-BE49-F238E27FC236}">
                <a16:creationId xmlns:a16="http://schemas.microsoft.com/office/drawing/2014/main" id="{71C2CFE6-6135-65B0-21CB-C50B759C0B40}"/>
              </a:ext>
            </a:extLst>
          </p:cNvPr>
          <p:cNvSpPr/>
          <p:nvPr/>
        </p:nvSpPr>
        <p:spPr>
          <a:xfrm>
            <a:off x="4316155" y="1245226"/>
            <a:ext cx="1356610" cy="299803"/>
          </a:xfrm>
          <a:prstGeom prst="flowChartProces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宋体" panose="02010600030101010101" pitchFamily="2" charset="-122"/>
                <a:ea typeface="宋体" panose="02010600030101010101" pitchFamily="2" charset="-122"/>
              </a:rPr>
              <a:t>模型构建</a:t>
            </a:r>
          </a:p>
        </p:txBody>
      </p:sp>
      <p:sp>
        <p:nvSpPr>
          <p:cNvPr id="11" name="流程图: 过程 10">
            <a:extLst>
              <a:ext uri="{FF2B5EF4-FFF2-40B4-BE49-F238E27FC236}">
                <a16:creationId xmlns:a16="http://schemas.microsoft.com/office/drawing/2014/main" id="{EEDA4AC3-F8C6-AC18-9769-25DDCB346D7E}"/>
              </a:ext>
            </a:extLst>
          </p:cNvPr>
          <p:cNvSpPr/>
          <p:nvPr/>
        </p:nvSpPr>
        <p:spPr>
          <a:xfrm>
            <a:off x="7073713" y="1245820"/>
            <a:ext cx="1356610" cy="299803"/>
          </a:xfrm>
          <a:prstGeom prst="flowChartProces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宋体" panose="02010600030101010101" pitchFamily="2" charset="-122"/>
                <a:ea typeface="宋体" panose="02010600030101010101" pitchFamily="2" charset="-122"/>
              </a:rPr>
              <a:t>机理揭示</a:t>
            </a:r>
          </a:p>
        </p:txBody>
      </p:sp>
      <p:sp>
        <p:nvSpPr>
          <p:cNvPr id="12" name="文本框 11">
            <a:extLst>
              <a:ext uri="{FF2B5EF4-FFF2-40B4-BE49-F238E27FC236}">
                <a16:creationId xmlns:a16="http://schemas.microsoft.com/office/drawing/2014/main" id="{150AF939-5E50-6161-4FCA-EFCACFE78DDB}"/>
              </a:ext>
            </a:extLst>
          </p:cNvPr>
          <p:cNvSpPr txBox="1"/>
          <p:nvPr/>
        </p:nvSpPr>
        <p:spPr>
          <a:xfrm>
            <a:off x="6802921" y="1545623"/>
            <a:ext cx="1898194" cy="546625"/>
          </a:xfrm>
          <a:prstGeom prst="rect">
            <a:avLst/>
          </a:prstGeom>
          <a:noFill/>
        </p:spPr>
        <p:txBody>
          <a:bodyPr wrap="square" rtlCol="0">
            <a:spAutoFit/>
          </a:bodyPr>
          <a:lstStyle/>
          <a:p>
            <a:pPr>
              <a:lnSpc>
                <a:spcPct val="130000"/>
              </a:lnSpc>
            </a:pPr>
            <a:r>
              <a:rPr lang="zh-CN" altLang="en-US" sz="1200" b="1" dirty="0">
                <a:latin typeface="Times New Roman" panose="02020603050405020304" pitchFamily="18" charset="0"/>
                <a:ea typeface="宋体" panose="02010600030101010101" pitchFamily="2" charset="-122"/>
              </a:rPr>
              <a:t>利用</a:t>
            </a:r>
            <a:r>
              <a:rPr lang="en-US" altLang="zh-CN" sz="1200" b="1" dirty="0">
                <a:latin typeface="Times New Roman" panose="02020603050405020304" pitchFamily="18" charset="0"/>
                <a:ea typeface="宋体" panose="02010600030101010101" pitchFamily="2" charset="-122"/>
              </a:rPr>
              <a:t>Grad-CAM</a:t>
            </a:r>
            <a:r>
              <a:rPr lang="zh-CN" altLang="en-US" sz="1200" b="1" dirty="0">
                <a:latin typeface="Times New Roman" panose="02020603050405020304" pitchFamily="18" charset="0"/>
                <a:ea typeface="宋体" panose="02010600030101010101" pitchFamily="2" charset="-122"/>
              </a:rPr>
              <a:t>定位窜槽敏感频段，打开</a:t>
            </a:r>
            <a:r>
              <a:rPr lang="en-US" altLang="zh-CN" sz="1200" b="1" dirty="0">
                <a:latin typeface="Times New Roman" panose="02020603050405020304" pitchFamily="18" charset="0"/>
                <a:ea typeface="宋体" panose="02010600030101010101" pitchFamily="2" charset="-122"/>
              </a:rPr>
              <a:t>AI</a:t>
            </a:r>
            <a:r>
              <a:rPr lang="zh-CN" altLang="en-US" sz="1200" b="1" dirty="0">
                <a:latin typeface="Times New Roman" panose="02020603050405020304" pitchFamily="18" charset="0"/>
                <a:ea typeface="宋体" panose="02010600030101010101" pitchFamily="2" charset="-122"/>
              </a:rPr>
              <a:t>黑箱。</a:t>
            </a:r>
          </a:p>
        </p:txBody>
      </p:sp>
      <p:pic>
        <p:nvPicPr>
          <p:cNvPr id="18" name="图形 17">
            <a:extLst>
              <a:ext uri="{FF2B5EF4-FFF2-40B4-BE49-F238E27FC236}">
                <a16:creationId xmlns:a16="http://schemas.microsoft.com/office/drawing/2014/main" id="{3CD91DCB-DFE2-7135-4B15-6DB823144B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6127" y="2033547"/>
            <a:ext cx="2912868" cy="1125755"/>
          </a:xfrm>
          <a:prstGeom prst="rect">
            <a:avLst/>
          </a:prstGeom>
        </p:spPr>
      </p:pic>
      <p:pic>
        <p:nvPicPr>
          <p:cNvPr id="20" name="图形 19">
            <a:extLst>
              <a:ext uri="{FF2B5EF4-FFF2-40B4-BE49-F238E27FC236}">
                <a16:creationId xmlns:a16="http://schemas.microsoft.com/office/drawing/2014/main" id="{D67529E6-A027-530D-A108-926A76F365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41973" y="2065388"/>
            <a:ext cx="3274375" cy="1278898"/>
          </a:xfrm>
          <a:prstGeom prst="rect">
            <a:avLst/>
          </a:prstGeom>
        </p:spPr>
      </p:pic>
      <p:cxnSp>
        <p:nvCxnSpPr>
          <p:cNvPr id="22" name="直接连接符 21">
            <a:extLst>
              <a:ext uri="{FF2B5EF4-FFF2-40B4-BE49-F238E27FC236}">
                <a16:creationId xmlns:a16="http://schemas.microsoft.com/office/drawing/2014/main" id="{87B33DF4-67C5-A088-E002-0BBBE6DE0B36}"/>
              </a:ext>
            </a:extLst>
          </p:cNvPr>
          <p:cNvCxnSpPr>
            <a:cxnSpLocks/>
          </p:cNvCxnSpPr>
          <p:nvPr/>
        </p:nvCxnSpPr>
        <p:spPr>
          <a:xfrm>
            <a:off x="3317040" y="1066528"/>
            <a:ext cx="0" cy="3642349"/>
          </a:xfrm>
          <a:prstGeom prst="line">
            <a:avLst/>
          </a:prstGeom>
        </p:spPr>
        <p:style>
          <a:lnRef idx="3">
            <a:schemeClr val="accent1"/>
          </a:lnRef>
          <a:fillRef idx="0">
            <a:schemeClr val="accent1"/>
          </a:fillRef>
          <a:effectRef idx="2">
            <a:schemeClr val="accent1"/>
          </a:effectRef>
          <a:fontRef idx="minor">
            <a:schemeClr val="tx1"/>
          </a:fontRef>
        </p:style>
      </p:cxnSp>
      <p:cxnSp>
        <p:nvCxnSpPr>
          <p:cNvPr id="23" name="直接连接符 22">
            <a:extLst>
              <a:ext uri="{FF2B5EF4-FFF2-40B4-BE49-F238E27FC236}">
                <a16:creationId xmlns:a16="http://schemas.microsoft.com/office/drawing/2014/main" id="{677C2995-BB34-0138-2DBB-8A8D4619BA2A}"/>
              </a:ext>
            </a:extLst>
          </p:cNvPr>
          <p:cNvCxnSpPr>
            <a:cxnSpLocks/>
          </p:cNvCxnSpPr>
          <p:nvPr/>
        </p:nvCxnSpPr>
        <p:spPr>
          <a:xfrm flipH="1">
            <a:off x="6641280" y="1052284"/>
            <a:ext cx="30599" cy="3656593"/>
          </a:xfrm>
          <a:prstGeom prst="line">
            <a:avLst/>
          </a:prstGeom>
        </p:spPr>
        <p:style>
          <a:lnRef idx="3">
            <a:schemeClr val="accent1"/>
          </a:lnRef>
          <a:fillRef idx="0">
            <a:schemeClr val="accent1"/>
          </a:fillRef>
          <a:effectRef idx="2">
            <a:schemeClr val="accent1"/>
          </a:effectRef>
          <a:fontRef idx="minor">
            <a:schemeClr val="tx1"/>
          </a:fontRef>
        </p:style>
      </p:cxnSp>
      <p:pic>
        <p:nvPicPr>
          <p:cNvPr id="25" name="图片 24">
            <a:extLst>
              <a:ext uri="{FF2B5EF4-FFF2-40B4-BE49-F238E27FC236}">
                <a16:creationId xmlns:a16="http://schemas.microsoft.com/office/drawing/2014/main" id="{739047D5-C9B5-C4C1-C910-57D2FE54FEDA}"/>
              </a:ext>
            </a:extLst>
          </p:cNvPr>
          <p:cNvPicPr>
            <a:picLocks/>
          </p:cNvPicPr>
          <p:nvPr/>
        </p:nvPicPr>
        <p:blipFill>
          <a:blip r:embed="rId8"/>
          <a:srcRect t="7647" r="60045"/>
          <a:stretch>
            <a:fillRect/>
          </a:stretch>
        </p:blipFill>
        <p:spPr>
          <a:xfrm>
            <a:off x="6701229" y="2061355"/>
            <a:ext cx="2101577" cy="2632727"/>
          </a:xfrm>
          <a:prstGeom prst="rect">
            <a:avLst/>
          </a:prstGeom>
        </p:spPr>
      </p:pic>
      <p:pic>
        <p:nvPicPr>
          <p:cNvPr id="26" name="图片 25" descr="绘图 2">
            <a:extLst>
              <a:ext uri="{FF2B5EF4-FFF2-40B4-BE49-F238E27FC236}">
                <a16:creationId xmlns:a16="http://schemas.microsoft.com/office/drawing/2014/main" id="{C8F1AC1A-F9C3-B353-B95B-B88B8312D61A}"/>
              </a:ext>
            </a:extLst>
          </p:cNvPr>
          <p:cNvPicPr>
            <a:picLocks/>
          </p:cNvPicPr>
          <p:nvPr/>
        </p:nvPicPr>
        <p:blipFill>
          <a:blip r:embed="rId9"/>
          <a:srcRect b="52067"/>
          <a:stretch>
            <a:fillRect/>
          </a:stretch>
        </p:blipFill>
        <p:spPr>
          <a:xfrm>
            <a:off x="322702" y="3166019"/>
            <a:ext cx="2869775" cy="1466562"/>
          </a:xfrm>
          <a:prstGeom prst="rect">
            <a:avLst/>
          </a:prstGeom>
        </p:spPr>
      </p:pic>
      <p:pic>
        <p:nvPicPr>
          <p:cNvPr id="28" name="图形 27">
            <a:extLst>
              <a:ext uri="{FF2B5EF4-FFF2-40B4-BE49-F238E27FC236}">
                <a16:creationId xmlns:a16="http://schemas.microsoft.com/office/drawing/2014/main" id="{FEBF5540-32B7-E477-8E24-C39BC58A4C6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341973" y="3344286"/>
            <a:ext cx="3251941" cy="1278898"/>
          </a:xfrm>
          <a:prstGeom prst="rect">
            <a:avLst/>
          </a:prstGeom>
        </p:spPr>
      </p:pic>
    </p:spTree>
    <p:extLst>
      <p:ext uri="{BB962C8B-B14F-4D97-AF65-F5344CB8AC3E}">
        <p14:creationId xmlns:p14="http://schemas.microsoft.com/office/powerpoint/2010/main" val="779338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C3FED5E-4EE0-464C-8613-10B209C0AD37}"/>
              </a:ext>
            </a:extLst>
          </p:cNvPr>
          <p:cNvSpPr>
            <a:spLocks noGrp="1"/>
          </p:cNvSpPr>
          <p:nvPr>
            <p:ph type="sldNum" sz="quarter" idx="12"/>
          </p:nvPr>
        </p:nvSpPr>
        <p:spPr/>
        <p:txBody>
          <a:bodyPr/>
          <a:lstStyle/>
          <a:p>
            <a:r>
              <a:rPr lang="en-US" altLang="zh-CN" dirty="0"/>
              <a:t>5</a:t>
            </a:r>
            <a:endParaRPr lang="zh-CN" altLang="en-US" dirty="0"/>
          </a:p>
        </p:txBody>
      </p:sp>
      <p:sp>
        <p:nvSpPr>
          <p:cNvPr id="31" name="矩形 30">
            <a:extLst>
              <a:ext uri="{FF2B5EF4-FFF2-40B4-BE49-F238E27FC236}">
                <a16:creationId xmlns:a16="http://schemas.microsoft.com/office/drawing/2014/main" id="{9E096731-F0CE-4A94-A6AC-C8D83AC53AD5}"/>
              </a:ext>
            </a:extLst>
          </p:cNvPr>
          <p:cNvSpPr/>
          <p:nvPr/>
        </p:nvSpPr>
        <p:spPr>
          <a:xfrm>
            <a:off x="580526" y="78941"/>
            <a:ext cx="2050248"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defRPr/>
            </a:pPr>
            <a:r>
              <a:rPr lang="en-US" altLang="zh-CN" sz="1800" dirty="0">
                <a:solidFill>
                  <a:prstClr val="white"/>
                </a:solidFill>
                <a:latin typeface="Verdana"/>
                <a:ea typeface="微软雅黑" panose="020B0503020204020204" pitchFamily="34" charset="-122"/>
              </a:rPr>
              <a:t>3 </a:t>
            </a:r>
            <a:r>
              <a:rPr lang="zh-CN" altLang="en-US" sz="1800" dirty="0">
                <a:solidFill>
                  <a:prstClr val="white"/>
                </a:solidFill>
                <a:latin typeface="Verdana"/>
                <a:ea typeface="微软雅黑" panose="020B0503020204020204" pitchFamily="34" charset="-122"/>
              </a:rPr>
              <a:t>研究目标与内容</a:t>
            </a:r>
          </a:p>
        </p:txBody>
      </p:sp>
      <p:sp>
        <p:nvSpPr>
          <p:cNvPr id="32" name="矩形 31">
            <a:extLst>
              <a:ext uri="{FF2B5EF4-FFF2-40B4-BE49-F238E27FC236}">
                <a16:creationId xmlns:a16="http://schemas.microsoft.com/office/drawing/2014/main" id="{2F8FD3CB-7F8C-4B1D-8D1F-A8CCDA39C31E}"/>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0AA6B4D6-54B4-437C-B073-F634492D7B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sp>
        <p:nvSpPr>
          <p:cNvPr id="198" name="矩形 197">
            <a:extLst>
              <a:ext uri="{FF2B5EF4-FFF2-40B4-BE49-F238E27FC236}">
                <a16:creationId xmlns:a16="http://schemas.microsoft.com/office/drawing/2014/main" id="{360D16AD-EB31-4EF2-849A-C4493C76A841}"/>
              </a:ext>
            </a:extLst>
          </p:cNvPr>
          <p:cNvSpPr/>
          <p:nvPr/>
        </p:nvSpPr>
        <p:spPr bwMode="auto">
          <a:xfrm>
            <a:off x="581855" y="688370"/>
            <a:ext cx="2809045" cy="364467"/>
          </a:xfrm>
          <a:prstGeom prst="rect">
            <a:avLst/>
          </a:prstGeom>
          <a:solidFill>
            <a:schemeClr val="accent1"/>
          </a:solidFill>
          <a:ln>
            <a:noFill/>
          </a:ln>
        </p:spPr>
        <p:txBody>
          <a:bodyPr vert="horz" wrap="square" lIns="68580" tIns="34290" rIns="68580" bIns="34290" numCol="1" rtlCol="0" anchor="t" anchorCtr="0" compatLnSpc="1">
            <a:prstTxWarp prst="textNoShape">
              <a:avLst/>
            </a:prstTxWarp>
          </a:bodyPr>
          <a:lstStyle/>
          <a:p>
            <a:pPr algn="ctr"/>
            <a:r>
              <a:rPr lang="zh-CN" altLang="en-US"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研究内容</a:t>
            </a:r>
          </a:p>
        </p:txBody>
      </p:sp>
      <p:sp>
        <p:nvSpPr>
          <p:cNvPr id="543" name="椭圆 542">
            <a:extLst>
              <a:ext uri="{FF2B5EF4-FFF2-40B4-BE49-F238E27FC236}">
                <a16:creationId xmlns:a16="http://schemas.microsoft.com/office/drawing/2014/main" id="{63D9367C-1EDF-4BF1-9CF6-7A4217D2A06F}"/>
              </a:ext>
            </a:extLst>
          </p:cNvPr>
          <p:cNvSpPr/>
          <p:nvPr/>
        </p:nvSpPr>
        <p:spPr>
          <a:xfrm>
            <a:off x="131741" y="673713"/>
            <a:ext cx="388547" cy="388547"/>
          </a:xfrm>
          <a:prstGeom prst="ellipse">
            <a:avLst/>
          </a:prstGeom>
          <a:solidFill>
            <a:srgbClr val="002060"/>
          </a:solidFill>
          <a:ln w="38100">
            <a:solidFill>
              <a:schemeClr val="bg1"/>
            </a:solidFill>
          </a:ln>
          <a:effectLst>
            <a:outerShdw blurRad="266700" dist="889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t>2</a:t>
            </a:r>
            <a:endParaRPr lang="zh-CN" altLang="en-US" sz="2800" dirty="0"/>
          </a:p>
        </p:txBody>
      </p:sp>
      <p:sp>
        <p:nvSpPr>
          <p:cNvPr id="3" name="矩形 2">
            <a:extLst>
              <a:ext uri="{FF2B5EF4-FFF2-40B4-BE49-F238E27FC236}">
                <a16:creationId xmlns:a16="http://schemas.microsoft.com/office/drawing/2014/main" id="{B2F5CD32-6529-D171-A781-58ACD6FBD8A7}"/>
              </a:ext>
            </a:extLst>
          </p:cNvPr>
          <p:cNvSpPr/>
          <p:nvPr/>
        </p:nvSpPr>
        <p:spPr>
          <a:xfrm>
            <a:off x="515857" y="1182755"/>
            <a:ext cx="5688767" cy="3531483"/>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pic>
        <p:nvPicPr>
          <p:cNvPr id="14" name="图形 13">
            <a:extLst>
              <a:ext uri="{FF2B5EF4-FFF2-40B4-BE49-F238E27FC236}">
                <a16:creationId xmlns:a16="http://schemas.microsoft.com/office/drawing/2014/main" id="{4573E7EB-FAEC-4653-0F6D-8220838BEAC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0526" y="1192178"/>
            <a:ext cx="5559428" cy="3451270"/>
          </a:xfrm>
          <a:prstGeom prst="rect">
            <a:avLst/>
          </a:prstGeom>
        </p:spPr>
      </p:pic>
      <p:pic>
        <p:nvPicPr>
          <p:cNvPr id="16" name="图片 15">
            <a:extLst>
              <a:ext uri="{FF2B5EF4-FFF2-40B4-BE49-F238E27FC236}">
                <a16:creationId xmlns:a16="http://schemas.microsoft.com/office/drawing/2014/main" id="{2D52E2B9-D00F-8523-E9B4-E9DF498F8AAB}"/>
              </a:ext>
            </a:extLst>
          </p:cNvPr>
          <p:cNvPicPr>
            <a:picLocks noChangeAspect="1"/>
          </p:cNvPicPr>
          <p:nvPr/>
        </p:nvPicPr>
        <p:blipFill>
          <a:blip r:embed="rId6"/>
          <a:stretch>
            <a:fillRect/>
          </a:stretch>
        </p:blipFill>
        <p:spPr>
          <a:xfrm>
            <a:off x="5164505" y="2585668"/>
            <a:ext cx="846689" cy="518030"/>
          </a:xfrm>
          <a:prstGeom prst="rect">
            <a:avLst/>
          </a:prstGeom>
        </p:spPr>
      </p:pic>
      <p:pic>
        <p:nvPicPr>
          <p:cNvPr id="5" name="图片 4">
            <a:extLst>
              <a:ext uri="{FF2B5EF4-FFF2-40B4-BE49-F238E27FC236}">
                <a16:creationId xmlns:a16="http://schemas.microsoft.com/office/drawing/2014/main" id="{70DD612F-3111-30A5-A8D5-DCEFB8800AA2}"/>
              </a:ext>
            </a:extLst>
          </p:cNvPr>
          <p:cNvPicPr>
            <a:picLocks/>
          </p:cNvPicPr>
          <p:nvPr/>
        </p:nvPicPr>
        <p:blipFill>
          <a:blip r:embed="rId7"/>
          <a:srcRect l="7154" r="8144" b="5492"/>
          <a:stretch>
            <a:fillRect/>
          </a:stretch>
        </p:blipFill>
        <p:spPr>
          <a:xfrm>
            <a:off x="6462433" y="1213842"/>
            <a:ext cx="1758460" cy="1490000"/>
          </a:xfrm>
          <a:prstGeom prst="rect">
            <a:avLst/>
          </a:prstGeom>
        </p:spPr>
      </p:pic>
      <p:pic>
        <p:nvPicPr>
          <p:cNvPr id="7" name="图片 6">
            <a:extLst>
              <a:ext uri="{FF2B5EF4-FFF2-40B4-BE49-F238E27FC236}">
                <a16:creationId xmlns:a16="http://schemas.microsoft.com/office/drawing/2014/main" id="{02131DCC-F548-9EE6-4752-826B6B4F8F3A}"/>
              </a:ext>
            </a:extLst>
          </p:cNvPr>
          <p:cNvPicPr>
            <a:picLocks/>
          </p:cNvPicPr>
          <p:nvPr/>
        </p:nvPicPr>
        <p:blipFill>
          <a:blip r:embed="rId8"/>
          <a:srcRect l="7154" r="8144" b="5492"/>
          <a:stretch>
            <a:fillRect/>
          </a:stretch>
        </p:blipFill>
        <p:spPr>
          <a:xfrm>
            <a:off x="6462433" y="2917813"/>
            <a:ext cx="1758460" cy="1490000"/>
          </a:xfrm>
          <a:prstGeom prst="rect">
            <a:avLst/>
          </a:prstGeom>
        </p:spPr>
      </p:pic>
      <p:sp>
        <p:nvSpPr>
          <p:cNvPr id="8" name="矩形 7">
            <a:extLst>
              <a:ext uri="{FF2B5EF4-FFF2-40B4-BE49-F238E27FC236}">
                <a16:creationId xmlns:a16="http://schemas.microsoft.com/office/drawing/2014/main" id="{893F5E4A-9260-0645-DAC8-0FE30EC38A36}"/>
              </a:ext>
            </a:extLst>
          </p:cNvPr>
          <p:cNvSpPr/>
          <p:nvPr/>
        </p:nvSpPr>
        <p:spPr>
          <a:xfrm>
            <a:off x="6384906" y="1182755"/>
            <a:ext cx="2035553" cy="3531483"/>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289BC157-679F-0948-05B5-F472E862EEE5}"/>
              </a:ext>
            </a:extLst>
          </p:cNvPr>
          <p:cNvSpPr txBox="1"/>
          <p:nvPr/>
        </p:nvSpPr>
        <p:spPr>
          <a:xfrm>
            <a:off x="7107099" y="2644747"/>
            <a:ext cx="469128" cy="308418"/>
          </a:xfrm>
          <a:prstGeom prst="rect">
            <a:avLst/>
          </a:prstGeom>
          <a:noFill/>
        </p:spPr>
        <p:txBody>
          <a:bodyPr wrap="square" rtlCol="0">
            <a:spAutoFit/>
          </a:bodyPr>
          <a:lstStyle/>
          <a:p>
            <a:pPr>
              <a:lnSpc>
                <a:spcPct val="130000"/>
              </a:lnSpc>
            </a:pPr>
            <a:r>
              <a:rPr lang="en-US" altLang="zh-CN" sz="1200" b="1" dirty="0">
                <a:latin typeface="Times New Roman" panose="02020603050405020304" pitchFamily="18" charset="0"/>
                <a:ea typeface="宋体" panose="02010600030101010101" pitchFamily="2" charset="-122"/>
              </a:rPr>
              <a:t>Inc</a:t>
            </a:r>
            <a:endParaRPr lang="zh-CN" altLang="en-US" sz="1200" b="1" dirty="0">
              <a:latin typeface="Times New Roman" panose="02020603050405020304" pitchFamily="18" charset="0"/>
              <a:ea typeface="宋体" panose="02010600030101010101" pitchFamily="2" charset="-122"/>
            </a:endParaRPr>
          </a:p>
        </p:txBody>
      </p:sp>
      <p:sp>
        <p:nvSpPr>
          <p:cNvPr id="10" name="文本框 9">
            <a:extLst>
              <a:ext uri="{FF2B5EF4-FFF2-40B4-BE49-F238E27FC236}">
                <a16:creationId xmlns:a16="http://schemas.microsoft.com/office/drawing/2014/main" id="{7DE870F5-D8AD-464F-B56A-1B97CDA79684}"/>
              </a:ext>
            </a:extLst>
          </p:cNvPr>
          <p:cNvSpPr txBox="1"/>
          <p:nvPr/>
        </p:nvSpPr>
        <p:spPr>
          <a:xfrm>
            <a:off x="6758237" y="4374477"/>
            <a:ext cx="1462656" cy="308418"/>
          </a:xfrm>
          <a:prstGeom prst="rect">
            <a:avLst/>
          </a:prstGeom>
          <a:noFill/>
        </p:spPr>
        <p:txBody>
          <a:bodyPr wrap="square" rtlCol="0">
            <a:spAutoFit/>
          </a:bodyPr>
          <a:lstStyle/>
          <a:p>
            <a:pPr>
              <a:lnSpc>
                <a:spcPct val="130000"/>
              </a:lnSpc>
            </a:pPr>
            <a:r>
              <a:rPr lang="en-US" altLang="zh-CN" sz="1200" b="1" dirty="0">
                <a:latin typeface="Times New Roman" panose="02020603050405020304" pitchFamily="18" charset="0"/>
                <a:ea typeface="宋体" panose="02010600030101010101" pitchFamily="2" charset="-122"/>
              </a:rPr>
              <a:t>Relative Bearing</a:t>
            </a:r>
            <a:endParaRPr lang="zh-CN" altLang="en-US" sz="1200" b="1"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008538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9B178-C9B6-88EF-7BE8-1994FF14927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2529121-A1A1-D60F-8FEE-2057E52C604A}"/>
              </a:ext>
            </a:extLst>
          </p:cNvPr>
          <p:cNvSpPr>
            <a:spLocks noGrp="1"/>
          </p:cNvSpPr>
          <p:nvPr>
            <p:ph type="sldNum" sz="quarter" idx="12"/>
          </p:nvPr>
        </p:nvSpPr>
        <p:spPr/>
        <p:txBody>
          <a:bodyPr/>
          <a:lstStyle/>
          <a:p>
            <a:r>
              <a:rPr lang="en-US" altLang="zh-CN" dirty="0"/>
              <a:t>6</a:t>
            </a:r>
            <a:endParaRPr lang="zh-CN" altLang="en-US" dirty="0"/>
          </a:p>
        </p:txBody>
      </p:sp>
      <p:sp>
        <p:nvSpPr>
          <p:cNvPr id="31" name="矩形 30">
            <a:extLst>
              <a:ext uri="{FF2B5EF4-FFF2-40B4-BE49-F238E27FC236}">
                <a16:creationId xmlns:a16="http://schemas.microsoft.com/office/drawing/2014/main" id="{DAC167EA-2A96-5DD8-BA77-F3BF18BC892B}"/>
              </a:ext>
            </a:extLst>
          </p:cNvPr>
          <p:cNvSpPr/>
          <p:nvPr/>
        </p:nvSpPr>
        <p:spPr>
          <a:xfrm>
            <a:off x="580526" y="78941"/>
            <a:ext cx="2050248"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defRPr/>
            </a:pPr>
            <a:r>
              <a:rPr lang="en-US" altLang="zh-CN" sz="1800" dirty="0">
                <a:solidFill>
                  <a:prstClr val="white"/>
                </a:solidFill>
                <a:latin typeface="Verdana"/>
                <a:ea typeface="微软雅黑" panose="020B0503020204020204" pitchFamily="34" charset="-122"/>
              </a:rPr>
              <a:t>4 </a:t>
            </a:r>
            <a:r>
              <a:rPr lang="zh-CN" altLang="en-US" sz="1800" dirty="0">
                <a:solidFill>
                  <a:prstClr val="white"/>
                </a:solidFill>
                <a:latin typeface="Verdana"/>
                <a:ea typeface="微软雅黑" panose="020B0503020204020204" pitchFamily="34" charset="-122"/>
              </a:rPr>
              <a:t>技术路线</a:t>
            </a:r>
          </a:p>
        </p:txBody>
      </p:sp>
      <p:sp>
        <p:nvSpPr>
          <p:cNvPr id="32" name="矩形 31">
            <a:extLst>
              <a:ext uri="{FF2B5EF4-FFF2-40B4-BE49-F238E27FC236}">
                <a16:creationId xmlns:a16="http://schemas.microsoft.com/office/drawing/2014/main" id="{39500D0E-8E40-71FF-58A1-9E3338FF8DFB}"/>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BAE49DB2-0A10-810D-262B-CE8043364E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sp>
        <p:nvSpPr>
          <p:cNvPr id="198" name="矩形 197">
            <a:extLst>
              <a:ext uri="{FF2B5EF4-FFF2-40B4-BE49-F238E27FC236}">
                <a16:creationId xmlns:a16="http://schemas.microsoft.com/office/drawing/2014/main" id="{C297F3F4-17D6-62F5-55B8-73E6B130EF09}"/>
              </a:ext>
            </a:extLst>
          </p:cNvPr>
          <p:cNvSpPr/>
          <p:nvPr/>
        </p:nvSpPr>
        <p:spPr bwMode="auto">
          <a:xfrm>
            <a:off x="581855" y="688370"/>
            <a:ext cx="1818445" cy="364467"/>
          </a:xfrm>
          <a:prstGeom prst="rect">
            <a:avLst/>
          </a:prstGeom>
          <a:solidFill>
            <a:schemeClr val="accent1"/>
          </a:solidFill>
          <a:ln>
            <a:noFill/>
          </a:ln>
        </p:spPr>
        <p:txBody>
          <a:bodyPr vert="horz" wrap="square" lIns="68580" tIns="34290" rIns="68580" bIns="34290" numCol="1" rtlCol="0" anchor="t" anchorCtr="0" compatLnSpc="1">
            <a:prstTxWarp prst="textNoShape">
              <a:avLst/>
            </a:prstTxWarp>
          </a:bodyPr>
          <a:lstStyle/>
          <a:p>
            <a:pPr algn="ctr"/>
            <a:r>
              <a:rPr lang="zh-CN" altLang="en-US"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总体技术路线图</a:t>
            </a:r>
          </a:p>
        </p:txBody>
      </p:sp>
      <p:sp>
        <p:nvSpPr>
          <p:cNvPr id="543" name="椭圆 542">
            <a:extLst>
              <a:ext uri="{FF2B5EF4-FFF2-40B4-BE49-F238E27FC236}">
                <a16:creationId xmlns:a16="http://schemas.microsoft.com/office/drawing/2014/main" id="{82271F88-883D-896F-2C07-F18B83B69486}"/>
              </a:ext>
            </a:extLst>
          </p:cNvPr>
          <p:cNvSpPr/>
          <p:nvPr/>
        </p:nvSpPr>
        <p:spPr>
          <a:xfrm>
            <a:off x="131741" y="673713"/>
            <a:ext cx="388547" cy="388547"/>
          </a:xfrm>
          <a:prstGeom prst="ellipse">
            <a:avLst/>
          </a:prstGeom>
          <a:solidFill>
            <a:srgbClr val="002060"/>
          </a:solidFill>
          <a:ln w="38100">
            <a:solidFill>
              <a:schemeClr val="bg1"/>
            </a:solidFill>
          </a:ln>
          <a:effectLst>
            <a:outerShdw blurRad="266700" dist="889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t>1</a:t>
            </a:r>
            <a:endParaRPr lang="zh-CN" altLang="en-US" sz="2800" dirty="0"/>
          </a:p>
        </p:txBody>
      </p:sp>
      <p:pic>
        <p:nvPicPr>
          <p:cNvPr id="4" name="图片 3" descr="绘图 2">
            <a:extLst>
              <a:ext uri="{FF2B5EF4-FFF2-40B4-BE49-F238E27FC236}">
                <a16:creationId xmlns:a16="http://schemas.microsoft.com/office/drawing/2014/main" id="{99C47509-4B80-C854-F28D-BE26F6901A3F}"/>
              </a:ext>
            </a:extLst>
          </p:cNvPr>
          <p:cNvPicPr>
            <a:picLocks noChangeAspect="1"/>
          </p:cNvPicPr>
          <p:nvPr/>
        </p:nvPicPr>
        <p:blipFill>
          <a:blip r:embed="rId3"/>
          <a:stretch>
            <a:fillRect/>
          </a:stretch>
        </p:blipFill>
        <p:spPr>
          <a:xfrm>
            <a:off x="339917" y="1306975"/>
            <a:ext cx="3173461" cy="1839941"/>
          </a:xfrm>
          <a:prstGeom prst="rect">
            <a:avLst/>
          </a:prstGeom>
        </p:spPr>
      </p:pic>
      <p:sp>
        <p:nvSpPr>
          <p:cNvPr id="8" name="右箭头 23">
            <a:extLst>
              <a:ext uri="{FF2B5EF4-FFF2-40B4-BE49-F238E27FC236}">
                <a16:creationId xmlns:a16="http://schemas.microsoft.com/office/drawing/2014/main" id="{19C17B21-2B35-73D4-204D-95B7AF305A65}"/>
              </a:ext>
            </a:extLst>
          </p:cNvPr>
          <p:cNvSpPr/>
          <p:nvPr/>
        </p:nvSpPr>
        <p:spPr>
          <a:xfrm>
            <a:off x="3830959" y="1998905"/>
            <a:ext cx="289764" cy="179388"/>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圆角右箭头 24">
            <a:extLst>
              <a:ext uri="{FF2B5EF4-FFF2-40B4-BE49-F238E27FC236}">
                <a16:creationId xmlns:a16="http://schemas.microsoft.com/office/drawing/2014/main" id="{656F754E-195C-49CF-4970-FDAB49A77DBE}"/>
              </a:ext>
            </a:extLst>
          </p:cNvPr>
          <p:cNvSpPr/>
          <p:nvPr/>
        </p:nvSpPr>
        <p:spPr>
          <a:xfrm rot="10800000">
            <a:off x="7559693" y="2886215"/>
            <a:ext cx="463550" cy="533400"/>
          </a:xfrm>
          <a:prstGeom prst="ben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文本框 9">
            <a:extLst>
              <a:ext uri="{FF2B5EF4-FFF2-40B4-BE49-F238E27FC236}">
                <a16:creationId xmlns:a16="http://schemas.microsoft.com/office/drawing/2014/main" id="{761FE0FD-4CBF-C01B-30A3-AF30B4FEF79F}"/>
              </a:ext>
            </a:extLst>
          </p:cNvPr>
          <p:cNvSpPr txBox="1"/>
          <p:nvPr/>
        </p:nvSpPr>
        <p:spPr>
          <a:xfrm>
            <a:off x="1453144" y="1188405"/>
            <a:ext cx="625073" cy="246221"/>
          </a:xfrm>
          <a:prstGeom prst="rect">
            <a:avLst/>
          </a:prstGeom>
          <a:noFill/>
        </p:spPr>
        <p:txBody>
          <a:bodyPr wrap="square" rtlCol="0" anchor="t">
            <a:spAutoFit/>
          </a:bodyPr>
          <a:lstStyle/>
          <a:p>
            <a:pPr lvl="0">
              <a:lnSpc>
                <a:spcPct val="100000"/>
              </a:lnSpc>
              <a:defRPr/>
            </a:pPr>
            <a:r>
              <a:rPr lang="zh-CN" altLang="en-US"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预处理</a:t>
            </a:r>
            <a:endParaRPr lang="en-US" altLang="zh-CN"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sp>
        <p:nvSpPr>
          <p:cNvPr id="11" name="文本框 10">
            <a:extLst>
              <a:ext uri="{FF2B5EF4-FFF2-40B4-BE49-F238E27FC236}">
                <a16:creationId xmlns:a16="http://schemas.microsoft.com/office/drawing/2014/main" id="{278537EC-623C-EF25-A5C5-15BB0649A9D7}"/>
              </a:ext>
            </a:extLst>
          </p:cNvPr>
          <p:cNvSpPr txBox="1"/>
          <p:nvPr/>
        </p:nvSpPr>
        <p:spPr>
          <a:xfrm>
            <a:off x="5398696" y="581881"/>
            <a:ext cx="960120" cy="246221"/>
          </a:xfrm>
          <a:prstGeom prst="rect">
            <a:avLst/>
          </a:prstGeom>
          <a:noFill/>
        </p:spPr>
        <p:txBody>
          <a:bodyPr wrap="square" rtlCol="0" anchor="t">
            <a:spAutoFit/>
          </a:bodyPr>
          <a:lstStyle/>
          <a:p>
            <a:pPr lvl="0">
              <a:lnSpc>
                <a:spcPct val="100000"/>
              </a:lnSpc>
              <a:defRPr/>
            </a:pPr>
            <a:r>
              <a:rPr lang="zh-CN" altLang="en-US"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标签生成</a:t>
            </a:r>
            <a:endParaRPr lang="en-US" altLang="zh-CN"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sp>
        <p:nvSpPr>
          <p:cNvPr id="12" name="文本框 11">
            <a:extLst>
              <a:ext uri="{FF2B5EF4-FFF2-40B4-BE49-F238E27FC236}">
                <a16:creationId xmlns:a16="http://schemas.microsoft.com/office/drawing/2014/main" id="{8E0C48F3-D5F6-364C-1EE1-EB088FB2781F}"/>
              </a:ext>
            </a:extLst>
          </p:cNvPr>
          <p:cNvSpPr txBox="1"/>
          <p:nvPr/>
        </p:nvSpPr>
        <p:spPr>
          <a:xfrm>
            <a:off x="1765681" y="3234993"/>
            <a:ext cx="1203863" cy="246221"/>
          </a:xfrm>
          <a:prstGeom prst="rect">
            <a:avLst/>
          </a:prstGeom>
          <a:noFill/>
        </p:spPr>
        <p:txBody>
          <a:bodyPr wrap="square" rtlCol="0" anchor="t">
            <a:spAutoFit/>
          </a:bodyPr>
          <a:lstStyle/>
          <a:p>
            <a:pPr lvl="0">
              <a:lnSpc>
                <a:spcPct val="100000"/>
              </a:lnSpc>
              <a:defRPr/>
            </a:pPr>
            <a:r>
              <a:rPr lang="en-US" altLang="zh-CN"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Grad-CAM </a:t>
            </a:r>
            <a:r>
              <a:rPr lang="zh-CN" altLang="en-US"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解释</a:t>
            </a:r>
            <a:endParaRPr lang="en-US" altLang="zh-CN"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pic>
        <p:nvPicPr>
          <p:cNvPr id="13" name="图片 12">
            <a:extLst>
              <a:ext uri="{FF2B5EF4-FFF2-40B4-BE49-F238E27FC236}">
                <a16:creationId xmlns:a16="http://schemas.microsoft.com/office/drawing/2014/main" id="{A32B0D00-8D15-CCF0-6F25-2BFC4A9289DC}"/>
              </a:ext>
            </a:extLst>
          </p:cNvPr>
          <p:cNvPicPr>
            <a:picLocks/>
          </p:cNvPicPr>
          <p:nvPr/>
        </p:nvPicPr>
        <p:blipFill>
          <a:blip r:embed="rId4" cstate="print">
            <a:extLst>
              <a:ext uri="{28A0092B-C50C-407E-A947-70E740481C1C}">
                <a14:useLocalDpi xmlns:a14="http://schemas.microsoft.com/office/drawing/2010/main" val="0"/>
              </a:ext>
            </a:extLst>
          </a:blip>
          <a:srcRect t="10535" r="58281"/>
          <a:stretch>
            <a:fillRect/>
          </a:stretch>
        </p:blipFill>
        <p:spPr>
          <a:xfrm>
            <a:off x="5013809" y="825363"/>
            <a:ext cx="1729893" cy="1283495"/>
          </a:xfrm>
          <a:prstGeom prst="rect">
            <a:avLst/>
          </a:prstGeom>
        </p:spPr>
      </p:pic>
      <p:pic>
        <p:nvPicPr>
          <p:cNvPr id="15" name="图片 14">
            <a:extLst>
              <a:ext uri="{FF2B5EF4-FFF2-40B4-BE49-F238E27FC236}">
                <a16:creationId xmlns:a16="http://schemas.microsoft.com/office/drawing/2014/main" id="{73EC9EA7-EF42-DA52-EEB8-A2EF2F991CC5}"/>
              </a:ext>
            </a:extLst>
          </p:cNvPr>
          <p:cNvPicPr>
            <a:picLocks/>
          </p:cNvPicPr>
          <p:nvPr/>
        </p:nvPicPr>
        <p:blipFill>
          <a:blip r:embed="rId5">
            <a:extLst>
              <a:ext uri="{28A0092B-C50C-407E-A947-70E740481C1C}">
                <a14:useLocalDpi xmlns:a14="http://schemas.microsoft.com/office/drawing/2010/main" val="0"/>
              </a:ext>
            </a:extLst>
          </a:blip>
          <a:srcRect l="42969" t="12845" r="12188" b="61786"/>
          <a:stretch>
            <a:fillRect/>
          </a:stretch>
        </p:blipFill>
        <p:spPr>
          <a:xfrm>
            <a:off x="4841420" y="1971908"/>
            <a:ext cx="2146300" cy="1020445"/>
          </a:xfrm>
          <a:prstGeom prst="rect">
            <a:avLst/>
          </a:prstGeom>
        </p:spPr>
      </p:pic>
      <p:pic>
        <p:nvPicPr>
          <p:cNvPr id="17" name="图片 16">
            <a:extLst>
              <a:ext uri="{FF2B5EF4-FFF2-40B4-BE49-F238E27FC236}">
                <a16:creationId xmlns:a16="http://schemas.microsoft.com/office/drawing/2014/main" id="{B19D06C7-BC12-3139-0B1A-FE377D55AF4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43548" y="3525886"/>
            <a:ext cx="2318973" cy="1545983"/>
          </a:xfrm>
          <a:prstGeom prst="rect">
            <a:avLst/>
          </a:prstGeom>
        </p:spPr>
      </p:pic>
      <p:sp>
        <p:nvSpPr>
          <p:cNvPr id="19" name="矩形 18">
            <a:extLst>
              <a:ext uri="{FF2B5EF4-FFF2-40B4-BE49-F238E27FC236}">
                <a16:creationId xmlns:a16="http://schemas.microsoft.com/office/drawing/2014/main" id="{4CC4527F-1019-8062-C7F0-A77C356BA014}"/>
              </a:ext>
            </a:extLst>
          </p:cNvPr>
          <p:cNvSpPr/>
          <p:nvPr/>
        </p:nvSpPr>
        <p:spPr>
          <a:xfrm>
            <a:off x="71029" y="1208354"/>
            <a:ext cx="3713689" cy="1938562"/>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26518F22-E1D7-75F8-C4CE-381774552BE9}"/>
              </a:ext>
            </a:extLst>
          </p:cNvPr>
          <p:cNvSpPr/>
          <p:nvPr/>
        </p:nvSpPr>
        <p:spPr>
          <a:xfrm>
            <a:off x="4231349" y="581881"/>
            <a:ext cx="3261212" cy="2571034"/>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DCD3100A-D854-77FD-8060-5A08A38138C8}"/>
              </a:ext>
            </a:extLst>
          </p:cNvPr>
          <p:cNvPicPr>
            <a:picLocks/>
          </p:cNvPicPr>
          <p:nvPr/>
        </p:nvPicPr>
        <p:blipFill>
          <a:blip r:embed="rId5" cstate="print">
            <a:extLst>
              <a:ext uri="{28A0092B-C50C-407E-A947-70E740481C1C}">
                <a14:useLocalDpi xmlns:a14="http://schemas.microsoft.com/office/drawing/2010/main" val="0"/>
              </a:ext>
            </a:extLst>
          </a:blip>
          <a:srcRect l="42656" t="88571" r="12031" b="3750"/>
          <a:stretch>
            <a:fillRect/>
          </a:stretch>
        </p:blipFill>
        <p:spPr>
          <a:xfrm>
            <a:off x="4841420" y="3002375"/>
            <a:ext cx="2146300" cy="108285"/>
          </a:xfrm>
          <a:prstGeom prst="rect">
            <a:avLst/>
          </a:prstGeom>
        </p:spPr>
      </p:pic>
      <p:pic>
        <p:nvPicPr>
          <p:cNvPr id="24" name="图形 23">
            <a:extLst>
              <a:ext uri="{FF2B5EF4-FFF2-40B4-BE49-F238E27FC236}">
                <a16:creationId xmlns:a16="http://schemas.microsoft.com/office/drawing/2014/main" id="{B9FF6995-4287-960A-D64B-13C358BE89C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11359" y="3539560"/>
            <a:ext cx="3226171" cy="1557154"/>
          </a:xfrm>
          <a:prstGeom prst="rect">
            <a:avLst/>
          </a:prstGeom>
        </p:spPr>
      </p:pic>
      <p:sp>
        <p:nvSpPr>
          <p:cNvPr id="25" name="矩形 24">
            <a:extLst>
              <a:ext uri="{FF2B5EF4-FFF2-40B4-BE49-F238E27FC236}">
                <a16:creationId xmlns:a16="http://schemas.microsoft.com/office/drawing/2014/main" id="{55BE5EC2-D32B-4718-BC33-0B6D610267D0}"/>
              </a:ext>
            </a:extLst>
          </p:cNvPr>
          <p:cNvSpPr/>
          <p:nvPr/>
        </p:nvSpPr>
        <p:spPr>
          <a:xfrm>
            <a:off x="4231349" y="3194883"/>
            <a:ext cx="3250575" cy="1948617"/>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958109E2-0DB1-B030-6BDE-56E5627863FA}"/>
              </a:ext>
            </a:extLst>
          </p:cNvPr>
          <p:cNvSpPr txBox="1"/>
          <p:nvPr/>
        </p:nvSpPr>
        <p:spPr>
          <a:xfrm>
            <a:off x="5551096" y="3272355"/>
            <a:ext cx="960120" cy="246221"/>
          </a:xfrm>
          <a:prstGeom prst="rect">
            <a:avLst/>
          </a:prstGeom>
          <a:noFill/>
        </p:spPr>
        <p:txBody>
          <a:bodyPr wrap="square" rtlCol="0" anchor="t">
            <a:spAutoFit/>
          </a:bodyPr>
          <a:lstStyle/>
          <a:p>
            <a:pPr lvl="0">
              <a:lnSpc>
                <a:spcPct val="100000"/>
              </a:lnSpc>
              <a:defRPr/>
            </a:pPr>
            <a:r>
              <a:rPr lang="zh-CN" altLang="en-US"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构建模型</a:t>
            </a:r>
            <a:endParaRPr lang="en-US" altLang="zh-CN"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sp>
        <p:nvSpPr>
          <p:cNvPr id="27" name="右箭头 23">
            <a:extLst>
              <a:ext uri="{FF2B5EF4-FFF2-40B4-BE49-F238E27FC236}">
                <a16:creationId xmlns:a16="http://schemas.microsoft.com/office/drawing/2014/main" id="{4875C69A-BB61-5CD8-F6CD-531A35236232}"/>
              </a:ext>
            </a:extLst>
          </p:cNvPr>
          <p:cNvSpPr/>
          <p:nvPr/>
        </p:nvSpPr>
        <p:spPr>
          <a:xfrm rot="10800000">
            <a:off x="3784719" y="3910496"/>
            <a:ext cx="382246" cy="179388"/>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C052150E-973F-EC4C-1022-E59A05673F69}"/>
              </a:ext>
            </a:extLst>
          </p:cNvPr>
          <p:cNvSpPr/>
          <p:nvPr/>
        </p:nvSpPr>
        <p:spPr>
          <a:xfrm>
            <a:off x="68580" y="3235119"/>
            <a:ext cx="3716137" cy="1836624"/>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55A584AE-20E5-5161-F74B-BE730BC92CE9}"/>
              </a:ext>
            </a:extLst>
          </p:cNvPr>
          <p:cNvPicPr>
            <a:picLocks/>
          </p:cNvPicPr>
          <p:nvPr/>
        </p:nvPicPr>
        <p:blipFill>
          <a:blip r:embed="rId9" cstate="print">
            <a:extLst>
              <a:ext uri="{28A0092B-C50C-407E-A947-70E740481C1C}">
                <a14:useLocalDpi xmlns:a14="http://schemas.microsoft.com/office/drawing/2010/main" val="0"/>
              </a:ext>
            </a:extLst>
          </a:blip>
          <a:srcRect l="6285" t="6593" r="8925" b="5269"/>
          <a:stretch>
            <a:fillRect/>
          </a:stretch>
        </p:blipFill>
        <p:spPr>
          <a:xfrm>
            <a:off x="131741" y="3590605"/>
            <a:ext cx="1203863" cy="1227589"/>
          </a:xfrm>
          <a:prstGeom prst="rect">
            <a:avLst/>
          </a:prstGeom>
        </p:spPr>
      </p:pic>
    </p:spTree>
    <p:extLst>
      <p:ext uri="{BB962C8B-B14F-4D97-AF65-F5344CB8AC3E}">
        <p14:creationId xmlns:p14="http://schemas.microsoft.com/office/powerpoint/2010/main" val="23301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C3FED5E-4EE0-464C-8613-10B209C0AD37}"/>
              </a:ext>
            </a:extLst>
          </p:cNvPr>
          <p:cNvSpPr>
            <a:spLocks noGrp="1"/>
          </p:cNvSpPr>
          <p:nvPr>
            <p:ph type="sldNum" sz="quarter" idx="12"/>
          </p:nvPr>
        </p:nvSpPr>
        <p:spPr/>
        <p:txBody>
          <a:bodyPr/>
          <a:lstStyle/>
          <a:p>
            <a:r>
              <a:rPr lang="en-US" altLang="zh-CN" dirty="0"/>
              <a:t>7</a:t>
            </a:r>
            <a:endParaRPr lang="zh-CN" altLang="en-US" dirty="0"/>
          </a:p>
        </p:txBody>
      </p:sp>
      <p:sp>
        <p:nvSpPr>
          <p:cNvPr id="31" name="矩形 30">
            <a:extLst>
              <a:ext uri="{FF2B5EF4-FFF2-40B4-BE49-F238E27FC236}">
                <a16:creationId xmlns:a16="http://schemas.microsoft.com/office/drawing/2014/main" id="{9E096731-F0CE-4A94-A6AC-C8D83AC53AD5}"/>
              </a:ext>
            </a:extLst>
          </p:cNvPr>
          <p:cNvSpPr/>
          <p:nvPr/>
        </p:nvSpPr>
        <p:spPr>
          <a:xfrm>
            <a:off x="580526" y="78941"/>
            <a:ext cx="1814018"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4 </a:t>
            </a:r>
            <a:r>
              <a:rPr kumimoji="0" lang="zh-CN" altLang="en-US"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技术路线</a:t>
            </a:r>
          </a:p>
        </p:txBody>
      </p:sp>
      <p:sp>
        <p:nvSpPr>
          <p:cNvPr id="32" name="矩形 31">
            <a:extLst>
              <a:ext uri="{FF2B5EF4-FFF2-40B4-BE49-F238E27FC236}">
                <a16:creationId xmlns:a16="http://schemas.microsoft.com/office/drawing/2014/main" id="{2F8FD3CB-7F8C-4B1D-8D1F-A8CCDA39C31E}"/>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0AA6B4D6-54B4-437C-B073-F634492D7B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sp>
        <p:nvSpPr>
          <p:cNvPr id="569" name="椭圆 568">
            <a:extLst>
              <a:ext uri="{FF2B5EF4-FFF2-40B4-BE49-F238E27FC236}">
                <a16:creationId xmlns:a16="http://schemas.microsoft.com/office/drawing/2014/main" id="{363C59E9-0833-468B-A8F0-1ED446142592}"/>
              </a:ext>
            </a:extLst>
          </p:cNvPr>
          <p:cNvSpPr/>
          <p:nvPr/>
        </p:nvSpPr>
        <p:spPr>
          <a:xfrm>
            <a:off x="10682" y="717261"/>
            <a:ext cx="388547" cy="388547"/>
          </a:xfrm>
          <a:prstGeom prst="ellipse">
            <a:avLst/>
          </a:prstGeom>
          <a:solidFill>
            <a:srgbClr val="002060"/>
          </a:solidFill>
          <a:ln w="38100">
            <a:solidFill>
              <a:schemeClr val="bg1"/>
            </a:solidFill>
          </a:ln>
          <a:effectLst>
            <a:outerShdw blurRad="266700" dist="889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t>2</a:t>
            </a:r>
            <a:endParaRPr lang="zh-CN" altLang="en-US" sz="2800" dirty="0"/>
          </a:p>
        </p:txBody>
      </p:sp>
      <p:sp>
        <p:nvSpPr>
          <p:cNvPr id="580" name="矩形 579">
            <a:extLst>
              <a:ext uri="{FF2B5EF4-FFF2-40B4-BE49-F238E27FC236}">
                <a16:creationId xmlns:a16="http://schemas.microsoft.com/office/drawing/2014/main" id="{F718CC0A-2E42-441D-BB93-FEC88B8D7C69}"/>
              </a:ext>
            </a:extLst>
          </p:cNvPr>
          <p:cNvSpPr/>
          <p:nvPr/>
        </p:nvSpPr>
        <p:spPr bwMode="auto">
          <a:xfrm>
            <a:off x="590084" y="722343"/>
            <a:ext cx="1714451" cy="364467"/>
          </a:xfrm>
          <a:prstGeom prst="rect">
            <a:avLst/>
          </a:prstGeom>
          <a:solidFill>
            <a:schemeClr val="accent1"/>
          </a:solidFill>
          <a:ln>
            <a:noFill/>
          </a:ln>
        </p:spPr>
        <p:txBody>
          <a:bodyPr vert="horz" wrap="square" lIns="68580" tIns="34290" rIns="68580" bIns="34290" numCol="1" rtlCol="0" anchor="t" anchorCtr="0" compatLnSpc="1">
            <a:prstTxWarp prst="textNoShape">
              <a:avLst/>
            </a:prstTxWarp>
          </a:bodyPr>
          <a:lstStyle/>
          <a:p>
            <a:pPr algn="ctr"/>
            <a:r>
              <a:rPr lang="zh-CN" altLang="en-US"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特征工程：</a:t>
            </a:r>
            <a:r>
              <a:rPr lang="en-US" altLang="zh-CN"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CWT</a:t>
            </a:r>
            <a:endParaRPr lang="zh-CN" altLang="en-US"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B34346E9-BB42-F899-68C5-B1A48E51B620}"/>
              </a:ext>
            </a:extLst>
          </p:cNvPr>
          <p:cNvPicPr>
            <a:picLocks/>
          </p:cNvPicPr>
          <p:nvPr/>
        </p:nvPicPr>
        <p:blipFill>
          <a:blip r:embed="rId3"/>
          <a:srcRect t="48518"/>
          <a:stretch>
            <a:fillRect/>
          </a:stretch>
        </p:blipFill>
        <p:spPr>
          <a:xfrm>
            <a:off x="5528450" y="2077008"/>
            <a:ext cx="2712341" cy="1702351"/>
          </a:xfrm>
          <a:prstGeom prst="rect">
            <a:avLst/>
          </a:prstGeom>
        </p:spPr>
      </p:pic>
      <p:pic>
        <p:nvPicPr>
          <p:cNvPr id="10" name="图片 9">
            <a:extLst>
              <a:ext uri="{FF2B5EF4-FFF2-40B4-BE49-F238E27FC236}">
                <a16:creationId xmlns:a16="http://schemas.microsoft.com/office/drawing/2014/main" id="{E3BA0A1D-99CC-A041-221B-1B81CDB21B46}"/>
              </a:ext>
            </a:extLst>
          </p:cNvPr>
          <p:cNvPicPr>
            <a:picLocks noChangeAspect="1"/>
          </p:cNvPicPr>
          <p:nvPr/>
        </p:nvPicPr>
        <p:blipFill>
          <a:blip r:embed="rId4"/>
          <a:stretch>
            <a:fillRect/>
          </a:stretch>
        </p:blipFill>
        <p:spPr>
          <a:xfrm>
            <a:off x="2380548" y="1820246"/>
            <a:ext cx="2653067" cy="2237403"/>
          </a:xfrm>
          <a:prstGeom prst="rect">
            <a:avLst/>
          </a:prstGeom>
        </p:spPr>
      </p:pic>
      <p:cxnSp>
        <p:nvCxnSpPr>
          <p:cNvPr id="12" name="直接箭头连接符 11">
            <a:extLst>
              <a:ext uri="{FF2B5EF4-FFF2-40B4-BE49-F238E27FC236}">
                <a16:creationId xmlns:a16="http://schemas.microsoft.com/office/drawing/2014/main" id="{704ADA36-74D5-5BBC-8FF8-BF092DBFD29F}"/>
              </a:ext>
            </a:extLst>
          </p:cNvPr>
          <p:cNvCxnSpPr>
            <a:cxnSpLocks/>
          </p:cNvCxnSpPr>
          <p:nvPr/>
        </p:nvCxnSpPr>
        <p:spPr>
          <a:xfrm>
            <a:off x="5033615" y="2944752"/>
            <a:ext cx="4948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9810CA87-01E0-FD6B-FD6E-BBC6D3B744B2}"/>
              </a:ext>
            </a:extLst>
          </p:cNvPr>
          <p:cNvSpPr/>
          <p:nvPr/>
        </p:nvSpPr>
        <p:spPr>
          <a:xfrm>
            <a:off x="4921180" y="2578324"/>
            <a:ext cx="651139" cy="338554"/>
          </a:xfrm>
          <a:prstGeom prst="rect">
            <a:avLst/>
          </a:prstGeom>
          <a:noFill/>
        </p:spPr>
        <p:txBody>
          <a:bodyPr wrap="none" lIns="91440" tIns="45720" rIns="91440" bIns="45720">
            <a:spAutoFit/>
          </a:bodyPr>
          <a:lstStyle/>
          <a:p>
            <a:pPr algn="ctr"/>
            <a:r>
              <a:rPr lang="en-US" altLang="zh-CN" sz="1600" b="0" cap="none" spc="0" dirty="0">
                <a:ln w="0"/>
                <a:solidFill>
                  <a:schemeClr val="tx1"/>
                </a:solidFill>
                <a:effectLst>
                  <a:outerShdw blurRad="38100" dist="19050" dir="2700000" algn="tl" rotWithShape="0">
                    <a:schemeClr val="dk1">
                      <a:alpha val="40000"/>
                    </a:schemeClr>
                  </a:outerShdw>
                </a:effectLst>
              </a:rPr>
              <a:t>CWT</a:t>
            </a:r>
            <a:endParaRPr lang="zh-CN" altLang="en-US" sz="1600" b="0" cap="none" spc="0" dirty="0">
              <a:ln w="0"/>
              <a:solidFill>
                <a:schemeClr val="tx1"/>
              </a:solidFill>
              <a:effectLst>
                <a:outerShdw blurRad="38100" dist="19050" dir="2700000" algn="tl" rotWithShape="0">
                  <a:schemeClr val="dk1">
                    <a:alpha val="40000"/>
                  </a:schemeClr>
                </a:outerShdw>
              </a:effectLst>
            </a:endParaRPr>
          </a:p>
        </p:txBody>
      </p:sp>
      <p:sp>
        <p:nvSpPr>
          <p:cNvPr id="14" name="矩形 13">
            <a:extLst>
              <a:ext uri="{FF2B5EF4-FFF2-40B4-BE49-F238E27FC236}">
                <a16:creationId xmlns:a16="http://schemas.microsoft.com/office/drawing/2014/main" id="{4C00737C-DE76-9F5F-CE5D-17C7DFD4C0BF}"/>
              </a:ext>
            </a:extLst>
          </p:cNvPr>
          <p:cNvSpPr/>
          <p:nvPr/>
        </p:nvSpPr>
        <p:spPr>
          <a:xfrm>
            <a:off x="2304535" y="1544993"/>
            <a:ext cx="6001265" cy="3114831"/>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863AB919-A3C3-C5A0-9EE3-96DE92B9378B}"/>
              </a:ext>
            </a:extLst>
          </p:cNvPr>
          <p:cNvSpPr/>
          <p:nvPr/>
        </p:nvSpPr>
        <p:spPr>
          <a:xfrm>
            <a:off x="207827" y="1544994"/>
            <a:ext cx="1959586" cy="1026756"/>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A04E289F-EA9C-0CC4-6839-CA23A9F36FE8}"/>
              </a:ext>
            </a:extLst>
          </p:cNvPr>
          <p:cNvSpPr txBox="1"/>
          <p:nvPr/>
        </p:nvSpPr>
        <p:spPr>
          <a:xfrm>
            <a:off x="306532" y="1544994"/>
            <a:ext cx="1803257" cy="1026756"/>
          </a:xfrm>
          <a:prstGeom prst="rect">
            <a:avLst/>
          </a:prstGeom>
          <a:noFill/>
        </p:spPr>
        <p:txBody>
          <a:bodyPr wrap="square" rtlCol="0">
            <a:spAutoFit/>
          </a:bodyPr>
          <a:lstStyle/>
          <a:p>
            <a:pPr>
              <a:lnSpc>
                <a:spcPct val="130000"/>
              </a:lnSpc>
            </a:pPr>
            <a:r>
              <a:rPr lang="en-US" altLang="zh-CN" sz="1200" dirty="0">
                <a:latin typeface="Times New Roman" panose="02020603050405020304" pitchFamily="18" charset="0"/>
                <a:ea typeface="宋体" panose="02010600030101010101" pitchFamily="2" charset="-122"/>
              </a:rPr>
              <a:t>CWT</a:t>
            </a:r>
            <a:r>
              <a:rPr lang="zh-CN" altLang="en-US" sz="1200" dirty="0">
                <a:latin typeface="Times New Roman" panose="02020603050405020304" pitchFamily="18" charset="0"/>
                <a:ea typeface="宋体" panose="02010600030101010101" pitchFamily="2" charset="-122"/>
              </a:rPr>
              <a:t>特征提取：</a:t>
            </a:r>
            <a:endParaRPr lang="en-US" altLang="zh-CN" sz="1200" dirty="0">
              <a:latin typeface="Times New Roman" panose="02020603050405020304" pitchFamily="18" charset="0"/>
              <a:ea typeface="宋体" panose="02010600030101010101" pitchFamily="2" charset="-122"/>
            </a:endParaRPr>
          </a:p>
          <a:p>
            <a:pPr marL="171450"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采用复</a:t>
            </a:r>
            <a:r>
              <a:rPr lang="en-US" altLang="zh-CN" sz="1200" dirty="0">
                <a:latin typeface="Times New Roman" panose="02020603050405020304" pitchFamily="18" charset="0"/>
                <a:ea typeface="宋体" panose="02010600030101010101" pitchFamily="2" charset="-122"/>
              </a:rPr>
              <a:t>Morlet</a:t>
            </a:r>
            <a:r>
              <a:rPr lang="zh-CN" altLang="en-US" sz="1200" dirty="0">
                <a:latin typeface="Times New Roman" panose="02020603050405020304" pitchFamily="18" charset="0"/>
                <a:ea typeface="宋体" panose="02010600030101010101" pitchFamily="2" charset="-122"/>
              </a:rPr>
              <a:t>小波</a:t>
            </a:r>
            <a:endParaRPr lang="en-US" altLang="zh-CN" sz="1200" dirty="0">
              <a:latin typeface="Times New Roman" panose="02020603050405020304" pitchFamily="18" charset="0"/>
              <a:ea typeface="宋体" panose="02010600030101010101" pitchFamily="2" charset="-122"/>
            </a:endParaRPr>
          </a:p>
          <a:p>
            <a:pPr marL="171450"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覆盖</a:t>
            </a:r>
            <a:r>
              <a:rPr lang="en-US" altLang="zh-CN" sz="1200" dirty="0">
                <a:latin typeface="Times New Roman" panose="02020603050405020304" pitchFamily="18" charset="0"/>
                <a:ea typeface="宋体" panose="02010600030101010101" pitchFamily="2" charset="-122"/>
              </a:rPr>
              <a:t>1kHz-30kHz</a:t>
            </a:r>
            <a:r>
              <a:rPr lang="zh-CN" altLang="en-US" sz="1200" dirty="0">
                <a:latin typeface="Times New Roman" panose="02020603050405020304" pitchFamily="18" charset="0"/>
                <a:ea typeface="宋体" panose="02010600030101010101" pitchFamily="2" charset="-122"/>
              </a:rPr>
              <a:t>频带</a:t>
            </a:r>
            <a:endParaRPr lang="en-US" altLang="zh-CN" sz="1200" dirty="0">
              <a:latin typeface="Times New Roman" panose="02020603050405020304" pitchFamily="18" charset="0"/>
              <a:ea typeface="宋体" panose="02010600030101010101" pitchFamily="2" charset="-122"/>
            </a:endParaRPr>
          </a:p>
          <a:p>
            <a:pPr marL="171450"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包含</a:t>
            </a:r>
            <a:r>
              <a:rPr lang="en-US" altLang="zh-CN" sz="1200" dirty="0">
                <a:latin typeface="Times New Roman" panose="02020603050405020304" pitchFamily="18" charset="0"/>
                <a:ea typeface="宋体" panose="02010600030101010101" pitchFamily="2" charset="-122"/>
              </a:rPr>
              <a:t>150</a:t>
            </a:r>
            <a:r>
              <a:rPr lang="zh-CN" altLang="en-US" sz="1200" dirty="0">
                <a:latin typeface="Times New Roman" panose="02020603050405020304" pitchFamily="18" charset="0"/>
                <a:ea typeface="宋体" panose="02010600030101010101" pitchFamily="2" charset="-122"/>
              </a:rPr>
              <a:t>个尺度</a:t>
            </a:r>
          </a:p>
        </p:txBody>
      </p:sp>
      <p:sp>
        <p:nvSpPr>
          <p:cNvPr id="19" name="矩形 18">
            <a:extLst>
              <a:ext uri="{FF2B5EF4-FFF2-40B4-BE49-F238E27FC236}">
                <a16:creationId xmlns:a16="http://schemas.microsoft.com/office/drawing/2014/main" id="{4C167FB3-8817-7B5C-CCE0-455500560CD7}"/>
              </a:ext>
            </a:extLst>
          </p:cNvPr>
          <p:cNvSpPr/>
          <p:nvPr/>
        </p:nvSpPr>
        <p:spPr>
          <a:xfrm>
            <a:off x="217479" y="2644279"/>
            <a:ext cx="1959586" cy="2015545"/>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AB7BC96-E8AF-DFFB-FA47-D3AEA1C7FDE6}"/>
              </a:ext>
            </a:extLst>
          </p:cNvPr>
          <p:cNvSpPr txBox="1"/>
          <p:nvPr/>
        </p:nvSpPr>
        <p:spPr>
          <a:xfrm>
            <a:off x="268419" y="2672805"/>
            <a:ext cx="1822981" cy="1746953"/>
          </a:xfrm>
          <a:prstGeom prst="rect">
            <a:avLst/>
          </a:prstGeom>
          <a:noFill/>
        </p:spPr>
        <p:txBody>
          <a:bodyPr wrap="square" rtlCol="0">
            <a:spAutoFit/>
          </a:bodyPr>
          <a:lstStyle/>
          <a:p>
            <a:pPr>
              <a:lnSpc>
                <a:spcPct val="130000"/>
              </a:lnSpc>
            </a:pPr>
            <a:r>
              <a:rPr lang="zh-CN" altLang="en-US" sz="1200" dirty="0">
                <a:latin typeface="Times New Roman" panose="02020603050405020304" pitchFamily="18" charset="0"/>
                <a:ea typeface="宋体" panose="02010600030101010101" pitchFamily="2" charset="-122"/>
              </a:rPr>
              <a:t>高维时频特征构建采用复</a:t>
            </a:r>
            <a:r>
              <a:rPr lang="en-US" altLang="zh-CN" sz="1200" dirty="0">
                <a:latin typeface="Times New Roman" panose="02020603050405020304" pitchFamily="18" charset="0"/>
                <a:ea typeface="宋体" panose="02010600030101010101" pitchFamily="2" charset="-122"/>
              </a:rPr>
              <a:t>Morlet</a:t>
            </a:r>
            <a:r>
              <a:rPr lang="zh-CN" altLang="en-US" sz="1200" dirty="0">
                <a:latin typeface="Times New Roman" panose="02020603050405020304" pitchFamily="18" charset="0"/>
                <a:ea typeface="宋体" panose="02010600030101010101" pitchFamily="2" charset="-122"/>
              </a:rPr>
              <a:t>小波（</a:t>
            </a:r>
            <a:r>
              <a:rPr lang="en-US" altLang="zh-CN" sz="1200" dirty="0">
                <a:latin typeface="Times New Roman" panose="02020603050405020304" pitchFamily="18" charset="0"/>
                <a:ea typeface="宋体" panose="02010600030101010101" pitchFamily="2" charset="-122"/>
              </a:rPr>
              <a:t>cmor1.5-1.0</a:t>
            </a:r>
            <a:r>
              <a:rPr lang="zh-CN" altLang="en-US" sz="1200" dirty="0">
                <a:latin typeface="Times New Roman" panose="02020603050405020304" pitchFamily="18" charset="0"/>
                <a:ea typeface="宋体" panose="02010600030101010101" pitchFamily="2" charset="-122"/>
              </a:rPr>
              <a:t>）对</a:t>
            </a:r>
            <a:r>
              <a:rPr lang="en-US" altLang="zh-CN" sz="1200" dirty="0">
                <a:latin typeface="Times New Roman" panose="02020603050405020304" pitchFamily="18" charset="0"/>
                <a:ea typeface="宋体" panose="02010600030101010101" pitchFamily="2" charset="-122"/>
              </a:rPr>
              <a:t>8</a:t>
            </a:r>
            <a:r>
              <a:rPr lang="zh-CN" altLang="en-US" sz="1200" dirty="0">
                <a:latin typeface="Times New Roman" panose="02020603050405020304" pitchFamily="18" charset="0"/>
                <a:ea typeface="宋体" panose="02010600030101010101" pitchFamily="2" charset="-122"/>
              </a:rPr>
              <a:t>方位阵列声波信号进行连续小波变换（</a:t>
            </a:r>
            <a:r>
              <a:rPr lang="en-US" altLang="zh-CN" sz="1200" dirty="0">
                <a:latin typeface="Times New Roman" panose="02020603050405020304" pitchFamily="18" charset="0"/>
                <a:ea typeface="宋体" panose="02010600030101010101" pitchFamily="2" charset="-122"/>
              </a:rPr>
              <a:t>CWT</a:t>
            </a:r>
            <a:r>
              <a:rPr lang="zh-CN" altLang="en-US" sz="1200" dirty="0">
                <a:latin typeface="Times New Roman" panose="02020603050405020304" pitchFamily="18" charset="0"/>
                <a:ea typeface="宋体" panose="02010600030101010101" pitchFamily="2" charset="-122"/>
              </a:rPr>
              <a:t>），生成包含丰富时频信息的张量数据（</a:t>
            </a:r>
            <a:r>
              <a:rPr lang="en-US" altLang="zh-CN" sz="1200" dirty="0">
                <a:latin typeface="Times New Roman" panose="02020603050405020304" pitchFamily="18" charset="0"/>
                <a:ea typeface="宋体" panose="02010600030101010101" pitchFamily="2" charset="-122"/>
              </a:rPr>
              <a:t>150</a:t>
            </a:r>
            <a:r>
              <a:rPr lang="zh-CN" altLang="en-US" sz="1200" dirty="0">
                <a:latin typeface="Times New Roman" panose="02020603050405020304" pitchFamily="18" charset="0"/>
                <a:ea typeface="宋体" panose="02010600030101010101" pitchFamily="2" charset="-122"/>
              </a:rPr>
              <a:t>尺度</a:t>
            </a:r>
            <a:r>
              <a:rPr lang="en-US" altLang="zh-CN" sz="1200" dirty="0">
                <a:latin typeface="Times New Roman" panose="02020603050405020304" pitchFamily="18" charset="0"/>
                <a:ea typeface="宋体" panose="02010600030101010101" pitchFamily="2" charset="-122"/>
              </a:rPr>
              <a:t>×400</a:t>
            </a:r>
            <a:r>
              <a:rPr lang="zh-CN" altLang="en-US" sz="1200" dirty="0">
                <a:latin typeface="Times New Roman" panose="02020603050405020304" pitchFamily="18" charset="0"/>
                <a:ea typeface="宋体" panose="02010600030101010101" pitchFamily="2" charset="-122"/>
              </a:rPr>
              <a:t>时间步）</a:t>
            </a:r>
          </a:p>
        </p:txBody>
      </p:sp>
      <p:sp>
        <p:nvSpPr>
          <p:cNvPr id="21" name="文本框 20">
            <a:extLst>
              <a:ext uri="{FF2B5EF4-FFF2-40B4-BE49-F238E27FC236}">
                <a16:creationId xmlns:a16="http://schemas.microsoft.com/office/drawing/2014/main" id="{30BF425E-AAFE-E900-2AA5-EF602A62F562}"/>
              </a:ext>
            </a:extLst>
          </p:cNvPr>
          <p:cNvSpPr txBox="1"/>
          <p:nvPr/>
        </p:nvSpPr>
        <p:spPr>
          <a:xfrm>
            <a:off x="3261318" y="4010494"/>
            <a:ext cx="1110657" cy="308418"/>
          </a:xfrm>
          <a:prstGeom prst="rect">
            <a:avLst/>
          </a:prstGeom>
          <a:noFill/>
        </p:spPr>
        <p:txBody>
          <a:bodyPr wrap="square" rtlCol="0">
            <a:spAutoFit/>
          </a:bodyPr>
          <a:lstStyle/>
          <a:p>
            <a:pPr>
              <a:lnSpc>
                <a:spcPct val="130000"/>
              </a:lnSpc>
            </a:pPr>
            <a:r>
              <a:rPr lang="zh-CN" altLang="en-US" sz="1200" b="1" dirty="0">
                <a:latin typeface="Times New Roman" panose="02020603050405020304" pitchFamily="18" charset="0"/>
                <a:ea typeface="宋体" panose="02010600030101010101" pitchFamily="2" charset="-122"/>
              </a:rPr>
              <a:t>原始声波波形</a:t>
            </a:r>
          </a:p>
        </p:txBody>
      </p:sp>
      <p:sp>
        <p:nvSpPr>
          <p:cNvPr id="23" name="文本框 22">
            <a:extLst>
              <a:ext uri="{FF2B5EF4-FFF2-40B4-BE49-F238E27FC236}">
                <a16:creationId xmlns:a16="http://schemas.microsoft.com/office/drawing/2014/main" id="{0477388F-8E6B-7AD8-9E3D-C1EF3CD618C8}"/>
              </a:ext>
            </a:extLst>
          </p:cNvPr>
          <p:cNvSpPr txBox="1"/>
          <p:nvPr/>
        </p:nvSpPr>
        <p:spPr>
          <a:xfrm>
            <a:off x="6329291" y="3915457"/>
            <a:ext cx="1357384" cy="306559"/>
          </a:xfrm>
          <a:prstGeom prst="rect">
            <a:avLst/>
          </a:prstGeom>
          <a:noFill/>
        </p:spPr>
        <p:txBody>
          <a:bodyPr wrap="square" rtlCol="0">
            <a:spAutoFit/>
          </a:bodyPr>
          <a:lstStyle/>
          <a:p>
            <a:pPr>
              <a:lnSpc>
                <a:spcPct val="130000"/>
              </a:lnSpc>
            </a:pPr>
            <a:r>
              <a:rPr lang="en-US" altLang="zh-CN" sz="1200" b="1" dirty="0">
                <a:latin typeface="Times New Roman" panose="02020603050405020304" pitchFamily="18" charset="0"/>
                <a:ea typeface="宋体" panose="02010600030101010101" pitchFamily="2" charset="-122"/>
              </a:rPr>
              <a:t>CWT</a:t>
            </a:r>
            <a:r>
              <a:rPr lang="zh-CN" altLang="en-US" sz="1200" b="1" dirty="0">
                <a:latin typeface="Times New Roman" panose="02020603050405020304" pitchFamily="18" charset="0"/>
                <a:ea typeface="宋体" panose="02010600030101010101" pitchFamily="2" charset="-122"/>
              </a:rPr>
              <a:t>二维尺度图</a:t>
            </a:r>
          </a:p>
        </p:txBody>
      </p:sp>
    </p:spTree>
    <p:extLst>
      <p:ext uri="{BB962C8B-B14F-4D97-AF65-F5344CB8AC3E}">
        <p14:creationId xmlns:p14="http://schemas.microsoft.com/office/powerpoint/2010/main" val="1437942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34D37-D788-05DE-DD7D-E8674F80FBE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790B1FC-1112-37C9-55E2-B1ADD6DB7ACA}"/>
              </a:ext>
            </a:extLst>
          </p:cNvPr>
          <p:cNvSpPr>
            <a:spLocks noGrp="1"/>
          </p:cNvSpPr>
          <p:nvPr>
            <p:ph type="sldNum" sz="quarter" idx="12"/>
          </p:nvPr>
        </p:nvSpPr>
        <p:spPr/>
        <p:txBody>
          <a:bodyPr/>
          <a:lstStyle/>
          <a:p>
            <a:r>
              <a:rPr lang="en-US" altLang="zh-CN" dirty="0"/>
              <a:t>8</a:t>
            </a:r>
            <a:endParaRPr lang="zh-CN" altLang="en-US" dirty="0"/>
          </a:p>
        </p:txBody>
      </p:sp>
      <p:sp>
        <p:nvSpPr>
          <p:cNvPr id="31" name="矩形 30">
            <a:extLst>
              <a:ext uri="{FF2B5EF4-FFF2-40B4-BE49-F238E27FC236}">
                <a16:creationId xmlns:a16="http://schemas.microsoft.com/office/drawing/2014/main" id="{6A1756F4-4402-C5B0-5516-8125DAEAB97C}"/>
              </a:ext>
            </a:extLst>
          </p:cNvPr>
          <p:cNvSpPr/>
          <p:nvPr/>
        </p:nvSpPr>
        <p:spPr>
          <a:xfrm>
            <a:off x="580526" y="78941"/>
            <a:ext cx="1814018"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4 </a:t>
            </a:r>
            <a:r>
              <a:rPr kumimoji="0" lang="zh-CN" altLang="en-US"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技术路线</a:t>
            </a:r>
          </a:p>
        </p:txBody>
      </p:sp>
      <p:sp>
        <p:nvSpPr>
          <p:cNvPr id="32" name="矩形 31">
            <a:extLst>
              <a:ext uri="{FF2B5EF4-FFF2-40B4-BE49-F238E27FC236}">
                <a16:creationId xmlns:a16="http://schemas.microsoft.com/office/drawing/2014/main" id="{EB80278F-974B-EB45-536B-6B6E6BC3E151}"/>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49547BFF-84AC-79F7-F9DE-275E99BD35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sp>
        <p:nvSpPr>
          <p:cNvPr id="569" name="椭圆 568">
            <a:extLst>
              <a:ext uri="{FF2B5EF4-FFF2-40B4-BE49-F238E27FC236}">
                <a16:creationId xmlns:a16="http://schemas.microsoft.com/office/drawing/2014/main" id="{EEDC6837-CC1B-8438-E230-B0BC55483CA0}"/>
              </a:ext>
            </a:extLst>
          </p:cNvPr>
          <p:cNvSpPr/>
          <p:nvPr/>
        </p:nvSpPr>
        <p:spPr>
          <a:xfrm>
            <a:off x="10682" y="717261"/>
            <a:ext cx="388547" cy="388547"/>
          </a:xfrm>
          <a:prstGeom prst="ellipse">
            <a:avLst/>
          </a:prstGeom>
          <a:solidFill>
            <a:srgbClr val="002060"/>
          </a:solidFill>
          <a:ln w="38100">
            <a:solidFill>
              <a:schemeClr val="bg1"/>
            </a:solidFill>
          </a:ln>
          <a:effectLst>
            <a:outerShdw blurRad="266700" dist="889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t>3</a:t>
            </a:r>
            <a:endParaRPr lang="zh-CN" altLang="en-US" sz="2800" dirty="0"/>
          </a:p>
        </p:txBody>
      </p:sp>
      <p:sp>
        <p:nvSpPr>
          <p:cNvPr id="580" name="矩形 579">
            <a:extLst>
              <a:ext uri="{FF2B5EF4-FFF2-40B4-BE49-F238E27FC236}">
                <a16:creationId xmlns:a16="http://schemas.microsoft.com/office/drawing/2014/main" id="{D16DC496-63AB-F652-0B46-52486D9565FB}"/>
              </a:ext>
            </a:extLst>
          </p:cNvPr>
          <p:cNvSpPr/>
          <p:nvPr/>
        </p:nvSpPr>
        <p:spPr bwMode="auto">
          <a:xfrm>
            <a:off x="590084" y="722343"/>
            <a:ext cx="2962741" cy="364467"/>
          </a:xfrm>
          <a:prstGeom prst="rect">
            <a:avLst/>
          </a:prstGeom>
          <a:solidFill>
            <a:schemeClr val="accent1"/>
          </a:solidFill>
          <a:ln>
            <a:noFill/>
          </a:ln>
        </p:spPr>
        <p:txBody>
          <a:bodyPr vert="horz" wrap="square" lIns="68580" tIns="34290" rIns="68580" bIns="34290" numCol="1" rtlCol="0" anchor="t" anchorCtr="0" compatLnSpc="1">
            <a:prstTxWarp prst="textNoShape">
              <a:avLst/>
            </a:prstTxWarp>
          </a:bodyPr>
          <a:lstStyle/>
          <a:p>
            <a:pPr algn="ctr"/>
            <a:r>
              <a:rPr lang="zh-CN" altLang="en-US"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标签处理：</a:t>
            </a:r>
            <a:r>
              <a:rPr lang="en-US" altLang="zh-CN"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FFT</a:t>
            </a:r>
            <a:r>
              <a:rPr lang="zh-CN" altLang="en-US"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幅度谱回归</a:t>
            </a:r>
          </a:p>
        </p:txBody>
      </p:sp>
      <p:pic>
        <p:nvPicPr>
          <p:cNvPr id="25" name="图片 24">
            <a:extLst>
              <a:ext uri="{FF2B5EF4-FFF2-40B4-BE49-F238E27FC236}">
                <a16:creationId xmlns:a16="http://schemas.microsoft.com/office/drawing/2014/main" id="{415DE550-D94F-9D29-1B4F-15A5D6BB2B67}"/>
              </a:ext>
            </a:extLst>
          </p:cNvPr>
          <p:cNvPicPr>
            <a:picLocks noChangeAspect="1"/>
          </p:cNvPicPr>
          <p:nvPr/>
        </p:nvPicPr>
        <p:blipFill>
          <a:blip r:embed="rId4"/>
          <a:stretch>
            <a:fillRect/>
          </a:stretch>
        </p:blipFill>
        <p:spPr>
          <a:xfrm>
            <a:off x="4357226" y="1143173"/>
            <a:ext cx="4375301" cy="1545200"/>
          </a:xfrm>
          <a:prstGeom prst="rect">
            <a:avLst/>
          </a:prstGeom>
        </p:spPr>
      </p:pic>
      <p:pic>
        <p:nvPicPr>
          <p:cNvPr id="26" name="图片 25">
            <a:extLst>
              <a:ext uri="{FF2B5EF4-FFF2-40B4-BE49-F238E27FC236}">
                <a16:creationId xmlns:a16="http://schemas.microsoft.com/office/drawing/2014/main" id="{D13EE430-3A61-7385-6217-2217FA2A609B}"/>
              </a:ext>
            </a:extLst>
          </p:cNvPr>
          <p:cNvPicPr>
            <a:picLocks/>
          </p:cNvPicPr>
          <p:nvPr/>
        </p:nvPicPr>
        <p:blipFill>
          <a:blip r:embed="rId5" cstate="print">
            <a:extLst>
              <a:ext uri="{28A0092B-C50C-407E-A947-70E740481C1C}">
                <a14:useLocalDpi xmlns:a14="http://schemas.microsoft.com/office/drawing/2010/main" val="0"/>
              </a:ext>
            </a:extLst>
          </a:blip>
          <a:srcRect t="10535" r="58281"/>
          <a:stretch>
            <a:fillRect/>
          </a:stretch>
        </p:blipFill>
        <p:spPr>
          <a:xfrm>
            <a:off x="4233188" y="3138087"/>
            <a:ext cx="1488885" cy="1279214"/>
          </a:xfrm>
          <a:prstGeom prst="rect">
            <a:avLst/>
          </a:prstGeom>
        </p:spPr>
      </p:pic>
      <p:pic>
        <p:nvPicPr>
          <p:cNvPr id="27" name="图片 26">
            <a:extLst>
              <a:ext uri="{FF2B5EF4-FFF2-40B4-BE49-F238E27FC236}">
                <a16:creationId xmlns:a16="http://schemas.microsoft.com/office/drawing/2014/main" id="{4CD030CC-E484-EA34-5095-F6B4DC329303}"/>
              </a:ext>
            </a:extLst>
          </p:cNvPr>
          <p:cNvPicPr>
            <a:picLocks/>
          </p:cNvPicPr>
          <p:nvPr/>
        </p:nvPicPr>
        <p:blipFill>
          <a:blip r:embed="rId6" cstate="print">
            <a:extLst>
              <a:ext uri="{28A0092B-C50C-407E-A947-70E740481C1C}">
                <a14:useLocalDpi xmlns:a14="http://schemas.microsoft.com/office/drawing/2010/main" val="0"/>
              </a:ext>
            </a:extLst>
          </a:blip>
          <a:srcRect l="42656" t="88571" r="12031" b="3750"/>
          <a:stretch>
            <a:fillRect/>
          </a:stretch>
        </p:blipFill>
        <p:spPr>
          <a:xfrm>
            <a:off x="6311342" y="4288652"/>
            <a:ext cx="2550649" cy="140981"/>
          </a:xfrm>
          <a:prstGeom prst="rect">
            <a:avLst/>
          </a:prstGeom>
        </p:spPr>
      </p:pic>
      <p:pic>
        <p:nvPicPr>
          <p:cNvPr id="28" name="图片 27">
            <a:extLst>
              <a:ext uri="{FF2B5EF4-FFF2-40B4-BE49-F238E27FC236}">
                <a16:creationId xmlns:a16="http://schemas.microsoft.com/office/drawing/2014/main" id="{D5975207-3FAE-D929-7DE6-E63E4E87356C}"/>
              </a:ext>
            </a:extLst>
          </p:cNvPr>
          <p:cNvPicPr>
            <a:picLocks/>
          </p:cNvPicPr>
          <p:nvPr/>
        </p:nvPicPr>
        <p:blipFill>
          <a:blip r:embed="rId6">
            <a:extLst>
              <a:ext uri="{28A0092B-C50C-407E-A947-70E740481C1C}">
                <a14:useLocalDpi xmlns:a14="http://schemas.microsoft.com/office/drawing/2010/main" val="0"/>
              </a:ext>
            </a:extLst>
          </a:blip>
          <a:srcRect l="42969" t="12845" r="12188" b="61786"/>
          <a:stretch>
            <a:fillRect/>
          </a:stretch>
        </p:blipFill>
        <p:spPr>
          <a:xfrm>
            <a:off x="6311342" y="3097134"/>
            <a:ext cx="2550649" cy="1199522"/>
          </a:xfrm>
          <a:prstGeom prst="rect">
            <a:avLst/>
          </a:prstGeom>
        </p:spPr>
      </p:pic>
      <p:cxnSp>
        <p:nvCxnSpPr>
          <p:cNvPr id="30" name="直接箭头连接符 29">
            <a:extLst>
              <a:ext uri="{FF2B5EF4-FFF2-40B4-BE49-F238E27FC236}">
                <a16:creationId xmlns:a16="http://schemas.microsoft.com/office/drawing/2014/main" id="{3DEADE3A-0AE9-BC96-FD47-22840FB82BAF}"/>
              </a:ext>
            </a:extLst>
          </p:cNvPr>
          <p:cNvCxnSpPr>
            <a:cxnSpLocks/>
          </p:cNvCxnSpPr>
          <p:nvPr/>
        </p:nvCxnSpPr>
        <p:spPr>
          <a:xfrm>
            <a:off x="5752491" y="3759513"/>
            <a:ext cx="5266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D4E41F8C-D7CE-7D47-5486-00F3F9FA96BA}"/>
              </a:ext>
            </a:extLst>
          </p:cNvPr>
          <p:cNvSpPr txBox="1"/>
          <p:nvPr/>
        </p:nvSpPr>
        <p:spPr>
          <a:xfrm>
            <a:off x="5740728" y="3462774"/>
            <a:ext cx="534185" cy="546625"/>
          </a:xfrm>
          <a:prstGeom prst="rect">
            <a:avLst/>
          </a:prstGeom>
          <a:noFill/>
        </p:spPr>
        <p:txBody>
          <a:bodyPr wrap="square" rtlCol="0">
            <a:spAutoFit/>
          </a:bodyPr>
          <a:lstStyle/>
          <a:p>
            <a:pPr>
              <a:lnSpc>
                <a:spcPct val="130000"/>
              </a:lnSpc>
            </a:pPr>
            <a:r>
              <a:rPr lang="zh-CN" altLang="en-US" sz="1200" b="1" dirty="0">
                <a:latin typeface="Times New Roman" panose="02020603050405020304" pitchFamily="18" charset="0"/>
                <a:ea typeface="宋体" panose="02010600030101010101" pitchFamily="2" charset="-122"/>
              </a:rPr>
              <a:t>标签</a:t>
            </a:r>
            <a:endParaRPr lang="en-US" altLang="zh-CN" sz="1200" b="1" dirty="0">
              <a:latin typeface="Times New Roman" panose="02020603050405020304" pitchFamily="18" charset="0"/>
              <a:ea typeface="宋体" panose="02010600030101010101" pitchFamily="2" charset="-122"/>
            </a:endParaRPr>
          </a:p>
          <a:p>
            <a:pPr>
              <a:lnSpc>
                <a:spcPct val="130000"/>
              </a:lnSpc>
            </a:pPr>
            <a:r>
              <a:rPr lang="zh-CN" altLang="en-US" sz="1200" b="1" dirty="0">
                <a:latin typeface="Times New Roman" panose="02020603050405020304" pitchFamily="18" charset="0"/>
                <a:ea typeface="宋体" panose="02010600030101010101" pitchFamily="2" charset="-122"/>
              </a:rPr>
              <a:t>处理</a:t>
            </a:r>
          </a:p>
        </p:txBody>
      </p:sp>
      <p:sp>
        <p:nvSpPr>
          <p:cNvPr id="35" name="矩形 34">
            <a:extLst>
              <a:ext uri="{FF2B5EF4-FFF2-40B4-BE49-F238E27FC236}">
                <a16:creationId xmlns:a16="http://schemas.microsoft.com/office/drawing/2014/main" id="{E53F8851-8808-AD56-6C6E-3E22F3882A43}"/>
              </a:ext>
            </a:extLst>
          </p:cNvPr>
          <p:cNvSpPr/>
          <p:nvPr/>
        </p:nvSpPr>
        <p:spPr>
          <a:xfrm>
            <a:off x="32148" y="1192873"/>
            <a:ext cx="4134223" cy="3871685"/>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25BF74E1-E011-C164-58F3-D9F2DF0E1688}"/>
              </a:ext>
            </a:extLst>
          </p:cNvPr>
          <p:cNvSpPr txBox="1"/>
          <p:nvPr/>
        </p:nvSpPr>
        <p:spPr>
          <a:xfrm>
            <a:off x="-1" y="1207849"/>
            <a:ext cx="4134223" cy="3907545"/>
          </a:xfrm>
          <a:prstGeom prst="rect">
            <a:avLst/>
          </a:prstGeom>
          <a:noFill/>
        </p:spPr>
        <p:txBody>
          <a:bodyPr wrap="square" rtlCol="0">
            <a:spAutoFit/>
          </a:bodyPr>
          <a:lstStyle/>
          <a:p>
            <a:pPr>
              <a:lnSpc>
                <a:spcPct val="130000"/>
              </a:lnSpc>
            </a:pPr>
            <a:r>
              <a:rPr lang="zh-CN" altLang="en-US" sz="1200" b="1" dirty="0">
                <a:latin typeface="Times New Roman" panose="02020603050405020304" pitchFamily="18" charset="0"/>
                <a:ea typeface="宋体" panose="02010600030101010101" pitchFamily="2" charset="-122"/>
              </a:rPr>
              <a:t>第一步：超声数据严重度变换</a:t>
            </a:r>
            <a:endParaRPr lang="en-US" altLang="zh-CN" sz="1200" b="1" dirty="0">
              <a:latin typeface="Times New Roman" panose="02020603050405020304" pitchFamily="18" charset="0"/>
              <a:ea typeface="宋体" panose="02010600030101010101" pitchFamily="2" charset="-122"/>
            </a:endParaRPr>
          </a:p>
          <a:p>
            <a:pPr marL="171450" indent="-171450">
              <a:lnSpc>
                <a:spcPct val="130000"/>
              </a:lnSpc>
              <a:buFont typeface="Arial" panose="020B0604020202020204" pitchFamily="34" charset="0"/>
              <a:buChar char="•"/>
            </a:pPr>
            <a:r>
              <a:rPr lang="zh-CN" altLang="en-US" sz="1200" b="1" dirty="0">
                <a:latin typeface="Times New Roman" panose="02020603050405020304" pitchFamily="18" charset="0"/>
                <a:ea typeface="宋体" panose="02010600030101010101" pitchFamily="2" charset="-122"/>
              </a:rPr>
              <a:t>数据对象：</a:t>
            </a:r>
            <a:r>
              <a:rPr lang="zh-CN" altLang="en-US" sz="1200" dirty="0">
                <a:latin typeface="Times New Roman" panose="02020603050405020304" pitchFamily="18" charset="0"/>
                <a:ea typeface="宋体" panose="02010600030101010101" pitchFamily="2" charset="-122"/>
              </a:rPr>
              <a:t>基于</a:t>
            </a:r>
            <a:r>
              <a:rPr lang="en-US" altLang="zh-CN" sz="1200" dirty="0">
                <a:latin typeface="Times New Roman" panose="02020603050405020304" pitchFamily="18" charset="0"/>
                <a:ea typeface="宋体" panose="02010600030101010101" pitchFamily="2" charset="-122"/>
              </a:rPr>
              <a:t>8</a:t>
            </a:r>
            <a:r>
              <a:rPr lang="zh-CN" altLang="en-US" sz="1200" dirty="0">
                <a:latin typeface="Times New Roman" panose="02020603050405020304" pitchFamily="18" charset="0"/>
                <a:ea typeface="宋体" panose="02010600030101010101" pitchFamily="2" charset="-122"/>
              </a:rPr>
              <a:t>个方位接收器（全覆盖</a:t>
            </a:r>
            <a:r>
              <a:rPr lang="en-US" altLang="zh-CN" sz="1200" dirty="0">
                <a:latin typeface="Times New Roman" panose="02020603050405020304" pitchFamily="18" charset="0"/>
                <a:ea typeface="宋体" panose="02010600030101010101" pitchFamily="2" charset="-122"/>
              </a:rPr>
              <a:t>360°</a:t>
            </a:r>
            <a:r>
              <a:rPr lang="zh-CN" altLang="en-US" sz="1200" dirty="0">
                <a:latin typeface="Times New Roman" panose="02020603050405020304" pitchFamily="18" charset="0"/>
                <a:ea typeface="宋体" panose="02010600030101010101" pitchFamily="2" charset="-122"/>
              </a:rPr>
              <a:t>）及其收发深度间隔对应的二维切片。</a:t>
            </a:r>
          </a:p>
          <a:p>
            <a:pPr marL="171450" indent="-171450">
              <a:lnSpc>
                <a:spcPct val="130000"/>
              </a:lnSpc>
              <a:buFont typeface="Arial" panose="020B0604020202020204" pitchFamily="34" charset="0"/>
              <a:buChar char="•"/>
            </a:pPr>
            <a:r>
              <a:rPr lang="zh-CN" altLang="en-US" sz="1200" b="1" dirty="0">
                <a:latin typeface="Times New Roman" panose="02020603050405020304" pitchFamily="18" charset="0"/>
                <a:ea typeface="宋体" panose="02010600030101010101" pitchFamily="2" charset="-122"/>
              </a:rPr>
              <a:t>变换公式：</a:t>
            </a:r>
            <a:r>
              <a:rPr lang="en-US" altLang="zh-CN" sz="1200" dirty="0">
                <a:latin typeface="Times New Roman" panose="02020603050405020304" pitchFamily="18" charset="0"/>
                <a:ea typeface="宋体" panose="02010600030101010101" pitchFamily="2" charset="-122"/>
              </a:rPr>
              <a:t>Severity(</a:t>
            </a:r>
            <a:r>
              <a:rPr lang="en-US" altLang="zh-CN" sz="1200" dirty="0" err="1">
                <a:latin typeface="Times New Roman" panose="02020603050405020304" pitchFamily="18" charset="0"/>
                <a:ea typeface="宋体" panose="02010600030101010101" pitchFamily="2" charset="-122"/>
              </a:rPr>
              <a:t>Zc</a:t>
            </a:r>
            <a:r>
              <a:rPr lang="en-US" altLang="zh-CN" sz="1200" dirty="0">
                <a:latin typeface="Times New Roman" panose="02020603050405020304" pitchFamily="18" charset="0"/>
                <a:ea typeface="宋体" panose="02010600030101010101" pitchFamily="2" charset="-122"/>
              </a:rPr>
              <a:t>) = max(0, 2.5 - </a:t>
            </a:r>
            <a:r>
              <a:rPr lang="en-US" altLang="zh-CN" sz="1200" dirty="0" err="1">
                <a:latin typeface="Times New Roman" panose="02020603050405020304" pitchFamily="18" charset="0"/>
                <a:ea typeface="宋体" panose="02010600030101010101" pitchFamily="2" charset="-122"/>
              </a:rPr>
              <a:t>Zc</a:t>
            </a:r>
            <a:r>
              <a:rPr lang="en-US" altLang="zh-CN" sz="1200" dirty="0">
                <a:latin typeface="Times New Roman" panose="02020603050405020304" pitchFamily="18" charset="0"/>
                <a:ea typeface="宋体" panose="02010600030101010101" pitchFamily="2" charset="-122"/>
              </a:rPr>
              <a:t>)</a:t>
            </a:r>
          </a:p>
          <a:p>
            <a:pPr marL="171450" indent="-171450">
              <a:lnSpc>
                <a:spcPct val="130000"/>
              </a:lnSpc>
              <a:buFont typeface="Arial" panose="020B0604020202020204" pitchFamily="34" charset="0"/>
              <a:buChar char="•"/>
            </a:pPr>
            <a:r>
              <a:rPr lang="zh-CN" altLang="en-US" sz="1200" b="1" dirty="0">
                <a:latin typeface="Times New Roman" panose="02020603050405020304" pitchFamily="18" charset="0"/>
                <a:ea typeface="宋体" panose="02010600030101010101" pitchFamily="2" charset="-122"/>
              </a:rPr>
              <a:t>具体操作：</a:t>
            </a:r>
          </a:p>
          <a:p>
            <a:pPr marL="514350" lvl="1"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声阻抗 </a:t>
            </a:r>
            <a:r>
              <a:rPr lang="en-US" altLang="zh-CN" sz="1200" dirty="0">
                <a:latin typeface="Times New Roman" panose="02020603050405020304" pitchFamily="18" charset="0"/>
                <a:ea typeface="宋体" panose="02010600030101010101" pitchFamily="2" charset="-122"/>
              </a:rPr>
              <a:t>(</a:t>
            </a:r>
            <a:r>
              <a:rPr lang="en-US" altLang="zh-CN" sz="1200" dirty="0" err="1">
                <a:latin typeface="Times New Roman" panose="02020603050405020304" pitchFamily="18" charset="0"/>
                <a:ea typeface="宋体" panose="02010600030101010101" pitchFamily="2" charset="-122"/>
              </a:rPr>
              <a:t>Zc</a:t>
            </a:r>
            <a:r>
              <a:rPr lang="en-US" altLang="zh-CN" sz="1200" dirty="0">
                <a:latin typeface="Times New Roman" panose="02020603050405020304" pitchFamily="18" charset="0"/>
                <a:ea typeface="宋体" panose="02010600030101010101" pitchFamily="2" charset="-122"/>
              </a:rPr>
              <a:t>) &gt; 2.5 </a:t>
            </a:r>
            <a:r>
              <a:rPr lang="zh-CN" altLang="en-US" sz="1200" dirty="0">
                <a:latin typeface="Times New Roman" panose="02020603050405020304" pitchFamily="18" charset="0"/>
                <a:ea typeface="宋体" panose="02010600030101010101" pitchFamily="2" charset="-122"/>
              </a:rPr>
              <a:t>的点：统一置为 </a:t>
            </a:r>
            <a:r>
              <a:rPr lang="en-US" altLang="zh-CN" sz="1200" dirty="0">
                <a:latin typeface="Times New Roman" panose="02020603050405020304" pitchFamily="18" charset="0"/>
                <a:ea typeface="宋体" panose="02010600030101010101" pitchFamily="2" charset="-122"/>
              </a:rPr>
              <a:t>0</a:t>
            </a:r>
            <a:r>
              <a:rPr lang="zh-CN" altLang="en-US" sz="1200" dirty="0">
                <a:latin typeface="Times New Roman" panose="02020603050405020304" pitchFamily="18" charset="0"/>
                <a:ea typeface="宋体" panose="02010600030101010101" pitchFamily="2" charset="-122"/>
              </a:rPr>
              <a:t>。</a:t>
            </a:r>
          </a:p>
          <a:p>
            <a:pPr marL="514350" lvl="1"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声阻抗 </a:t>
            </a:r>
            <a:r>
              <a:rPr lang="en-US" altLang="zh-CN" sz="1200" dirty="0">
                <a:latin typeface="Times New Roman" panose="02020603050405020304" pitchFamily="18" charset="0"/>
                <a:ea typeface="宋体" panose="02010600030101010101" pitchFamily="2" charset="-122"/>
              </a:rPr>
              <a:t>(</a:t>
            </a:r>
            <a:r>
              <a:rPr lang="en-US" altLang="zh-CN" sz="1200" dirty="0" err="1">
                <a:latin typeface="Times New Roman" panose="02020603050405020304" pitchFamily="18" charset="0"/>
                <a:ea typeface="宋体" panose="02010600030101010101" pitchFamily="2" charset="-122"/>
              </a:rPr>
              <a:t>Zc</a:t>
            </a:r>
            <a:r>
              <a:rPr lang="en-US" altLang="zh-CN" sz="1200" dirty="0">
                <a:latin typeface="Times New Roman" panose="02020603050405020304" pitchFamily="18" charset="0"/>
                <a:ea typeface="宋体" panose="02010600030101010101" pitchFamily="2" charset="-122"/>
              </a:rPr>
              <a:t>) &lt; 2.5 </a:t>
            </a:r>
            <a:r>
              <a:rPr lang="zh-CN" altLang="en-US" sz="1200" dirty="0">
                <a:latin typeface="Times New Roman" panose="02020603050405020304" pitchFamily="18" charset="0"/>
                <a:ea typeface="宋体" panose="02010600030101010101" pitchFamily="2" charset="-122"/>
              </a:rPr>
              <a:t>的点：取差值（例如 </a:t>
            </a:r>
            <a:r>
              <a:rPr lang="en-US" altLang="zh-CN" sz="1200" dirty="0" err="1">
                <a:latin typeface="Times New Roman" panose="02020603050405020304" pitchFamily="18" charset="0"/>
                <a:ea typeface="宋体" panose="02010600030101010101" pitchFamily="2" charset="-122"/>
              </a:rPr>
              <a:t>Zc</a:t>
            </a:r>
            <a:r>
              <a:rPr lang="en-US" altLang="zh-CN" sz="1200" dirty="0">
                <a:latin typeface="Times New Roman" panose="02020603050405020304" pitchFamily="18" charset="0"/>
                <a:ea typeface="宋体" panose="02010600030101010101" pitchFamily="2" charset="-122"/>
              </a:rPr>
              <a:t>=2.3</a:t>
            </a:r>
            <a:r>
              <a:rPr lang="zh-CN" altLang="en-US" sz="1200" dirty="0">
                <a:latin typeface="Times New Roman" panose="02020603050405020304" pitchFamily="18" charset="0"/>
                <a:ea typeface="宋体" panose="02010600030101010101" pitchFamily="2" charset="-122"/>
              </a:rPr>
              <a:t>转换为 </a:t>
            </a:r>
            <a:r>
              <a:rPr lang="en-US" altLang="zh-CN" sz="1200" dirty="0">
                <a:latin typeface="Times New Roman" panose="02020603050405020304" pitchFamily="18" charset="0"/>
                <a:ea typeface="宋体" panose="02010600030101010101" pitchFamily="2" charset="-122"/>
              </a:rPr>
              <a:t>0.2</a:t>
            </a:r>
            <a:r>
              <a:rPr lang="zh-CN" altLang="en-US" sz="1200" dirty="0">
                <a:latin typeface="Times New Roman" panose="02020603050405020304" pitchFamily="18" charset="0"/>
                <a:ea typeface="宋体" panose="02010600030101010101" pitchFamily="2" charset="-122"/>
              </a:rPr>
              <a:t>）。</a:t>
            </a:r>
          </a:p>
          <a:p>
            <a:pPr>
              <a:lnSpc>
                <a:spcPct val="130000"/>
              </a:lnSpc>
            </a:pPr>
            <a:r>
              <a:rPr lang="zh-CN" altLang="en-US" sz="1200" b="1" dirty="0">
                <a:latin typeface="Times New Roman" panose="02020603050405020304" pitchFamily="18" charset="0"/>
                <a:ea typeface="宋体" panose="02010600030101010101" pitchFamily="2" charset="-122"/>
              </a:rPr>
              <a:t>第二步：方位向</a:t>
            </a:r>
            <a:r>
              <a:rPr lang="en-US" altLang="zh-CN" sz="1200" b="1" dirty="0">
                <a:latin typeface="Times New Roman" panose="02020603050405020304" pitchFamily="18" charset="0"/>
                <a:ea typeface="宋体" panose="02010600030101010101" pitchFamily="2" charset="-122"/>
              </a:rPr>
              <a:t>FFT</a:t>
            </a:r>
            <a:r>
              <a:rPr lang="zh-CN" altLang="en-US" sz="1200" b="1" dirty="0">
                <a:latin typeface="Times New Roman" panose="02020603050405020304" pitchFamily="18" charset="0"/>
                <a:ea typeface="宋体" panose="02010600030101010101" pitchFamily="2" charset="-122"/>
              </a:rPr>
              <a:t>与对数变换</a:t>
            </a:r>
          </a:p>
          <a:p>
            <a:pPr marL="171450"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沿方位角方向对超声数据应用快速傅里叶变换 </a:t>
            </a:r>
            <a:r>
              <a:rPr lang="en-US" altLang="zh-CN" sz="1200" dirty="0">
                <a:latin typeface="Times New Roman" panose="02020603050405020304" pitchFamily="18" charset="0"/>
                <a:ea typeface="宋体" panose="02010600030101010101" pitchFamily="2" charset="-122"/>
              </a:rPr>
              <a:t>(FFT)</a:t>
            </a:r>
            <a:r>
              <a:rPr lang="zh-CN" altLang="en-US" sz="1200" dirty="0">
                <a:latin typeface="Times New Roman" panose="02020603050405020304" pitchFamily="18" charset="0"/>
                <a:ea typeface="宋体" panose="02010600030101010101" pitchFamily="2" charset="-122"/>
              </a:rPr>
              <a:t>，获取</a:t>
            </a:r>
            <a:r>
              <a:rPr lang="en-US" altLang="zh-CN" sz="1200" dirty="0">
                <a:latin typeface="Times New Roman" panose="02020603050405020304" pitchFamily="18" charset="0"/>
                <a:ea typeface="宋体" panose="02010600030101010101" pitchFamily="2" charset="-122"/>
              </a:rPr>
              <a:t>FFT</a:t>
            </a:r>
            <a:r>
              <a:rPr lang="zh-CN" altLang="en-US" sz="1200" dirty="0">
                <a:latin typeface="Times New Roman" panose="02020603050405020304" pitchFamily="18" charset="0"/>
                <a:ea typeface="宋体" panose="02010600030101010101" pitchFamily="2" charset="-122"/>
              </a:rPr>
              <a:t>系数。</a:t>
            </a:r>
          </a:p>
          <a:p>
            <a:pPr marL="171450"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对系数应用对数变换 </a:t>
            </a:r>
            <a:r>
              <a:rPr lang="en-US" altLang="zh-CN" sz="1200" dirty="0">
                <a:latin typeface="Times New Roman" panose="02020603050405020304" pitchFamily="18" charset="0"/>
                <a:ea typeface="宋体" panose="02010600030101010101" pitchFamily="2" charset="-122"/>
              </a:rPr>
              <a:t>(Log Transform) </a:t>
            </a:r>
            <a:r>
              <a:rPr lang="zh-CN" altLang="en-US" sz="1200" dirty="0">
                <a:latin typeface="Times New Roman" panose="02020603050405020304" pitchFamily="18" charset="0"/>
                <a:ea typeface="宋体" panose="02010600030101010101" pitchFamily="2" charset="-122"/>
              </a:rPr>
              <a:t>以压缩动态范围。</a:t>
            </a:r>
          </a:p>
          <a:p>
            <a:pPr>
              <a:lnSpc>
                <a:spcPct val="130000"/>
              </a:lnSpc>
            </a:pPr>
            <a:r>
              <a:rPr lang="zh-CN" altLang="en-US" sz="1200" b="1" dirty="0">
                <a:latin typeface="Times New Roman" panose="02020603050405020304" pitchFamily="18" charset="0"/>
                <a:ea typeface="宋体" panose="02010600030101010101" pitchFamily="2" charset="-122"/>
              </a:rPr>
              <a:t>第三步：特征保留与解耦</a:t>
            </a:r>
          </a:p>
          <a:p>
            <a:pPr marL="171450" indent="-171450">
              <a:lnSpc>
                <a:spcPct val="130000"/>
              </a:lnSpc>
              <a:buFont typeface="Arial" panose="020B0604020202020204" pitchFamily="34" charset="0"/>
              <a:buChar char="•"/>
            </a:pPr>
            <a:r>
              <a:rPr lang="zh-CN" altLang="en-US" sz="1200" b="1" dirty="0">
                <a:latin typeface="Times New Roman" panose="02020603050405020304" pitchFamily="18" charset="0"/>
                <a:ea typeface="宋体" panose="02010600030101010101" pitchFamily="2" charset="-122"/>
              </a:rPr>
              <a:t>保留幅度 </a:t>
            </a:r>
            <a:r>
              <a:rPr lang="en-US" altLang="zh-CN" sz="1200" b="1" dirty="0">
                <a:latin typeface="Times New Roman" panose="02020603050405020304" pitchFamily="18" charset="0"/>
                <a:ea typeface="宋体" panose="02010600030101010101" pitchFamily="2" charset="-122"/>
              </a:rPr>
              <a:t>(Magnitude) </a:t>
            </a:r>
            <a:r>
              <a:rPr lang="zh-CN" altLang="en-US" sz="1200" b="1" dirty="0">
                <a:latin typeface="Times New Roman" panose="02020603050405020304" pitchFamily="18" charset="0"/>
                <a:ea typeface="宋体" panose="02010600030101010101" pitchFamily="2" charset="-122"/>
              </a:rPr>
              <a:t>：</a:t>
            </a:r>
            <a:r>
              <a:rPr lang="zh-CN" altLang="en-US" sz="1200" dirty="0">
                <a:latin typeface="Times New Roman" panose="02020603050405020304" pitchFamily="18" charset="0"/>
                <a:ea typeface="宋体" panose="02010600030101010101" pitchFamily="2" charset="-122"/>
              </a:rPr>
              <a:t>提取方位上的结构特征信息。</a:t>
            </a:r>
          </a:p>
          <a:p>
            <a:pPr marL="171450" indent="-171450">
              <a:lnSpc>
                <a:spcPct val="130000"/>
              </a:lnSpc>
              <a:buFont typeface="Arial" panose="020B0604020202020204" pitchFamily="34" charset="0"/>
              <a:buChar char="•"/>
            </a:pPr>
            <a:r>
              <a:rPr lang="zh-CN" altLang="en-US" sz="1200" b="1" dirty="0">
                <a:latin typeface="Times New Roman" panose="02020603050405020304" pitchFamily="18" charset="0"/>
                <a:ea typeface="宋体" panose="02010600030101010101" pitchFamily="2" charset="-122"/>
              </a:rPr>
              <a:t>丢弃相位 </a:t>
            </a:r>
            <a:r>
              <a:rPr lang="en-US" altLang="zh-CN" sz="1200" b="1" dirty="0">
                <a:latin typeface="Times New Roman" panose="02020603050405020304" pitchFamily="18" charset="0"/>
                <a:ea typeface="宋体" panose="02010600030101010101" pitchFamily="2" charset="-122"/>
              </a:rPr>
              <a:t>(Phase) </a:t>
            </a:r>
            <a:r>
              <a:rPr lang="zh-CN" altLang="en-US" sz="1200" b="1" dirty="0">
                <a:latin typeface="Times New Roman" panose="02020603050405020304" pitchFamily="18" charset="0"/>
                <a:ea typeface="宋体" panose="02010600030101010101" pitchFamily="2" charset="-122"/>
              </a:rPr>
              <a:t>：</a:t>
            </a:r>
            <a:r>
              <a:rPr lang="zh-CN" altLang="en-US" sz="1200" dirty="0">
                <a:latin typeface="Times New Roman" panose="02020603050405020304" pitchFamily="18" charset="0"/>
                <a:ea typeface="宋体" panose="02010600030101010101" pitchFamily="2" charset="-122"/>
              </a:rPr>
              <a:t>忽略具体位置信息（实现旋转不变性）。</a:t>
            </a:r>
          </a:p>
        </p:txBody>
      </p:sp>
    </p:spTree>
    <p:extLst>
      <p:ext uri="{BB962C8B-B14F-4D97-AF65-F5344CB8AC3E}">
        <p14:creationId xmlns:p14="http://schemas.microsoft.com/office/powerpoint/2010/main" val="4087554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70FAC-CD4C-61E9-BB42-5C7131CACE6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1AB9F85-B2A3-5B09-6F4E-A8F9FE803D32}"/>
              </a:ext>
            </a:extLst>
          </p:cNvPr>
          <p:cNvSpPr>
            <a:spLocks noGrp="1"/>
          </p:cNvSpPr>
          <p:nvPr>
            <p:ph type="sldNum" sz="quarter" idx="12"/>
          </p:nvPr>
        </p:nvSpPr>
        <p:spPr/>
        <p:txBody>
          <a:bodyPr/>
          <a:lstStyle/>
          <a:p>
            <a:r>
              <a:rPr lang="en-US" altLang="zh-CN" dirty="0"/>
              <a:t>9</a:t>
            </a:r>
            <a:endParaRPr lang="zh-CN" altLang="en-US" dirty="0"/>
          </a:p>
        </p:txBody>
      </p:sp>
      <p:sp>
        <p:nvSpPr>
          <p:cNvPr id="31" name="矩形 30">
            <a:extLst>
              <a:ext uri="{FF2B5EF4-FFF2-40B4-BE49-F238E27FC236}">
                <a16:creationId xmlns:a16="http://schemas.microsoft.com/office/drawing/2014/main" id="{C60FF768-4D5D-D188-60AE-DE894693EA28}"/>
              </a:ext>
            </a:extLst>
          </p:cNvPr>
          <p:cNvSpPr/>
          <p:nvPr/>
        </p:nvSpPr>
        <p:spPr>
          <a:xfrm>
            <a:off x="580526" y="78941"/>
            <a:ext cx="1814018"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4 </a:t>
            </a:r>
            <a:r>
              <a:rPr kumimoji="0" lang="zh-CN" altLang="en-US"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技术路线</a:t>
            </a:r>
          </a:p>
        </p:txBody>
      </p:sp>
      <p:sp>
        <p:nvSpPr>
          <p:cNvPr id="32" name="矩形 31">
            <a:extLst>
              <a:ext uri="{FF2B5EF4-FFF2-40B4-BE49-F238E27FC236}">
                <a16:creationId xmlns:a16="http://schemas.microsoft.com/office/drawing/2014/main" id="{C6EF0C16-3630-9397-D001-4ABCCE2A2165}"/>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81D7111D-15A3-DCE0-3B33-30926131C0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sp>
        <p:nvSpPr>
          <p:cNvPr id="569" name="椭圆 568">
            <a:extLst>
              <a:ext uri="{FF2B5EF4-FFF2-40B4-BE49-F238E27FC236}">
                <a16:creationId xmlns:a16="http://schemas.microsoft.com/office/drawing/2014/main" id="{4749ED48-1C4B-5835-63BB-E1E85CD7F773}"/>
              </a:ext>
            </a:extLst>
          </p:cNvPr>
          <p:cNvSpPr/>
          <p:nvPr/>
        </p:nvSpPr>
        <p:spPr>
          <a:xfrm>
            <a:off x="10682" y="717261"/>
            <a:ext cx="388547" cy="388547"/>
          </a:xfrm>
          <a:prstGeom prst="ellipse">
            <a:avLst/>
          </a:prstGeom>
          <a:solidFill>
            <a:srgbClr val="002060"/>
          </a:solidFill>
          <a:ln w="38100">
            <a:solidFill>
              <a:schemeClr val="bg1"/>
            </a:solidFill>
          </a:ln>
          <a:effectLst>
            <a:outerShdw blurRad="266700" dist="889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t>4</a:t>
            </a:r>
            <a:endParaRPr lang="zh-CN" altLang="en-US" sz="2800" dirty="0"/>
          </a:p>
        </p:txBody>
      </p:sp>
      <p:sp>
        <p:nvSpPr>
          <p:cNvPr id="580" name="矩形 579">
            <a:extLst>
              <a:ext uri="{FF2B5EF4-FFF2-40B4-BE49-F238E27FC236}">
                <a16:creationId xmlns:a16="http://schemas.microsoft.com/office/drawing/2014/main" id="{F05E99A9-EB19-AD21-1AD1-4225D5004D8A}"/>
              </a:ext>
            </a:extLst>
          </p:cNvPr>
          <p:cNvSpPr/>
          <p:nvPr/>
        </p:nvSpPr>
        <p:spPr bwMode="auto">
          <a:xfrm>
            <a:off x="590085" y="722343"/>
            <a:ext cx="1083230" cy="364467"/>
          </a:xfrm>
          <a:prstGeom prst="rect">
            <a:avLst/>
          </a:prstGeom>
          <a:solidFill>
            <a:schemeClr val="accent1"/>
          </a:solidFill>
          <a:ln>
            <a:noFill/>
          </a:ln>
        </p:spPr>
        <p:txBody>
          <a:bodyPr vert="horz" wrap="square" lIns="68580" tIns="34290" rIns="68580" bIns="34290" numCol="1" rtlCol="0" anchor="t" anchorCtr="0" compatLnSpc="1">
            <a:prstTxWarp prst="textNoShape">
              <a:avLst/>
            </a:prstTxWarp>
          </a:bodyPr>
          <a:lstStyle/>
          <a:p>
            <a:pPr algn="ctr"/>
            <a:r>
              <a:rPr lang="zh-CN" altLang="en-US"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模型架构</a:t>
            </a:r>
          </a:p>
        </p:txBody>
      </p:sp>
      <p:pic>
        <p:nvPicPr>
          <p:cNvPr id="12" name="图形 11">
            <a:extLst>
              <a:ext uri="{FF2B5EF4-FFF2-40B4-BE49-F238E27FC236}">
                <a16:creationId xmlns:a16="http://schemas.microsoft.com/office/drawing/2014/main" id="{7DC35904-9468-DA84-D017-62E16663E9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49297" y="1243268"/>
            <a:ext cx="5645406" cy="2740488"/>
          </a:xfrm>
          <a:prstGeom prst="rect">
            <a:avLst/>
          </a:prstGeom>
        </p:spPr>
      </p:pic>
      <p:sp>
        <p:nvSpPr>
          <p:cNvPr id="15" name="矩形 14">
            <a:extLst>
              <a:ext uri="{FF2B5EF4-FFF2-40B4-BE49-F238E27FC236}">
                <a16:creationId xmlns:a16="http://schemas.microsoft.com/office/drawing/2014/main" id="{A258DCD1-B096-F875-8B5B-BF5F129937BF}"/>
              </a:ext>
            </a:extLst>
          </p:cNvPr>
          <p:cNvSpPr/>
          <p:nvPr/>
        </p:nvSpPr>
        <p:spPr>
          <a:xfrm>
            <a:off x="1114731" y="4027514"/>
            <a:ext cx="6914537" cy="1026756"/>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2BC0043A-26D4-732A-ACB8-D3400C127BDC}"/>
              </a:ext>
            </a:extLst>
          </p:cNvPr>
          <p:cNvSpPr txBox="1"/>
          <p:nvPr/>
        </p:nvSpPr>
        <p:spPr>
          <a:xfrm>
            <a:off x="1205532" y="4138896"/>
            <a:ext cx="6823736" cy="786690"/>
          </a:xfrm>
          <a:prstGeom prst="rect">
            <a:avLst/>
          </a:prstGeom>
          <a:noFill/>
        </p:spPr>
        <p:txBody>
          <a:bodyPr wrap="square" rtlCol="0">
            <a:spAutoFit/>
          </a:bodyPr>
          <a:lstStyle/>
          <a:p>
            <a:pPr marL="171450" indent="-171450">
              <a:lnSpc>
                <a:spcPct val="130000"/>
              </a:lnSpc>
              <a:buFont typeface="Arial" panose="020B0604020202020204" pitchFamily="34" charset="0"/>
              <a:buChar char="•"/>
            </a:pPr>
            <a:r>
              <a:rPr lang="zh-CN" altLang="en-US" sz="1200" b="1" dirty="0">
                <a:latin typeface="Times New Roman" panose="02020603050405020304" pitchFamily="18" charset="0"/>
                <a:ea typeface="宋体" panose="02010600030101010101" pitchFamily="2" charset="-122"/>
              </a:rPr>
              <a:t>主干：</a:t>
            </a:r>
            <a:r>
              <a:rPr lang="en-US" altLang="zh-CN" sz="1200" dirty="0">
                <a:latin typeface="Times New Roman" panose="02020603050405020304" pitchFamily="18" charset="0"/>
                <a:ea typeface="宋体" panose="02010600030101010101" pitchFamily="2" charset="-122"/>
              </a:rPr>
              <a:t>EfficientNetV2-B0</a:t>
            </a:r>
            <a:r>
              <a:rPr lang="zh-CN" altLang="en-US" sz="1200" dirty="0">
                <a:latin typeface="Times New Roman" panose="02020603050405020304" pitchFamily="18" charset="0"/>
                <a:ea typeface="宋体" panose="02010600030101010101" pitchFamily="2" charset="-122"/>
              </a:rPr>
              <a:t>（迁移学习，加载</a:t>
            </a:r>
            <a:r>
              <a:rPr lang="en-US" altLang="zh-CN" sz="1200" dirty="0">
                <a:latin typeface="Times New Roman" panose="02020603050405020304" pitchFamily="18" charset="0"/>
                <a:ea typeface="宋体" panose="02010600030101010101" pitchFamily="2" charset="-122"/>
              </a:rPr>
              <a:t>ImageNet</a:t>
            </a:r>
            <a:r>
              <a:rPr lang="zh-CN" altLang="en-US" sz="1200" dirty="0">
                <a:latin typeface="Times New Roman" panose="02020603050405020304" pitchFamily="18" charset="0"/>
                <a:ea typeface="宋体" panose="02010600030101010101" pitchFamily="2" charset="-122"/>
              </a:rPr>
              <a:t>权重）。</a:t>
            </a:r>
            <a:endParaRPr lang="en-US" altLang="zh-CN" sz="1200" dirty="0">
              <a:latin typeface="Times New Roman" panose="02020603050405020304" pitchFamily="18" charset="0"/>
              <a:ea typeface="宋体" panose="02010600030101010101" pitchFamily="2" charset="-122"/>
            </a:endParaRPr>
          </a:p>
          <a:p>
            <a:pPr marL="171450" indent="-171450">
              <a:lnSpc>
                <a:spcPct val="130000"/>
              </a:lnSpc>
              <a:buFont typeface="Arial" panose="020B0604020202020204" pitchFamily="34" charset="0"/>
              <a:buChar char="•"/>
            </a:pPr>
            <a:r>
              <a:rPr lang="zh-CN" altLang="en-US" sz="1200" b="1" dirty="0">
                <a:latin typeface="Times New Roman" panose="02020603050405020304" pitchFamily="18" charset="0"/>
                <a:ea typeface="宋体" panose="02010600030101010101" pitchFamily="2" charset="-122"/>
              </a:rPr>
              <a:t>策略：</a:t>
            </a:r>
            <a:r>
              <a:rPr lang="zh-CN" altLang="en-US" sz="1200" dirty="0">
                <a:latin typeface="Times New Roman" panose="02020603050405020304" pitchFamily="18" charset="0"/>
                <a:ea typeface="宋体" panose="02010600030101010101" pitchFamily="2" charset="-122"/>
              </a:rPr>
              <a:t>伪影掩码 </a:t>
            </a:r>
            <a:r>
              <a:rPr lang="en-US" altLang="zh-CN" sz="1200" dirty="0">
                <a:latin typeface="Times New Roman" panose="02020603050405020304" pitchFamily="18" charset="0"/>
                <a:ea typeface="宋体" panose="02010600030101010101" pitchFamily="2" charset="-122"/>
              </a:rPr>
              <a:t>(Artifact Masking) </a:t>
            </a:r>
            <a:r>
              <a:rPr lang="zh-CN" altLang="en-US" sz="1200" dirty="0">
                <a:latin typeface="Times New Roman" panose="02020603050405020304" pitchFamily="18" charset="0"/>
                <a:ea typeface="宋体" panose="02010600030101010101" pitchFamily="2" charset="-122"/>
              </a:rPr>
              <a:t>：在训练中强制屏蔽前</a:t>
            </a:r>
            <a:r>
              <a:rPr lang="en-US" altLang="zh-CN" sz="1200" dirty="0">
                <a:latin typeface="Times New Roman" panose="02020603050405020304" pitchFamily="18" charset="0"/>
                <a:ea typeface="宋体" panose="02010600030101010101" pitchFamily="2" charset="-122"/>
              </a:rPr>
              <a:t>0.3ms</a:t>
            </a:r>
            <a:r>
              <a:rPr lang="zh-CN" altLang="en-US" sz="1200" dirty="0">
                <a:latin typeface="Times New Roman" panose="02020603050405020304" pitchFamily="18" charset="0"/>
                <a:ea typeface="宋体" panose="02010600030101010101" pitchFamily="2" charset="-122"/>
              </a:rPr>
              <a:t>的</a:t>
            </a:r>
            <a:r>
              <a:rPr lang="en-US" altLang="zh-CN" sz="1200" dirty="0">
                <a:latin typeface="Times New Roman" panose="02020603050405020304" pitchFamily="18" charset="0"/>
                <a:ea typeface="宋体" panose="02010600030101010101" pitchFamily="2" charset="-122"/>
              </a:rPr>
              <a:t>CWT</a:t>
            </a:r>
            <a:r>
              <a:rPr lang="zh-CN" altLang="en-US" sz="1200" dirty="0">
                <a:latin typeface="Times New Roman" panose="02020603050405020304" pitchFamily="18" charset="0"/>
                <a:ea typeface="宋体" panose="02010600030101010101" pitchFamily="2" charset="-122"/>
              </a:rPr>
              <a:t>边缘伪影，防止模型作弊。</a:t>
            </a:r>
            <a:r>
              <a:rPr lang="zh-CN" altLang="en-US" sz="1200" b="1" dirty="0">
                <a:latin typeface="Times New Roman" panose="02020603050405020304" pitchFamily="18" charset="0"/>
                <a:ea typeface="宋体" panose="02010600030101010101" pitchFamily="2" charset="-122"/>
              </a:rPr>
              <a:t> </a:t>
            </a:r>
            <a:endParaRPr lang="en-US" altLang="zh-CN" sz="1200" b="1" dirty="0">
              <a:latin typeface="Times New Roman" panose="02020603050405020304" pitchFamily="18" charset="0"/>
              <a:ea typeface="宋体" panose="02010600030101010101" pitchFamily="2" charset="-122"/>
            </a:endParaRPr>
          </a:p>
          <a:p>
            <a:pPr marL="171450" indent="-171450">
              <a:lnSpc>
                <a:spcPct val="130000"/>
              </a:lnSpc>
              <a:buFont typeface="Arial" panose="020B0604020202020204" pitchFamily="34" charset="0"/>
              <a:buChar char="•"/>
            </a:pPr>
            <a:r>
              <a:rPr lang="zh-CN" altLang="en-US" sz="1200" b="1" dirty="0">
                <a:latin typeface="Times New Roman" panose="02020603050405020304" pitchFamily="18" charset="0"/>
                <a:ea typeface="宋体" panose="02010600030101010101" pitchFamily="2" charset="-122"/>
              </a:rPr>
              <a:t>损失函数：</a:t>
            </a:r>
            <a:r>
              <a:rPr lang="en-US" altLang="zh-CN" sz="1200" dirty="0">
                <a:latin typeface="Times New Roman" panose="02020603050405020304" pitchFamily="18" charset="0"/>
                <a:ea typeface="宋体" panose="02010600030101010101" pitchFamily="2" charset="-122"/>
              </a:rPr>
              <a:t>Huber Loss</a:t>
            </a:r>
            <a:r>
              <a:rPr lang="zh-CN" altLang="en-US" sz="1200" dirty="0">
                <a:latin typeface="Times New Roman" panose="02020603050405020304" pitchFamily="18" charset="0"/>
                <a:ea typeface="宋体" panose="02010600030101010101" pitchFamily="2" charset="-122"/>
              </a:rPr>
              <a:t>（鲁棒回归）。</a:t>
            </a:r>
          </a:p>
        </p:txBody>
      </p:sp>
    </p:spTree>
    <p:extLst>
      <p:ext uri="{BB962C8B-B14F-4D97-AF65-F5344CB8AC3E}">
        <p14:creationId xmlns:p14="http://schemas.microsoft.com/office/powerpoint/2010/main" val="2161827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40AB3-B7DB-7287-87B5-54A332E203D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DC1AD6A-109F-6A68-8081-4A12CA360164}"/>
              </a:ext>
            </a:extLst>
          </p:cNvPr>
          <p:cNvSpPr>
            <a:spLocks noGrp="1"/>
          </p:cNvSpPr>
          <p:nvPr>
            <p:ph type="sldNum" sz="quarter" idx="12"/>
          </p:nvPr>
        </p:nvSpPr>
        <p:spPr/>
        <p:txBody>
          <a:bodyPr/>
          <a:lstStyle/>
          <a:p>
            <a:r>
              <a:rPr lang="en-US" altLang="zh-CN" dirty="0"/>
              <a:t>10</a:t>
            </a:r>
            <a:endParaRPr lang="zh-CN" altLang="en-US" dirty="0"/>
          </a:p>
        </p:txBody>
      </p:sp>
      <p:sp>
        <p:nvSpPr>
          <p:cNvPr id="31" name="矩形 30">
            <a:extLst>
              <a:ext uri="{FF2B5EF4-FFF2-40B4-BE49-F238E27FC236}">
                <a16:creationId xmlns:a16="http://schemas.microsoft.com/office/drawing/2014/main" id="{42D5E3DD-09D3-6A77-F5CD-EAA2CD546CF0}"/>
              </a:ext>
            </a:extLst>
          </p:cNvPr>
          <p:cNvSpPr/>
          <p:nvPr/>
        </p:nvSpPr>
        <p:spPr>
          <a:xfrm>
            <a:off x="580526" y="78941"/>
            <a:ext cx="1814018"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4 </a:t>
            </a:r>
            <a:r>
              <a:rPr kumimoji="0" lang="zh-CN" altLang="en-US"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技术路线</a:t>
            </a:r>
          </a:p>
        </p:txBody>
      </p:sp>
      <p:sp>
        <p:nvSpPr>
          <p:cNvPr id="32" name="矩形 31">
            <a:extLst>
              <a:ext uri="{FF2B5EF4-FFF2-40B4-BE49-F238E27FC236}">
                <a16:creationId xmlns:a16="http://schemas.microsoft.com/office/drawing/2014/main" id="{60B83B30-9661-744C-1EEA-6561E01EF990}"/>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54C5ACC0-47FB-3031-6FBE-6B6065921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sp>
        <p:nvSpPr>
          <p:cNvPr id="569" name="椭圆 568">
            <a:extLst>
              <a:ext uri="{FF2B5EF4-FFF2-40B4-BE49-F238E27FC236}">
                <a16:creationId xmlns:a16="http://schemas.microsoft.com/office/drawing/2014/main" id="{E3CD877D-C796-7211-BB3D-FA1841D8F8FD}"/>
              </a:ext>
            </a:extLst>
          </p:cNvPr>
          <p:cNvSpPr/>
          <p:nvPr/>
        </p:nvSpPr>
        <p:spPr>
          <a:xfrm>
            <a:off x="10682" y="717261"/>
            <a:ext cx="388547" cy="388547"/>
          </a:xfrm>
          <a:prstGeom prst="ellipse">
            <a:avLst/>
          </a:prstGeom>
          <a:solidFill>
            <a:srgbClr val="002060"/>
          </a:solidFill>
          <a:ln w="38100">
            <a:solidFill>
              <a:schemeClr val="bg1"/>
            </a:solidFill>
          </a:ln>
          <a:effectLst>
            <a:outerShdw blurRad="266700" dist="889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t>5</a:t>
            </a:r>
            <a:endParaRPr lang="zh-CN" altLang="en-US" sz="2800" dirty="0"/>
          </a:p>
        </p:txBody>
      </p:sp>
      <p:sp>
        <p:nvSpPr>
          <p:cNvPr id="580" name="矩形 579">
            <a:extLst>
              <a:ext uri="{FF2B5EF4-FFF2-40B4-BE49-F238E27FC236}">
                <a16:creationId xmlns:a16="http://schemas.microsoft.com/office/drawing/2014/main" id="{3CCC2436-71C0-32D3-86AF-499EDA922EAA}"/>
              </a:ext>
            </a:extLst>
          </p:cNvPr>
          <p:cNvSpPr/>
          <p:nvPr/>
        </p:nvSpPr>
        <p:spPr bwMode="auto">
          <a:xfrm>
            <a:off x="590084" y="722343"/>
            <a:ext cx="2930355" cy="364467"/>
          </a:xfrm>
          <a:prstGeom prst="rect">
            <a:avLst/>
          </a:prstGeom>
          <a:solidFill>
            <a:schemeClr val="accent1"/>
          </a:solidFill>
          <a:ln>
            <a:noFill/>
          </a:ln>
        </p:spPr>
        <p:txBody>
          <a:bodyPr vert="horz" wrap="square" lIns="68580" tIns="34290" rIns="68580" bIns="34290" numCol="1" rtlCol="0" anchor="t" anchorCtr="0" compatLnSpc="1">
            <a:prstTxWarp prst="textNoShape">
              <a:avLst/>
            </a:prstTxWarp>
          </a:bodyPr>
          <a:lstStyle/>
          <a:p>
            <a:pPr algn="ctr"/>
            <a:r>
              <a:rPr lang="zh-CN" altLang="en-US"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可解释性分析</a:t>
            </a:r>
            <a:r>
              <a:rPr lang="en-US" altLang="zh-CN"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a:t>
            </a:r>
            <a:r>
              <a:rPr lang="en-US" altLang="zh-CN" sz="1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Grad-CAM</a:t>
            </a:r>
            <a:r>
              <a:rPr lang="en-US" altLang="zh-CN"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rPr>
              <a:t>)</a:t>
            </a:r>
            <a:endParaRPr lang="zh-CN" altLang="en-US" sz="1800" b="1" dirty="0">
              <a:solidFill>
                <a:schemeClr val="bg1"/>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15" name="矩形 14">
            <a:extLst>
              <a:ext uri="{FF2B5EF4-FFF2-40B4-BE49-F238E27FC236}">
                <a16:creationId xmlns:a16="http://schemas.microsoft.com/office/drawing/2014/main" id="{E3D6554F-4602-72BE-734D-0C91466859FE}"/>
              </a:ext>
            </a:extLst>
          </p:cNvPr>
          <p:cNvSpPr/>
          <p:nvPr/>
        </p:nvSpPr>
        <p:spPr>
          <a:xfrm>
            <a:off x="152400" y="3922662"/>
            <a:ext cx="3936505" cy="1155265"/>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62CC687C-F723-8DDD-E158-C6E1DE6D8556}"/>
              </a:ext>
            </a:extLst>
          </p:cNvPr>
          <p:cNvSpPr txBox="1"/>
          <p:nvPr/>
        </p:nvSpPr>
        <p:spPr>
          <a:xfrm>
            <a:off x="185023" y="4037803"/>
            <a:ext cx="3783353" cy="1026756"/>
          </a:xfrm>
          <a:prstGeom prst="rect">
            <a:avLst/>
          </a:prstGeom>
          <a:noFill/>
        </p:spPr>
        <p:txBody>
          <a:bodyPr wrap="square" rtlCol="0">
            <a:spAutoFit/>
          </a:bodyPr>
          <a:lstStyle/>
          <a:p>
            <a:pPr marL="171450"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利用 </a:t>
            </a:r>
            <a:r>
              <a:rPr lang="en-US" altLang="zh-CN" sz="1200" dirty="0">
                <a:latin typeface="Times New Roman" panose="02020603050405020304" pitchFamily="18" charset="0"/>
                <a:ea typeface="宋体" panose="02010600030101010101" pitchFamily="2" charset="-122"/>
              </a:rPr>
              <a:t>Grad-CAM </a:t>
            </a:r>
            <a:r>
              <a:rPr lang="zh-CN" altLang="en-US" sz="1200" dirty="0">
                <a:latin typeface="Times New Roman" panose="02020603050405020304" pitchFamily="18" charset="0"/>
                <a:ea typeface="宋体" panose="02010600030101010101" pitchFamily="2" charset="-122"/>
              </a:rPr>
              <a:t>反向追踪模型注意力。 </a:t>
            </a:r>
            <a:endParaRPr lang="en-US" altLang="zh-CN" sz="1200" dirty="0">
              <a:latin typeface="Times New Roman" panose="02020603050405020304" pitchFamily="18" charset="0"/>
              <a:ea typeface="宋体" panose="02010600030101010101" pitchFamily="2" charset="-122"/>
            </a:endParaRPr>
          </a:p>
          <a:p>
            <a:pPr marL="171450"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发现：模型高度关注</a:t>
            </a:r>
            <a:r>
              <a:rPr lang="en-US" altLang="zh-CN" sz="1200" b="1" dirty="0">
                <a:latin typeface="Times New Roman" panose="02020603050405020304" pitchFamily="18" charset="0"/>
                <a:ea typeface="宋体" panose="02010600030101010101" pitchFamily="2" charset="-122"/>
              </a:rPr>
              <a:t>20-25kHz</a:t>
            </a:r>
            <a:r>
              <a:rPr lang="zh-CN" altLang="en-US" sz="1200" dirty="0">
                <a:latin typeface="Times New Roman" panose="02020603050405020304" pitchFamily="18" charset="0"/>
                <a:ea typeface="宋体" panose="02010600030101010101" pitchFamily="2" charset="-122"/>
              </a:rPr>
              <a:t>的高频成分和</a:t>
            </a:r>
            <a:r>
              <a:rPr lang="en-US" altLang="zh-CN" sz="1200" b="1" dirty="0">
                <a:latin typeface="Times New Roman" panose="02020603050405020304" pitchFamily="18" charset="0"/>
                <a:ea typeface="宋体" panose="02010600030101010101" pitchFamily="2" charset="-122"/>
              </a:rPr>
              <a:t>0.5-1.0ms</a:t>
            </a:r>
            <a:r>
              <a:rPr lang="zh-CN" altLang="en-US" sz="1200" dirty="0">
                <a:latin typeface="Times New Roman" panose="02020603050405020304" pitchFamily="18" charset="0"/>
                <a:ea typeface="宋体" panose="02010600030101010101" pitchFamily="2" charset="-122"/>
              </a:rPr>
              <a:t>的早到波。</a:t>
            </a:r>
            <a:endParaRPr lang="en-US" altLang="zh-CN" sz="1200" dirty="0">
              <a:latin typeface="Times New Roman" panose="02020603050405020304" pitchFamily="18" charset="0"/>
              <a:ea typeface="宋体" panose="02010600030101010101" pitchFamily="2" charset="-122"/>
            </a:endParaRPr>
          </a:p>
          <a:p>
            <a:pPr marL="171450"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意义：验证了模型学到的是物理规律，而非噪声。</a:t>
            </a:r>
          </a:p>
        </p:txBody>
      </p:sp>
      <p:pic>
        <p:nvPicPr>
          <p:cNvPr id="3" name="图片 2">
            <a:extLst>
              <a:ext uri="{FF2B5EF4-FFF2-40B4-BE49-F238E27FC236}">
                <a16:creationId xmlns:a16="http://schemas.microsoft.com/office/drawing/2014/main" id="{19008592-3F8B-FE5D-E258-B969AA5512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96" y="1220837"/>
            <a:ext cx="4024409" cy="2682939"/>
          </a:xfrm>
          <a:prstGeom prst="rect">
            <a:avLst/>
          </a:prstGeom>
        </p:spPr>
      </p:pic>
      <p:sp>
        <p:nvSpPr>
          <p:cNvPr id="4" name="矩形 3">
            <a:extLst>
              <a:ext uri="{FF2B5EF4-FFF2-40B4-BE49-F238E27FC236}">
                <a16:creationId xmlns:a16="http://schemas.microsoft.com/office/drawing/2014/main" id="{8C625ACE-1E93-F249-DCD2-4F0EF615491F}"/>
              </a:ext>
            </a:extLst>
          </p:cNvPr>
          <p:cNvSpPr/>
          <p:nvPr/>
        </p:nvSpPr>
        <p:spPr>
          <a:xfrm>
            <a:off x="4445996" y="1813146"/>
            <a:ext cx="4233184" cy="2682939"/>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AB181B6-D56D-F20A-3799-C7A894414B4F}"/>
              </a:ext>
            </a:extLst>
          </p:cNvPr>
          <p:cNvSpPr txBox="1"/>
          <p:nvPr/>
        </p:nvSpPr>
        <p:spPr>
          <a:xfrm>
            <a:off x="4437781" y="1921040"/>
            <a:ext cx="4164604" cy="2467150"/>
          </a:xfrm>
          <a:prstGeom prst="rect">
            <a:avLst/>
          </a:prstGeom>
          <a:noFill/>
        </p:spPr>
        <p:txBody>
          <a:bodyPr wrap="square" rtlCol="0">
            <a:spAutoFit/>
          </a:bodyPr>
          <a:lstStyle/>
          <a:p>
            <a:pPr>
              <a:lnSpc>
                <a:spcPct val="130000"/>
              </a:lnSpc>
            </a:pPr>
            <a:r>
              <a:rPr lang="en-US" altLang="zh-CN" sz="1200" dirty="0">
                <a:latin typeface="Times New Roman" panose="02020603050405020304" pitchFamily="18" charset="0"/>
                <a:ea typeface="宋体" panose="02010600030101010101" pitchFamily="2" charset="-122"/>
              </a:rPr>
              <a:t>Grad-CAM</a:t>
            </a:r>
            <a:r>
              <a:rPr lang="zh-CN" altLang="en-US" sz="1200" dirty="0">
                <a:latin typeface="Times New Roman" panose="02020603050405020304" pitchFamily="18" charset="0"/>
                <a:ea typeface="宋体" panose="02010600030101010101" pitchFamily="2" charset="-122"/>
              </a:rPr>
              <a:t>：基于梯度的类激活映射</a:t>
            </a:r>
          </a:p>
          <a:p>
            <a:pPr marL="171450"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核心原理：利用反向传播的梯度信息来确定图像区域的重要性。</a:t>
            </a:r>
          </a:p>
          <a:p>
            <a:pPr marL="171450"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流程解析：</a:t>
            </a:r>
          </a:p>
          <a:p>
            <a:pPr marL="514350" lvl="1"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获取特征与梯度：提取最后一层卷积特征图 ，计算类别分数对其的梯度。</a:t>
            </a:r>
          </a:p>
          <a:p>
            <a:pPr marL="514350" lvl="1"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计算权重：将梯度进行全局平均池化 </a:t>
            </a:r>
            <a:r>
              <a:rPr lang="en-US" altLang="zh-CN" sz="1200" dirty="0">
                <a:latin typeface="Times New Roman" panose="02020603050405020304" pitchFamily="18" charset="0"/>
                <a:ea typeface="宋体" panose="02010600030101010101" pitchFamily="2" charset="-122"/>
              </a:rPr>
              <a:t>(GAP)</a:t>
            </a:r>
            <a:r>
              <a:rPr lang="zh-CN" altLang="en-US" sz="1200" dirty="0">
                <a:latin typeface="Times New Roman" panose="02020603050405020304" pitchFamily="18" charset="0"/>
                <a:ea typeface="宋体" panose="02010600030101010101" pitchFamily="2" charset="-122"/>
              </a:rPr>
              <a:t>，得到各特征通道的重要性权重 。</a:t>
            </a:r>
          </a:p>
          <a:p>
            <a:pPr marL="514350" lvl="1" indent="-171450">
              <a:lnSpc>
                <a:spcPct val="130000"/>
              </a:lnSpc>
              <a:buFont typeface="Arial" panose="020B0604020202020204" pitchFamily="34" charset="0"/>
              <a:buChar char="•"/>
            </a:pPr>
            <a:r>
              <a:rPr lang="zh-CN" altLang="en-US" sz="1200" dirty="0">
                <a:latin typeface="Times New Roman" panose="02020603050405020304" pitchFamily="18" charset="0"/>
                <a:ea typeface="宋体" panose="02010600030101010101" pitchFamily="2" charset="-122"/>
              </a:rPr>
              <a:t>生成热力图：对特征图进行加权求和，并应用 </a:t>
            </a:r>
            <a:r>
              <a:rPr lang="en-US" altLang="zh-CN" sz="1200" dirty="0" err="1">
                <a:latin typeface="Times New Roman" panose="02020603050405020304" pitchFamily="18" charset="0"/>
                <a:ea typeface="宋体" panose="02010600030101010101" pitchFamily="2" charset="-122"/>
              </a:rPr>
              <a:t>ReLU</a:t>
            </a:r>
            <a:r>
              <a:rPr lang="en-US" altLang="zh-CN" sz="1200" dirty="0">
                <a:latin typeface="Times New Roman" panose="02020603050405020304" pitchFamily="18" charset="0"/>
                <a:ea typeface="宋体" panose="02010600030101010101" pitchFamily="2" charset="-122"/>
              </a:rPr>
              <a:t> </a:t>
            </a:r>
            <a:r>
              <a:rPr lang="zh-CN" altLang="en-US" sz="1200" dirty="0">
                <a:latin typeface="Times New Roman" panose="02020603050405020304" pitchFamily="18" charset="0"/>
                <a:ea typeface="宋体" panose="02010600030101010101" pitchFamily="2" charset="-122"/>
              </a:rPr>
              <a:t>激活，得到最终的定位热力图。</a:t>
            </a:r>
          </a:p>
        </p:txBody>
      </p:sp>
    </p:spTree>
    <p:extLst>
      <p:ext uri="{BB962C8B-B14F-4D97-AF65-F5344CB8AC3E}">
        <p14:creationId xmlns:p14="http://schemas.microsoft.com/office/powerpoint/2010/main" val="2666756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3">
            <a:extLst>
              <a:ext uri="{FF2B5EF4-FFF2-40B4-BE49-F238E27FC236}">
                <a16:creationId xmlns:a16="http://schemas.microsoft.com/office/drawing/2014/main" id="{6A708DE6-98F2-4642-8AEA-A8E0F3F29CF9}"/>
              </a:ext>
            </a:extLst>
          </p:cNvPr>
          <p:cNvSpPr>
            <a:spLocks noGrp="1"/>
          </p:cNvSpPr>
          <p:nvPr>
            <p:ph type="sldNum" sz="quarter" idx="12"/>
          </p:nvPr>
        </p:nvSpPr>
        <p:spPr>
          <a:xfrm>
            <a:off x="8101012" y="4804083"/>
            <a:ext cx="1042988" cy="273844"/>
          </a:xfrm>
        </p:spPr>
        <p:txBody>
          <a:bodyPr/>
          <a:lstStyle/>
          <a:p>
            <a:r>
              <a:rPr lang="en-US" altLang="zh-CN" dirty="0"/>
              <a:t>11</a:t>
            </a:r>
            <a:endParaRPr lang="zh-CN" altLang="en-US" dirty="0"/>
          </a:p>
        </p:txBody>
      </p:sp>
      <p:sp>
        <p:nvSpPr>
          <p:cNvPr id="28" name="矩形 27">
            <a:extLst>
              <a:ext uri="{FF2B5EF4-FFF2-40B4-BE49-F238E27FC236}">
                <a16:creationId xmlns:a16="http://schemas.microsoft.com/office/drawing/2014/main" id="{72E84F99-475B-4B76-B696-83A1C02C955E}"/>
              </a:ext>
            </a:extLst>
          </p:cNvPr>
          <p:cNvSpPr/>
          <p:nvPr/>
        </p:nvSpPr>
        <p:spPr>
          <a:xfrm>
            <a:off x="580526" y="78941"/>
            <a:ext cx="2263474"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prstClr val="white"/>
                </a:solidFill>
                <a:latin typeface="Verdana"/>
                <a:ea typeface="微软雅黑" panose="020B0503020204020204" pitchFamily="34" charset="-122"/>
              </a:rPr>
              <a:t>5</a:t>
            </a:r>
            <a:r>
              <a:rPr kumimoji="0" lang="en-US" altLang="zh-CN"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 </a:t>
            </a:r>
            <a:r>
              <a:rPr lang="zh-CN" altLang="en-US" sz="1800" dirty="0">
                <a:solidFill>
                  <a:prstClr val="white"/>
                </a:solidFill>
                <a:latin typeface="Verdana"/>
                <a:ea typeface="微软雅黑" panose="020B0503020204020204" pitchFamily="34" charset="-122"/>
              </a:rPr>
              <a:t>可行性与已有成果</a:t>
            </a:r>
            <a:endParaRPr kumimoji="0" lang="zh-CN" altLang="en-US"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endParaRPr>
          </a:p>
        </p:txBody>
      </p:sp>
      <p:sp>
        <p:nvSpPr>
          <p:cNvPr id="31" name="标题1">
            <a:extLst>
              <a:ext uri="{FF2B5EF4-FFF2-40B4-BE49-F238E27FC236}">
                <a16:creationId xmlns:a16="http://schemas.microsoft.com/office/drawing/2014/main" id="{6DF86CB2-CEEF-48E1-8560-F23D90E3EB19}"/>
              </a:ext>
            </a:extLst>
          </p:cNvPr>
          <p:cNvSpPr>
            <a:spLocks noChangeArrowheads="1"/>
          </p:cNvSpPr>
          <p:nvPr/>
        </p:nvSpPr>
        <p:spPr bwMode="gray">
          <a:xfrm>
            <a:off x="2999511" y="142788"/>
            <a:ext cx="434093" cy="338940"/>
          </a:xfrm>
          <a:prstGeom prst="roundRect">
            <a:avLst>
              <a:gd name="adj" fmla="val 11921"/>
            </a:avLst>
          </a:prstGeom>
          <a:solidFill>
            <a:schemeClr val="accent1"/>
          </a:solidFill>
          <a:ln w="25400" cap="flat" cmpd="sng" algn="ctr">
            <a:no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en-US" altLang="zh-CN" sz="2000" b="1" dirty="0">
                <a:solidFill>
                  <a:sysClr val="window" lastClr="FFFFFF">
                    <a:lumMod val="95000"/>
                  </a:sysClr>
                </a:solidFill>
                <a:latin typeface="微软雅黑" pitchFamily="34" charset="-122"/>
                <a:ea typeface="微软雅黑" pitchFamily="34" charset="-122"/>
              </a:rPr>
              <a:t>1</a:t>
            </a:r>
            <a:endParaRPr lang="zh-CN" altLang="zh-CN" sz="2000" b="1" dirty="0">
              <a:solidFill>
                <a:sysClr val="window" lastClr="FFFFFF">
                  <a:lumMod val="95000"/>
                </a:sysClr>
              </a:solidFill>
              <a:latin typeface="微软雅黑" pitchFamily="34" charset="-122"/>
              <a:ea typeface="微软雅黑" pitchFamily="34" charset="-122"/>
            </a:endParaRPr>
          </a:p>
        </p:txBody>
      </p:sp>
      <p:sp>
        <p:nvSpPr>
          <p:cNvPr id="32" name="矩形 31">
            <a:extLst>
              <a:ext uri="{FF2B5EF4-FFF2-40B4-BE49-F238E27FC236}">
                <a16:creationId xmlns:a16="http://schemas.microsoft.com/office/drawing/2014/main" id="{1A5BFD0F-7A7D-407D-8A4A-C8DD7D7C7C3F}"/>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6E0D853F-2AC5-4695-A020-CFF928E558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sp>
        <p:nvSpPr>
          <p:cNvPr id="34" name="文本1">
            <a:extLst>
              <a:ext uri="{FF2B5EF4-FFF2-40B4-BE49-F238E27FC236}">
                <a16:creationId xmlns:a16="http://schemas.microsoft.com/office/drawing/2014/main" id="{4069BCD3-B4FC-46E0-BCE1-6874765483DE}"/>
              </a:ext>
            </a:extLst>
          </p:cNvPr>
          <p:cNvSpPr>
            <a:spLocks noChangeArrowheads="1"/>
          </p:cNvSpPr>
          <p:nvPr/>
        </p:nvSpPr>
        <p:spPr bwMode="gray">
          <a:xfrm>
            <a:off x="3554708" y="107683"/>
            <a:ext cx="2115757" cy="351663"/>
          </a:xfrm>
          <a:prstGeom prst="roundRect">
            <a:avLst>
              <a:gd name="adj" fmla="val 11505"/>
            </a:avLst>
          </a:prstGeom>
          <a:noFill/>
          <a:ln w="15875" cap="flat" cmpd="sng" algn="ctr">
            <a:solidFill>
              <a:schemeClr val="accent1"/>
            </a:solid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defRPr/>
            </a:pPr>
            <a:r>
              <a:rPr lang="zh-CN" altLang="en-US" sz="14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rPr>
              <a:t>已有成果：预测性能验证</a:t>
            </a:r>
            <a:endParaRPr lang="zh-CN" altLang="zh-CN" sz="14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DD9F22EF-D262-E5CC-5125-8B9826C7BE6C}"/>
              </a:ext>
            </a:extLst>
          </p:cNvPr>
          <p:cNvSpPr txBox="1"/>
          <p:nvPr/>
        </p:nvSpPr>
        <p:spPr>
          <a:xfrm>
            <a:off x="758988" y="3696018"/>
            <a:ext cx="1360825" cy="246221"/>
          </a:xfrm>
          <a:prstGeom prst="rect">
            <a:avLst/>
          </a:prstGeom>
          <a:noFill/>
        </p:spPr>
        <p:txBody>
          <a:bodyPr wrap="square" rtlCol="0" anchor="t">
            <a:spAutoFit/>
          </a:bodyPr>
          <a:lstStyle/>
          <a:p>
            <a:pPr lvl="0">
              <a:lnSpc>
                <a:spcPct val="100000"/>
              </a:lnSpc>
              <a:defRPr/>
            </a:pPr>
            <a:r>
              <a:rPr lang="zh-CN" altLang="en-US"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模型预测性能散点图</a:t>
            </a:r>
            <a:endParaRPr lang="en-US" altLang="zh-CN"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cxnSp>
        <p:nvCxnSpPr>
          <p:cNvPr id="5" name="直接连接符 4">
            <a:extLst>
              <a:ext uri="{FF2B5EF4-FFF2-40B4-BE49-F238E27FC236}">
                <a16:creationId xmlns:a16="http://schemas.microsoft.com/office/drawing/2014/main" id="{B0167FD8-69DC-A772-8BE1-5E99C55C2E12}"/>
              </a:ext>
            </a:extLst>
          </p:cNvPr>
          <p:cNvCxnSpPr>
            <a:cxnSpLocks/>
          </p:cNvCxnSpPr>
          <p:nvPr/>
        </p:nvCxnSpPr>
        <p:spPr>
          <a:xfrm>
            <a:off x="524801" y="543851"/>
            <a:ext cx="2707620"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pic>
        <p:nvPicPr>
          <p:cNvPr id="10" name="图片 9">
            <a:extLst>
              <a:ext uri="{FF2B5EF4-FFF2-40B4-BE49-F238E27FC236}">
                <a16:creationId xmlns:a16="http://schemas.microsoft.com/office/drawing/2014/main" id="{6A1076D3-6D1A-C58A-4407-C333DB9D4144}"/>
              </a:ext>
            </a:extLst>
          </p:cNvPr>
          <p:cNvPicPr>
            <a:picLocks/>
          </p:cNvPicPr>
          <p:nvPr/>
        </p:nvPicPr>
        <p:blipFill>
          <a:blip r:embed="rId4" cstate="print">
            <a:extLst>
              <a:ext uri="{28A0092B-C50C-407E-A947-70E740481C1C}">
                <a14:useLocalDpi xmlns:a14="http://schemas.microsoft.com/office/drawing/2010/main" val="0"/>
              </a:ext>
            </a:extLst>
          </a:blip>
          <a:srcRect l="6285" t="6593" r="8925" b="5269"/>
          <a:stretch>
            <a:fillRect/>
          </a:stretch>
        </p:blipFill>
        <p:spPr>
          <a:xfrm>
            <a:off x="209001" y="1200124"/>
            <a:ext cx="2460801" cy="2495894"/>
          </a:xfrm>
          <a:prstGeom prst="rect">
            <a:avLst/>
          </a:prstGeom>
        </p:spPr>
      </p:pic>
      <p:pic>
        <p:nvPicPr>
          <p:cNvPr id="14" name="图片 13">
            <a:extLst>
              <a:ext uri="{FF2B5EF4-FFF2-40B4-BE49-F238E27FC236}">
                <a16:creationId xmlns:a16="http://schemas.microsoft.com/office/drawing/2014/main" id="{D400E0F2-8CB0-B4D1-D19F-F2294A1181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40734" y="1010358"/>
            <a:ext cx="4163712" cy="3122784"/>
          </a:xfrm>
          <a:prstGeom prst="rect">
            <a:avLst/>
          </a:prstGeom>
        </p:spPr>
      </p:pic>
      <p:pic>
        <p:nvPicPr>
          <p:cNvPr id="16" name="图片 15">
            <a:extLst>
              <a:ext uri="{FF2B5EF4-FFF2-40B4-BE49-F238E27FC236}">
                <a16:creationId xmlns:a16="http://schemas.microsoft.com/office/drawing/2014/main" id="{C137BE5A-6938-C03B-AB6A-E440F0908F46}"/>
              </a:ext>
            </a:extLst>
          </p:cNvPr>
          <p:cNvPicPr>
            <a:picLocks/>
          </p:cNvPicPr>
          <p:nvPr/>
        </p:nvPicPr>
        <p:blipFill>
          <a:blip r:embed="rId6" cstate="print">
            <a:extLst>
              <a:ext uri="{28A0092B-C50C-407E-A947-70E740481C1C}">
                <a14:useLocalDpi xmlns:a14="http://schemas.microsoft.com/office/drawing/2010/main" val="0"/>
              </a:ext>
            </a:extLst>
          </a:blip>
          <a:srcRect l="4345" t="8911" r="7769" b="6212"/>
          <a:stretch>
            <a:fillRect/>
          </a:stretch>
        </p:blipFill>
        <p:spPr>
          <a:xfrm>
            <a:off x="2837559" y="637309"/>
            <a:ext cx="1804729" cy="3621524"/>
          </a:xfrm>
          <a:prstGeom prst="rect">
            <a:avLst/>
          </a:prstGeom>
        </p:spPr>
      </p:pic>
      <p:sp>
        <p:nvSpPr>
          <p:cNvPr id="17" name="文本框 16">
            <a:extLst>
              <a:ext uri="{FF2B5EF4-FFF2-40B4-BE49-F238E27FC236}">
                <a16:creationId xmlns:a16="http://schemas.microsoft.com/office/drawing/2014/main" id="{61DCE67B-839D-CECD-4A51-2E5BC460DCFC}"/>
              </a:ext>
            </a:extLst>
          </p:cNvPr>
          <p:cNvSpPr txBox="1"/>
          <p:nvPr/>
        </p:nvSpPr>
        <p:spPr>
          <a:xfrm>
            <a:off x="3187865" y="4187010"/>
            <a:ext cx="1360825" cy="246221"/>
          </a:xfrm>
          <a:prstGeom prst="rect">
            <a:avLst/>
          </a:prstGeom>
          <a:noFill/>
        </p:spPr>
        <p:txBody>
          <a:bodyPr wrap="square" rtlCol="0" anchor="t">
            <a:spAutoFit/>
          </a:bodyPr>
          <a:lstStyle/>
          <a:p>
            <a:pPr lvl="0">
              <a:lnSpc>
                <a:spcPct val="100000"/>
              </a:lnSpc>
              <a:defRPr/>
            </a:pPr>
            <a:r>
              <a:rPr lang="zh-CN" altLang="en-US" sz="1000" b="1" dirty="0">
                <a:solidFill>
                  <a:sysClr val="windowText" lastClr="000000"/>
                </a:solidFill>
                <a:latin typeface="Times New Roman Bold" panose="02020603050405020304" charset="0"/>
                <a:ea typeface="宋体" pitchFamily="2" charset="-122"/>
                <a:cs typeface="Times New Roman Bold" panose="02020603050405020304" charset="0"/>
                <a:sym typeface="+mn-ea"/>
              </a:rPr>
              <a:t>沿深度平均预测图</a:t>
            </a:r>
            <a:endParaRPr lang="en-US" altLang="zh-CN"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sp>
        <p:nvSpPr>
          <p:cNvPr id="19" name="文本框 18">
            <a:extLst>
              <a:ext uri="{FF2B5EF4-FFF2-40B4-BE49-F238E27FC236}">
                <a16:creationId xmlns:a16="http://schemas.microsoft.com/office/drawing/2014/main" id="{CB39B6BD-D584-1610-9ACB-92FCAD9C7091}"/>
              </a:ext>
            </a:extLst>
          </p:cNvPr>
          <p:cNvSpPr txBox="1"/>
          <p:nvPr/>
        </p:nvSpPr>
        <p:spPr>
          <a:xfrm>
            <a:off x="6242178" y="4187010"/>
            <a:ext cx="1360825" cy="246221"/>
          </a:xfrm>
          <a:prstGeom prst="rect">
            <a:avLst/>
          </a:prstGeom>
          <a:noFill/>
        </p:spPr>
        <p:txBody>
          <a:bodyPr wrap="square" rtlCol="0" anchor="t">
            <a:spAutoFit/>
          </a:bodyPr>
          <a:lstStyle/>
          <a:p>
            <a:pPr lvl="0">
              <a:lnSpc>
                <a:spcPct val="100000"/>
              </a:lnSpc>
              <a:defRPr/>
            </a:pPr>
            <a:r>
              <a:rPr lang="zh-CN" altLang="en-US" sz="1000" b="1" dirty="0">
                <a:solidFill>
                  <a:sysClr val="windowText" lastClr="000000"/>
                </a:solidFill>
                <a:latin typeface="Times New Roman Bold" panose="02020603050405020304" charset="0"/>
                <a:ea typeface="宋体" pitchFamily="2" charset="-122"/>
                <a:cs typeface="Times New Roman Bold" panose="02020603050405020304" charset="0"/>
                <a:sym typeface="+mn-ea"/>
              </a:rPr>
              <a:t>沿深度</a:t>
            </a:r>
            <a:r>
              <a:rPr lang="en-US" altLang="zh-CN" sz="1000" b="1" dirty="0">
                <a:solidFill>
                  <a:sysClr val="windowText" lastClr="000000"/>
                </a:solidFill>
                <a:latin typeface="Times New Roman Bold" panose="02020603050405020304" charset="0"/>
                <a:ea typeface="宋体" pitchFamily="2" charset="-122"/>
                <a:cs typeface="Times New Roman Bold" panose="02020603050405020304" charset="0"/>
                <a:sym typeface="+mn-ea"/>
              </a:rPr>
              <a:t>FFT</a:t>
            </a:r>
            <a:r>
              <a:rPr lang="zh-CN" altLang="en-US" sz="1000" b="1" dirty="0">
                <a:solidFill>
                  <a:sysClr val="windowText" lastClr="000000"/>
                </a:solidFill>
                <a:latin typeface="Times New Roman Bold" panose="02020603050405020304" charset="0"/>
                <a:ea typeface="宋体" pitchFamily="2" charset="-122"/>
                <a:cs typeface="Times New Roman Bold" panose="02020603050405020304" charset="0"/>
                <a:sym typeface="+mn-ea"/>
              </a:rPr>
              <a:t>预测图</a:t>
            </a:r>
            <a:endParaRPr lang="en-US" altLang="zh-CN" sz="1000"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sp>
        <p:nvSpPr>
          <p:cNvPr id="20" name="文本框 19">
            <a:extLst>
              <a:ext uri="{FF2B5EF4-FFF2-40B4-BE49-F238E27FC236}">
                <a16:creationId xmlns:a16="http://schemas.microsoft.com/office/drawing/2014/main" id="{94FD2F3F-D83A-94C7-8A96-BBAB61307EA6}"/>
              </a:ext>
            </a:extLst>
          </p:cNvPr>
          <p:cNvSpPr txBox="1"/>
          <p:nvPr/>
        </p:nvSpPr>
        <p:spPr>
          <a:xfrm>
            <a:off x="893845" y="4599649"/>
            <a:ext cx="7356310" cy="307777"/>
          </a:xfrm>
          <a:prstGeom prst="rect">
            <a:avLst/>
          </a:prstGeom>
          <a:noFill/>
        </p:spPr>
        <p:txBody>
          <a:bodyPr wrap="square" rtlCol="0" anchor="t">
            <a:spAutoFit/>
          </a:bodyPr>
          <a:lstStyle/>
          <a:p>
            <a:pPr lvl="0">
              <a:lnSpc>
                <a:spcPct val="100000"/>
              </a:lnSpc>
              <a:defRPr/>
            </a:pPr>
            <a:r>
              <a:rPr lang="zh-CN" altLang="en-US"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模型在水泥胶结良好时的预测性能表现较好；然而，固井条件越差，模型的预测性能就越差。</a:t>
            </a:r>
            <a:endPar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spTree>
    <p:extLst>
      <p:ext uri="{BB962C8B-B14F-4D97-AF65-F5344CB8AC3E}">
        <p14:creationId xmlns:p14="http://schemas.microsoft.com/office/powerpoint/2010/main" val="2401891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4DF0-7CC2-F32E-9BFC-FB351A1B908E}"/>
            </a:ext>
          </a:extLst>
        </p:cNvPr>
        <p:cNvGrpSpPr/>
        <p:nvPr/>
      </p:nvGrpSpPr>
      <p:grpSpPr>
        <a:xfrm>
          <a:off x="0" y="0"/>
          <a:ext cx="0" cy="0"/>
          <a:chOff x="0" y="0"/>
          <a:chExt cx="0" cy="0"/>
        </a:xfrm>
      </p:grpSpPr>
      <p:sp>
        <p:nvSpPr>
          <p:cNvPr id="25" name="灯片编号占位符 3">
            <a:extLst>
              <a:ext uri="{FF2B5EF4-FFF2-40B4-BE49-F238E27FC236}">
                <a16:creationId xmlns:a16="http://schemas.microsoft.com/office/drawing/2014/main" id="{ADE88B89-B1A6-7ABF-58B0-C22E472E3197}"/>
              </a:ext>
            </a:extLst>
          </p:cNvPr>
          <p:cNvSpPr>
            <a:spLocks noGrp="1"/>
          </p:cNvSpPr>
          <p:nvPr>
            <p:ph type="sldNum" sz="quarter" idx="12"/>
          </p:nvPr>
        </p:nvSpPr>
        <p:spPr>
          <a:xfrm>
            <a:off x="8101012" y="4804083"/>
            <a:ext cx="1042988" cy="273844"/>
          </a:xfrm>
        </p:spPr>
        <p:txBody>
          <a:bodyPr/>
          <a:lstStyle/>
          <a:p>
            <a:r>
              <a:rPr lang="en-US" altLang="zh-CN" dirty="0"/>
              <a:t>12</a:t>
            </a:r>
            <a:endParaRPr lang="zh-CN" altLang="en-US" dirty="0"/>
          </a:p>
        </p:txBody>
      </p:sp>
      <p:sp>
        <p:nvSpPr>
          <p:cNvPr id="28" name="矩形 27">
            <a:extLst>
              <a:ext uri="{FF2B5EF4-FFF2-40B4-BE49-F238E27FC236}">
                <a16:creationId xmlns:a16="http://schemas.microsoft.com/office/drawing/2014/main" id="{DDB9B5A8-C562-444A-82D9-24EECC2DE465}"/>
              </a:ext>
            </a:extLst>
          </p:cNvPr>
          <p:cNvSpPr/>
          <p:nvPr/>
        </p:nvSpPr>
        <p:spPr>
          <a:xfrm>
            <a:off x="580526" y="78941"/>
            <a:ext cx="2263474"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prstClr val="white"/>
                </a:solidFill>
                <a:latin typeface="Verdana"/>
                <a:ea typeface="微软雅黑" panose="020B0503020204020204" pitchFamily="34" charset="-122"/>
              </a:rPr>
              <a:t>5</a:t>
            </a:r>
            <a:r>
              <a:rPr kumimoji="0" lang="en-US" altLang="zh-CN"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 </a:t>
            </a:r>
            <a:r>
              <a:rPr lang="zh-CN" altLang="en-US" sz="1800" dirty="0">
                <a:solidFill>
                  <a:prstClr val="white"/>
                </a:solidFill>
                <a:latin typeface="Verdana"/>
                <a:ea typeface="微软雅黑" panose="020B0503020204020204" pitchFamily="34" charset="-122"/>
              </a:rPr>
              <a:t>可行性与已有成果</a:t>
            </a:r>
            <a:endParaRPr kumimoji="0" lang="zh-CN" altLang="en-US"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endParaRPr>
          </a:p>
        </p:txBody>
      </p:sp>
      <p:sp>
        <p:nvSpPr>
          <p:cNvPr id="31" name="标题1">
            <a:extLst>
              <a:ext uri="{FF2B5EF4-FFF2-40B4-BE49-F238E27FC236}">
                <a16:creationId xmlns:a16="http://schemas.microsoft.com/office/drawing/2014/main" id="{AE1597C4-A427-2AB7-7B61-88C2E480506F}"/>
              </a:ext>
            </a:extLst>
          </p:cNvPr>
          <p:cNvSpPr>
            <a:spLocks noChangeArrowheads="1"/>
          </p:cNvSpPr>
          <p:nvPr/>
        </p:nvSpPr>
        <p:spPr bwMode="gray">
          <a:xfrm>
            <a:off x="2999511" y="142788"/>
            <a:ext cx="434093" cy="338940"/>
          </a:xfrm>
          <a:prstGeom prst="roundRect">
            <a:avLst>
              <a:gd name="adj" fmla="val 11921"/>
            </a:avLst>
          </a:prstGeom>
          <a:solidFill>
            <a:schemeClr val="accent1"/>
          </a:solidFill>
          <a:ln w="25400" cap="flat" cmpd="sng" algn="ctr">
            <a:no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en-US" altLang="zh-CN" sz="2000" b="1" dirty="0">
                <a:solidFill>
                  <a:sysClr val="window" lastClr="FFFFFF">
                    <a:lumMod val="95000"/>
                  </a:sysClr>
                </a:solidFill>
                <a:latin typeface="微软雅黑" pitchFamily="34" charset="-122"/>
                <a:ea typeface="微软雅黑" pitchFamily="34" charset="-122"/>
              </a:rPr>
              <a:t>2</a:t>
            </a:r>
            <a:endParaRPr lang="zh-CN" altLang="zh-CN" sz="2000" b="1" dirty="0">
              <a:solidFill>
                <a:sysClr val="window" lastClr="FFFFFF">
                  <a:lumMod val="95000"/>
                </a:sysClr>
              </a:solidFill>
              <a:latin typeface="微软雅黑" pitchFamily="34" charset="-122"/>
              <a:ea typeface="微软雅黑" pitchFamily="34" charset="-122"/>
            </a:endParaRPr>
          </a:p>
        </p:txBody>
      </p:sp>
      <p:sp>
        <p:nvSpPr>
          <p:cNvPr id="32" name="矩形 31">
            <a:extLst>
              <a:ext uri="{FF2B5EF4-FFF2-40B4-BE49-F238E27FC236}">
                <a16:creationId xmlns:a16="http://schemas.microsoft.com/office/drawing/2014/main" id="{89E116D0-B54D-5CD9-52C1-7EC000C76D53}"/>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0C1FD24E-C91B-B4CA-5211-346D7A1E17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sp>
        <p:nvSpPr>
          <p:cNvPr id="34" name="文本1">
            <a:extLst>
              <a:ext uri="{FF2B5EF4-FFF2-40B4-BE49-F238E27FC236}">
                <a16:creationId xmlns:a16="http://schemas.microsoft.com/office/drawing/2014/main" id="{27388F2D-9041-A51E-2F5A-F04AD823EDD8}"/>
              </a:ext>
            </a:extLst>
          </p:cNvPr>
          <p:cNvSpPr>
            <a:spLocks noChangeArrowheads="1"/>
          </p:cNvSpPr>
          <p:nvPr/>
        </p:nvSpPr>
        <p:spPr bwMode="gray">
          <a:xfrm>
            <a:off x="3554708" y="107683"/>
            <a:ext cx="2407942" cy="351663"/>
          </a:xfrm>
          <a:prstGeom prst="roundRect">
            <a:avLst>
              <a:gd name="adj" fmla="val 11505"/>
            </a:avLst>
          </a:prstGeom>
          <a:noFill/>
          <a:ln w="15875" cap="flat" cmpd="sng" algn="ctr">
            <a:solidFill>
              <a:schemeClr val="accent1"/>
            </a:solid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defRPr/>
            </a:pPr>
            <a:r>
              <a:rPr lang="zh-CN" altLang="en-US" sz="14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rPr>
              <a:t>已有成果：代码与工程实现</a:t>
            </a:r>
            <a:endParaRPr lang="zh-CN" altLang="zh-CN" sz="1400" b="1" dirty="0">
              <a:solidFill>
                <a:schemeClr val="tx1">
                  <a:lumMod val="75000"/>
                  <a:lumOff val="25000"/>
                </a:schemeClr>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5" name="直接连接符 4">
            <a:extLst>
              <a:ext uri="{FF2B5EF4-FFF2-40B4-BE49-F238E27FC236}">
                <a16:creationId xmlns:a16="http://schemas.microsoft.com/office/drawing/2014/main" id="{2F10F2A1-5706-C276-0401-998133AA2D18}"/>
              </a:ext>
            </a:extLst>
          </p:cNvPr>
          <p:cNvCxnSpPr>
            <a:cxnSpLocks/>
          </p:cNvCxnSpPr>
          <p:nvPr/>
        </p:nvCxnSpPr>
        <p:spPr>
          <a:xfrm>
            <a:off x="524801" y="543851"/>
            <a:ext cx="2707620"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pic>
        <p:nvPicPr>
          <p:cNvPr id="4" name="图片 3">
            <a:extLst>
              <a:ext uri="{FF2B5EF4-FFF2-40B4-BE49-F238E27FC236}">
                <a16:creationId xmlns:a16="http://schemas.microsoft.com/office/drawing/2014/main" id="{64FD8E4B-9C16-495A-4652-F2CA9B2F2750}"/>
              </a:ext>
            </a:extLst>
          </p:cNvPr>
          <p:cNvPicPr>
            <a:picLocks noChangeAspect="1"/>
          </p:cNvPicPr>
          <p:nvPr/>
        </p:nvPicPr>
        <p:blipFill>
          <a:blip r:embed="rId4"/>
          <a:stretch>
            <a:fillRect/>
          </a:stretch>
        </p:blipFill>
        <p:spPr>
          <a:xfrm>
            <a:off x="736064" y="816596"/>
            <a:ext cx="7206738" cy="3508483"/>
          </a:xfrm>
          <a:prstGeom prst="rect">
            <a:avLst/>
          </a:prstGeom>
        </p:spPr>
      </p:pic>
      <p:sp>
        <p:nvSpPr>
          <p:cNvPr id="6" name="文本框 5">
            <a:extLst>
              <a:ext uri="{FF2B5EF4-FFF2-40B4-BE49-F238E27FC236}">
                <a16:creationId xmlns:a16="http://schemas.microsoft.com/office/drawing/2014/main" id="{C2207C50-D836-4F67-FA12-E377F7CF97E0}"/>
              </a:ext>
            </a:extLst>
          </p:cNvPr>
          <p:cNvSpPr txBox="1"/>
          <p:nvPr/>
        </p:nvSpPr>
        <p:spPr>
          <a:xfrm>
            <a:off x="1916116" y="4409587"/>
            <a:ext cx="4666872" cy="523220"/>
          </a:xfrm>
          <a:prstGeom prst="rect">
            <a:avLst/>
          </a:prstGeom>
          <a:noFill/>
        </p:spPr>
        <p:txBody>
          <a:bodyPr wrap="square" rtlCol="0" anchor="t">
            <a:spAutoFit/>
          </a:bodyPr>
          <a:lstStyle/>
          <a:p>
            <a:pPr marL="285750" lvl="0" indent="-285750">
              <a:lnSpc>
                <a:spcPct val="100000"/>
              </a:lnSpc>
              <a:buFont typeface="Arial" panose="020B0604020202020204" pitchFamily="34" charset="0"/>
              <a:buChar char="•"/>
              <a:defRPr/>
            </a:pPr>
            <a:r>
              <a:rPr lang="zh-CN" altLang="en-US"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已搭建完整的端到端深度学习框架。</a:t>
            </a:r>
          </a:p>
          <a:p>
            <a:pPr marL="285750" lvl="0" indent="-285750">
              <a:lnSpc>
                <a:spcPct val="100000"/>
              </a:lnSpc>
              <a:buFont typeface="Arial" panose="020B0604020202020204" pitchFamily="34" charset="0"/>
              <a:buChar char="•"/>
              <a:defRPr/>
            </a:pPr>
            <a:r>
              <a:rPr lang="zh-CN" altLang="en-US"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代码已开源</a:t>
            </a: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a:t>
            </a:r>
            <a:r>
              <a:rPr lang="zh-CN" altLang="en-US"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版本管理，具备极高的复现性和扩展性。</a:t>
            </a:r>
            <a:endPar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spTree>
    <p:extLst>
      <p:ext uri="{BB962C8B-B14F-4D97-AF65-F5344CB8AC3E}">
        <p14:creationId xmlns:p14="http://schemas.microsoft.com/office/powerpoint/2010/main" val="2122959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C3FED5E-4EE0-464C-8613-10B209C0AD37}"/>
              </a:ext>
            </a:extLst>
          </p:cNvPr>
          <p:cNvSpPr>
            <a:spLocks noGrp="1"/>
          </p:cNvSpPr>
          <p:nvPr>
            <p:ph type="sldNum" sz="quarter" idx="12"/>
          </p:nvPr>
        </p:nvSpPr>
        <p:spPr/>
        <p:txBody>
          <a:bodyPr/>
          <a:lstStyle/>
          <a:p>
            <a:r>
              <a:rPr lang="en-US" altLang="zh-CN" dirty="0"/>
              <a:t>13</a:t>
            </a:r>
            <a:endParaRPr lang="zh-CN" altLang="en-US" dirty="0"/>
          </a:p>
        </p:txBody>
      </p:sp>
      <p:sp>
        <p:nvSpPr>
          <p:cNvPr id="31" name="矩形 30">
            <a:extLst>
              <a:ext uri="{FF2B5EF4-FFF2-40B4-BE49-F238E27FC236}">
                <a16:creationId xmlns:a16="http://schemas.microsoft.com/office/drawing/2014/main" id="{9E096731-F0CE-4A94-A6AC-C8D83AC53AD5}"/>
              </a:ext>
            </a:extLst>
          </p:cNvPr>
          <p:cNvSpPr/>
          <p:nvPr/>
        </p:nvSpPr>
        <p:spPr>
          <a:xfrm>
            <a:off x="580526" y="78941"/>
            <a:ext cx="1395462"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5 </a:t>
            </a:r>
            <a:r>
              <a:rPr lang="zh-CN" altLang="en-US" sz="1800" dirty="0">
                <a:solidFill>
                  <a:prstClr val="white"/>
                </a:solidFill>
                <a:latin typeface="Verdana"/>
                <a:ea typeface="微软雅黑" panose="020B0503020204020204" pitchFamily="34" charset="-122"/>
              </a:rPr>
              <a:t>研究计划</a:t>
            </a:r>
            <a:endParaRPr kumimoji="0" lang="zh-CN" altLang="en-US"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endParaRPr>
          </a:p>
        </p:txBody>
      </p:sp>
      <p:sp>
        <p:nvSpPr>
          <p:cNvPr id="32" name="矩形 31">
            <a:extLst>
              <a:ext uri="{FF2B5EF4-FFF2-40B4-BE49-F238E27FC236}">
                <a16:creationId xmlns:a16="http://schemas.microsoft.com/office/drawing/2014/main" id="{2F8FD3CB-7F8C-4B1D-8D1F-A8CCDA39C31E}"/>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0AA6B4D6-54B4-437C-B073-F634492D7B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grpSp>
        <p:nvGrpSpPr>
          <p:cNvPr id="24" name="组合 23">
            <a:extLst>
              <a:ext uri="{FF2B5EF4-FFF2-40B4-BE49-F238E27FC236}">
                <a16:creationId xmlns:a16="http://schemas.microsoft.com/office/drawing/2014/main" id="{F2CE48B4-1948-437F-8745-BC68566D65CF}"/>
              </a:ext>
            </a:extLst>
          </p:cNvPr>
          <p:cNvGrpSpPr/>
          <p:nvPr/>
        </p:nvGrpSpPr>
        <p:grpSpPr>
          <a:xfrm>
            <a:off x="83371" y="646314"/>
            <a:ext cx="2854920" cy="472063"/>
            <a:chOff x="9111947" y="351889"/>
            <a:chExt cx="2854920" cy="472063"/>
          </a:xfrm>
        </p:grpSpPr>
        <p:grpSp>
          <p:nvGrpSpPr>
            <p:cNvPr id="25" name="组合 24">
              <a:extLst>
                <a:ext uri="{FF2B5EF4-FFF2-40B4-BE49-F238E27FC236}">
                  <a16:creationId xmlns:a16="http://schemas.microsoft.com/office/drawing/2014/main" id="{75D1029C-B9D4-404D-9D3B-83521BB4D8E7}"/>
                </a:ext>
              </a:extLst>
            </p:cNvPr>
            <p:cNvGrpSpPr/>
            <p:nvPr/>
          </p:nvGrpSpPr>
          <p:grpSpPr>
            <a:xfrm>
              <a:off x="9111947" y="351889"/>
              <a:ext cx="465708" cy="472063"/>
              <a:chOff x="4796805" y="-215900"/>
              <a:chExt cx="2093913" cy="2122488"/>
            </a:xfrm>
            <a:solidFill>
              <a:srgbClr val="0070C0"/>
            </a:solidFill>
          </p:grpSpPr>
          <p:sp>
            <p:nvSpPr>
              <p:cNvPr id="54" name="Freeform 6">
                <a:extLst>
                  <a:ext uri="{FF2B5EF4-FFF2-40B4-BE49-F238E27FC236}">
                    <a16:creationId xmlns:a16="http://schemas.microsoft.com/office/drawing/2014/main" id="{88ED1312-2B5D-4C37-B8AF-EE16979BC255}"/>
                  </a:ext>
                </a:extLst>
              </p:cNvPr>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prstTxWarp prst="textNoShape">
                  <a:avLst/>
                </a:prstTxWarp>
              </a:bodyPr>
              <a:lstStyle/>
              <a:p>
                <a:endParaRPr lang="zh-CN" altLang="en-US">
                  <a:solidFill>
                    <a:srgbClr val="21A3D0"/>
                  </a:solidFill>
                </a:endParaRPr>
              </a:p>
            </p:txBody>
          </p:sp>
          <p:sp>
            <p:nvSpPr>
              <p:cNvPr id="55" name="Freeform 7">
                <a:extLst>
                  <a:ext uri="{FF2B5EF4-FFF2-40B4-BE49-F238E27FC236}">
                    <a16:creationId xmlns:a16="http://schemas.microsoft.com/office/drawing/2014/main" id="{97887CE8-3F58-44EC-A2A1-FE529994251C}"/>
                  </a:ext>
                </a:extLst>
              </p:cNvPr>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endParaRPr lang="zh-CN" altLang="en-US">
                  <a:solidFill>
                    <a:srgbClr val="21A3D0"/>
                  </a:solidFill>
                </a:endParaRPr>
              </a:p>
            </p:txBody>
          </p:sp>
        </p:grpSp>
        <p:grpSp>
          <p:nvGrpSpPr>
            <p:cNvPr id="26" name="组合 25">
              <a:extLst>
                <a:ext uri="{FF2B5EF4-FFF2-40B4-BE49-F238E27FC236}">
                  <a16:creationId xmlns:a16="http://schemas.microsoft.com/office/drawing/2014/main" id="{940AA66B-E956-4DD2-AE78-551808498387}"/>
                </a:ext>
              </a:extLst>
            </p:cNvPr>
            <p:cNvGrpSpPr/>
            <p:nvPr/>
          </p:nvGrpSpPr>
          <p:grpSpPr>
            <a:xfrm>
              <a:off x="10310757" y="351889"/>
              <a:ext cx="465708" cy="472063"/>
              <a:chOff x="7717810" y="-375235"/>
              <a:chExt cx="2093913" cy="2122488"/>
            </a:xfrm>
            <a:solidFill>
              <a:srgbClr val="0070C0"/>
            </a:solidFill>
          </p:grpSpPr>
          <p:sp>
            <p:nvSpPr>
              <p:cNvPr id="52" name="Freeform 6">
                <a:extLst>
                  <a:ext uri="{FF2B5EF4-FFF2-40B4-BE49-F238E27FC236}">
                    <a16:creationId xmlns:a16="http://schemas.microsoft.com/office/drawing/2014/main" id="{6005A8B9-65A9-4972-88D9-26C18ADA314F}"/>
                  </a:ext>
                </a:extLst>
              </p:cNvPr>
              <p:cNvSpPr>
                <a:spLocks noEditPoints="1"/>
              </p:cNvSpPr>
              <p:nvPr/>
            </p:nvSpPr>
            <p:spPr bwMode="auto">
              <a:xfrm>
                <a:off x="7717810" y="-375235"/>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prstTxWarp prst="textNoShape">
                  <a:avLst/>
                </a:prstTxWarp>
              </a:bodyPr>
              <a:lstStyle/>
              <a:p>
                <a:endParaRPr lang="zh-CN" altLang="en-US">
                  <a:solidFill>
                    <a:srgbClr val="2DB6B9"/>
                  </a:solidFill>
                </a:endParaRPr>
              </a:p>
            </p:txBody>
          </p:sp>
          <p:sp>
            <p:nvSpPr>
              <p:cNvPr id="53" name="Freeform 10">
                <a:extLst>
                  <a:ext uri="{FF2B5EF4-FFF2-40B4-BE49-F238E27FC236}">
                    <a16:creationId xmlns:a16="http://schemas.microsoft.com/office/drawing/2014/main" id="{FD3B7A88-7124-4FBC-B4A9-5891845116D9}"/>
                  </a:ext>
                </a:extLst>
              </p:cNvPr>
              <p:cNvSpPr>
                <a:spLocks noEditPoints="1"/>
              </p:cNvSpPr>
              <p:nvPr/>
            </p:nvSpPr>
            <p:spPr bwMode="auto">
              <a:xfrm>
                <a:off x="7873033" y="-212106"/>
                <a:ext cx="1796329" cy="1793077"/>
              </a:xfrm>
              <a:custGeom>
                <a:avLst/>
                <a:gdLst>
                  <a:gd name="T0" fmla="*/ 439327 w 1145"/>
                  <a:gd name="T1" fmla="*/ 326030 h 1145"/>
                  <a:gd name="T2" fmla="*/ 326620 w 1145"/>
                  <a:gd name="T3" fmla="*/ 438533 h 1145"/>
                  <a:gd name="T4" fmla="*/ 439327 w 1145"/>
                  <a:gd name="T5" fmla="*/ 551036 h 1145"/>
                  <a:gd name="T6" fmla="*/ 552034 w 1145"/>
                  <a:gd name="T7" fmla="*/ 438533 h 1145"/>
                  <a:gd name="T8" fmla="*/ 439327 w 1145"/>
                  <a:gd name="T9" fmla="*/ 326030 h 1145"/>
                  <a:gd name="T10" fmla="*/ 485330 w 1145"/>
                  <a:gd name="T11" fmla="*/ 652824 h 1145"/>
                  <a:gd name="T12" fmla="*/ 485330 w 1145"/>
                  <a:gd name="T13" fmla="*/ 601547 h 1145"/>
                  <a:gd name="T14" fmla="*/ 393324 w 1145"/>
                  <a:gd name="T15" fmla="*/ 601547 h 1145"/>
                  <a:gd name="T16" fmla="*/ 393324 w 1145"/>
                  <a:gd name="T17" fmla="*/ 652824 h 1145"/>
                  <a:gd name="T18" fmla="*/ 224647 w 1145"/>
                  <a:gd name="T19" fmla="*/ 484452 h 1145"/>
                  <a:gd name="T20" fmla="*/ 275250 w 1145"/>
                  <a:gd name="T21" fmla="*/ 484452 h 1145"/>
                  <a:gd name="T22" fmla="*/ 275250 w 1145"/>
                  <a:gd name="T23" fmla="*/ 392613 h 1145"/>
                  <a:gd name="T24" fmla="*/ 224647 w 1145"/>
                  <a:gd name="T25" fmla="*/ 392613 h 1145"/>
                  <a:gd name="T26" fmla="*/ 393324 w 1145"/>
                  <a:gd name="T27" fmla="*/ 224241 h 1145"/>
                  <a:gd name="T28" fmla="*/ 393324 w 1145"/>
                  <a:gd name="T29" fmla="*/ 274753 h 1145"/>
                  <a:gd name="T30" fmla="*/ 485330 w 1145"/>
                  <a:gd name="T31" fmla="*/ 274753 h 1145"/>
                  <a:gd name="T32" fmla="*/ 485330 w 1145"/>
                  <a:gd name="T33" fmla="*/ 224241 h 1145"/>
                  <a:gd name="T34" fmla="*/ 654007 w 1145"/>
                  <a:gd name="T35" fmla="*/ 392613 h 1145"/>
                  <a:gd name="T36" fmla="*/ 603404 w 1145"/>
                  <a:gd name="T37" fmla="*/ 392613 h 1145"/>
                  <a:gd name="T38" fmla="*/ 603404 w 1145"/>
                  <a:gd name="T39" fmla="*/ 484452 h 1145"/>
                  <a:gd name="T40" fmla="*/ 654007 w 1145"/>
                  <a:gd name="T41" fmla="*/ 484452 h 1145"/>
                  <a:gd name="T42" fmla="*/ 485330 w 1145"/>
                  <a:gd name="T43" fmla="*/ 652824 h 1145"/>
                  <a:gd name="T44" fmla="*/ 747546 w 1145"/>
                  <a:gd name="T45" fmla="*/ 392613 h 1145"/>
                  <a:gd name="T46" fmla="*/ 485330 w 1145"/>
                  <a:gd name="T47" fmla="*/ 130871 h 1145"/>
                  <a:gd name="T48" fmla="*/ 485330 w 1145"/>
                  <a:gd name="T49" fmla="*/ 0 h 1145"/>
                  <a:gd name="T50" fmla="*/ 393324 w 1145"/>
                  <a:gd name="T51" fmla="*/ 0 h 1145"/>
                  <a:gd name="T52" fmla="*/ 393324 w 1145"/>
                  <a:gd name="T53" fmla="*/ 130871 h 1145"/>
                  <a:gd name="T54" fmla="*/ 131108 w 1145"/>
                  <a:gd name="T55" fmla="*/ 392613 h 1145"/>
                  <a:gd name="T56" fmla="*/ 0 w 1145"/>
                  <a:gd name="T57" fmla="*/ 392613 h 1145"/>
                  <a:gd name="T58" fmla="*/ 0 w 1145"/>
                  <a:gd name="T59" fmla="*/ 484452 h 1145"/>
                  <a:gd name="T60" fmla="*/ 131108 w 1145"/>
                  <a:gd name="T61" fmla="*/ 484452 h 1145"/>
                  <a:gd name="T62" fmla="*/ 393324 w 1145"/>
                  <a:gd name="T63" fmla="*/ 746194 h 1145"/>
                  <a:gd name="T64" fmla="*/ 393324 w 1145"/>
                  <a:gd name="T65" fmla="*/ 876300 h 1145"/>
                  <a:gd name="T66" fmla="*/ 485330 w 1145"/>
                  <a:gd name="T67" fmla="*/ 876300 h 1145"/>
                  <a:gd name="T68" fmla="*/ 485330 w 1145"/>
                  <a:gd name="T69" fmla="*/ 746194 h 1145"/>
                  <a:gd name="T70" fmla="*/ 747546 w 1145"/>
                  <a:gd name="T71" fmla="*/ 484452 h 1145"/>
                  <a:gd name="T72" fmla="*/ 877887 w 1145"/>
                  <a:gd name="T73" fmla="*/ 484452 h 1145"/>
                  <a:gd name="T74" fmla="*/ 877887 w 1145"/>
                  <a:gd name="T75" fmla="*/ 392613 h 1145"/>
                  <a:gd name="T76" fmla="*/ 747546 w 1145"/>
                  <a:gd name="T77" fmla="*/ 392613 h 114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145" h="1145">
                    <a:moveTo>
                      <a:pt x="573" y="426"/>
                    </a:moveTo>
                    <a:cubicBezTo>
                      <a:pt x="492" y="426"/>
                      <a:pt x="426" y="492"/>
                      <a:pt x="426" y="573"/>
                    </a:cubicBezTo>
                    <a:cubicBezTo>
                      <a:pt x="426" y="654"/>
                      <a:pt x="492" y="720"/>
                      <a:pt x="573" y="720"/>
                    </a:cubicBezTo>
                    <a:cubicBezTo>
                      <a:pt x="654" y="720"/>
                      <a:pt x="720" y="654"/>
                      <a:pt x="720" y="573"/>
                    </a:cubicBezTo>
                    <a:cubicBezTo>
                      <a:pt x="720" y="492"/>
                      <a:pt x="654" y="426"/>
                      <a:pt x="573" y="426"/>
                    </a:cubicBezTo>
                    <a:close/>
                    <a:moveTo>
                      <a:pt x="633" y="853"/>
                    </a:moveTo>
                    <a:lnTo>
                      <a:pt x="633" y="786"/>
                    </a:lnTo>
                    <a:lnTo>
                      <a:pt x="513" y="786"/>
                    </a:lnTo>
                    <a:lnTo>
                      <a:pt x="513" y="853"/>
                    </a:lnTo>
                    <a:cubicBezTo>
                      <a:pt x="403" y="829"/>
                      <a:pt x="316" y="743"/>
                      <a:pt x="293" y="633"/>
                    </a:cubicBezTo>
                    <a:lnTo>
                      <a:pt x="359" y="633"/>
                    </a:lnTo>
                    <a:lnTo>
                      <a:pt x="359" y="513"/>
                    </a:lnTo>
                    <a:lnTo>
                      <a:pt x="293" y="513"/>
                    </a:lnTo>
                    <a:cubicBezTo>
                      <a:pt x="316" y="403"/>
                      <a:pt x="403" y="316"/>
                      <a:pt x="513" y="293"/>
                    </a:cubicBezTo>
                    <a:lnTo>
                      <a:pt x="513" y="359"/>
                    </a:lnTo>
                    <a:lnTo>
                      <a:pt x="633" y="359"/>
                    </a:lnTo>
                    <a:lnTo>
                      <a:pt x="633" y="293"/>
                    </a:lnTo>
                    <a:cubicBezTo>
                      <a:pt x="743" y="316"/>
                      <a:pt x="830" y="403"/>
                      <a:pt x="853" y="513"/>
                    </a:cubicBezTo>
                    <a:lnTo>
                      <a:pt x="787" y="513"/>
                    </a:lnTo>
                    <a:lnTo>
                      <a:pt x="787" y="633"/>
                    </a:lnTo>
                    <a:lnTo>
                      <a:pt x="853" y="633"/>
                    </a:lnTo>
                    <a:cubicBezTo>
                      <a:pt x="830" y="743"/>
                      <a:pt x="743" y="829"/>
                      <a:pt x="633" y="853"/>
                    </a:cubicBezTo>
                    <a:close/>
                    <a:moveTo>
                      <a:pt x="975" y="513"/>
                    </a:moveTo>
                    <a:cubicBezTo>
                      <a:pt x="949" y="337"/>
                      <a:pt x="809" y="197"/>
                      <a:pt x="633" y="171"/>
                    </a:cubicBezTo>
                    <a:lnTo>
                      <a:pt x="633" y="0"/>
                    </a:lnTo>
                    <a:lnTo>
                      <a:pt x="513" y="0"/>
                    </a:lnTo>
                    <a:lnTo>
                      <a:pt x="513" y="171"/>
                    </a:lnTo>
                    <a:cubicBezTo>
                      <a:pt x="337" y="197"/>
                      <a:pt x="197" y="337"/>
                      <a:pt x="171" y="513"/>
                    </a:cubicBezTo>
                    <a:lnTo>
                      <a:pt x="0" y="513"/>
                    </a:lnTo>
                    <a:lnTo>
                      <a:pt x="0" y="633"/>
                    </a:lnTo>
                    <a:lnTo>
                      <a:pt x="171" y="633"/>
                    </a:lnTo>
                    <a:cubicBezTo>
                      <a:pt x="197" y="809"/>
                      <a:pt x="337" y="949"/>
                      <a:pt x="513" y="975"/>
                    </a:cubicBezTo>
                    <a:lnTo>
                      <a:pt x="513" y="1145"/>
                    </a:lnTo>
                    <a:lnTo>
                      <a:pt x="633" y="1145"/>
                    </a:lnTo>
                    <a:lnTo>
                      <a:pt x="633" y="975"/>
                    </a:lnTo>
                    <a:cubicBezTo>
                      <a:pt x="809" y="949"/>
                      <a:pt x="949" y="809"/>
                      <a:pt x="975" y="633"/>
                    </a:cubicBezTo>
                    <a:lnTo>
                      <a:pt x="1145" y="633"/>
                    </a:lnTo>
                    <a:lnTo>
                      <a:pt x="1145" y="513"/>
                    </a:lnTo>
                    <a:lnTo>
                      <a:pt x="975" y="513"/>
                    </a:lnTo>
                    <a:close/>
                  </a:path>
                </a:pathLst>
              </a:custGeom>
              <a:solidFill>
                <a:srgbClr val="002060"/>
              </a:solidFill>
              <a:ln>
                <a:noFill/>
              </a:ln>
            </p:spPr>
            <p:txBody>
              <a:bodyPr/>
              <a:lstStyle/>
              <a:p>
                <a:endParaRPr lang="zh-CN" altLang="en-US">
                  <a:solidFill>
                    <a:srgbClr val="21A3D0"/>
                  </a:solidFill>
                </a:endParaRPr>
              </a:p>
            </p:txBody>
          </p:sp>
        </p:grpSp>
        <p:grpSp>
          <p:nvGrpSpPr>
            <p:cNvPr id="27" name="组合 26">
              <a:extLst>
                <a:ext uri="{FF2B5EF4-FFF2-40B4-BE49-F238E27FC236}">
                  <a16:creationId xmlns:a16="http://schemas.microsoft.com/office/drawing/2014/main" id="{5E739AA2-0999-40E0-8469-5A542AB64847}"/>
                </a:ext>
              </a:extLst>
            </p:cNvPr>
            <p:cNvGrpSpPr/>
            <p:nvPr/>
          </p:nvGrpSpPr>
          <p:grpSpPr>
            <a:xfrm>
              <a:off x="9711352" y="351889"/>
              <a:ext cx="465708" cy="472063"/>
              <a:chOff x="10019977" y="-551766"/>
              <a:chExt cx="2093913" cy="2122488"/>
            </a:xfrm>
            <a:solidFill>
              <a:srgbClr val="0070C0"/>
            </a:solidFill>
          </p:grpSpPr>
          <p:sp>
            <p:nvSpPr>
              <p:cNvPr id="50" name="Freeform 6">
                <a:extLst>
                  <a:ext uri="{FF2B5EF4-FFF2-40B4-BE49-F238E27FC236}">
                    <a16:creationId xmlns:a16="http://schemas.microsoft.com/office/drawing/2014/main" id="{233618BF-8924-4517-9A47-3B4774AD9939}"/>
                  </a:ext>
                </a:extLst>
              </p:cNvPr>
              <p:cNvSpPr>
                <a:spLocks noEditPoints="1"/>
              </p:cNvSpPr>
              <p:nvPr/>
            </p:nvSpPr>
            <p:spPr bwMode="auto">
              <a:xfrm>
                <a:off x="10019977" y="-551766"/>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prstTxWarp prst="textNoShape">
                  <a:avLst/>
                </a:prstTxWarp>
              </a:bodyPr>
              <a:lstStyle/>
              <a:p>
                <a:endParaRPr lang="zh-CN" altLang="en-US">
                  <a:solidFill>
                    <a:srgbClr val="2DB6B9"/>
                  </a:solidFill>
                </a:endParaRPr>
              </a:p>
            </p:txBody>
          </p:sp>
          <p:sp>
            <p:nvSpPr>
              <p:cNvPr id="51" name="Freeform 6">
                <a:extLst>
                  <a:ext uri="{FF2B5EF4-FFF2-40B4-BE49-F238E27FC236}">
                    <a16:creationId xmlns:a16="http://schemas.microsoft.com/office/drawing/2014/main" id="{8A9FB069-2020-4764-BB19-87060349448B}"/>
                  </a:ext>
                </a:extLst>
              </p:cNvPr>
              <p:cNvSpPr>
                <a:spLocks noEditPoints="1"/>
              </p:cNvSpPr>
              <p:nvPr/>
            </p:nvSpPr>
            <p:spPr bwMode="auto">
              <a:xfrm>
                <a:off x="10357957" y="-215900"/>
                <a:ext cx="1417952" cy="1401540"/>
              </a:xfrm>
              <a:custGeom>
                <a:avLst/>
                <a:gdLst>
                  <a:gd name="T0" fmla="*/ 675 w 1848"/>
                  <a:gd name="T1" fmla="*/ 126 h 1848"/>
                  <a:gd name="T2" fmla="*/ 286 w 1848"/>
                  <a:gd name="T3" fmla="*/ 287 h 1848"/>
                  <a:gd name="T4" fmla="*/ 126 w 1848"/>
                  <a:gd name="T5" fmla="*/ 675 h 1848"/>
                  <a:gd name="T6" fmla="*/ 286 w 1848"/>
                  <a:gd name="T7" fmla="*/ 1064 h 1848"/>
                  <a:gd name="T8" fmla="*/ 675 w 1848"/>
                  <a:gd name="T9" fmla="*/ 1225 h 1848"/>
                  <a:gd name="T10" fmla="*/ 1063 w 1848"/>
                  <a:gd name="T11" fmla="*/ 1064 h 1848"/>
                  <a:gd name="T12" fmla="*/ 1063 w 1848"/>
                  <a:gd name="T13" fmla="*/ 287 h 1848"/>
                  <a:gd name="T14" fmla="*/ 675 w 1848"/>
                  <a:gd name="T15" fmla="*/ 126 h 1848"/>
                  <a:gd name="T16" fmla="*/ 675 w 1848"/>
                  <a:gd name="T17" fmla="*/ 1350 h 1848"/>
                  <a:gd name="T18" fmla="*/ 198 w 1848"/>
                  <a:gd name="T19" fmla="*/ 1153 h 1848"/>
                  <a:gd name="T20" fmla="*/ 0 w 1848"/>
                  <a:gd name="T21" fmla="*/ 675 h 1848"/>
                  <a:gd name="T22" fmla="*/ 198 w 1848"/>
                  <a:gd name="T23" fmla="*/ 198 h 1848"/>
                  <a:gd name="T24" fmla="*/ 675 w 1848"/>
                  <a:gd name="T25" fmla="*/ 0 h 1848"/>
                  <a:gd name="T26" fmla="*/ 1152 w 1848"/>
                  <a:gd name="T27" fmla="*/ 198 h 1848"/>
                  <a:gd name="T28" fmla="*/ 1152 w 1848"/>
                  <a:gd name="T29" fmla="*/ 1153 h 1848"/>
                  <a:gd name="T30" fmla="*/ 675 w 1848"/>
                  <a:gd name="T31" fmla="*/ 1350 h 1848"/>
                  <a:gd name="T32" fmla="*/ 1261 w 1848"/>
                  <a:gd name="T33" fmla="*/ 1068 h 1848"/>
                  <a:gd name="T34" fmla="*/ 1261 w 1848"/>
                  <a:gd name="T35" fmla="*/ 1153 h 1848"/>
                  <a:gd name="T36" fmla="*/ 1153 w 1848"/>
                  <a:gd name="T37" fmla="*/ 1261 h 1848"/>
                  <a:gd name="T38" fmla="*/ 1067 w 1848"/>
                  <a:gd name="T39" fmla="*/ 1261 h 1848"/>
                  <a:gd name="T40" fmla="*/ 1063 w 1848"/>
                  <a:gd name="T41" fmla="*/ 1257 h 1848"/>
                  <a:gd name="T42" fmla="*/ 1063 w 1848"/>
                  <a:gd name="T43" fmla="*/ 1172 h 1848"/>
                  <a:gd name="T44" fmla="*/ 1171 w 1848"/>
                  <a:gd name="T45" fmla="*/ 1064 h 1848"/>
                  <a:gd name="T46" fmla="*/ 1257 w 1848"/>
                  <a:gd name="T47" fmla="*/ 1064 h 1848"/>
                  <a:gd name="T48" fmla="*/ 1261 w 1848"/>
                  <a:gd name="T49" fmla="*/ 1068 h 1848"/>
                  <a:gd name="T50" fmla="*/ 1401 w 1848"/>
                  <a:gd name="T51" fmla="*/ 1250 h 1848"/>
                  <a:gd name="T52" fmla="*/ 1401 w 1848"/>
                  <a:gd name="T53" fmla="*/ 1401 h 1848"/>
                  <a:gd name="T54" fmla="*/ 1250 w 1848"/>
                  <a:gd name="T55" fmla="*/ 1401 h 1848"/>
                  <a:gd name="T56" fmla="*/ 1250 w 1848"/>
                  <a:gd name="T57" fmla="*/ 1250 h 1848"/>
                  <a:gd name="T58" fmla="*/ 1401 w 1848"/>
                  <a:gd name="T59" fmla="*/ 1250 h 1848"/>
                  <a:gd name="T60" fmla="*/ 1827 w 1848"/>
                  <a:gd name="T61" fmla="*/ 1655 h 1848"/>
                  <a:gd name="T62" fmla="*/ 1823 w 1848"/>
                  <a:gd name="T63" fmla="*/ 1736 h 1848"/>
                  <a:gd name="T64" fmla="*/ 1736 w 1848"/>
                  <a:gd name="T65" fmla="*/ 1823 h 1848"/>
                  <a:gd name="T66" fmla="*/ 1654 w 1848"/>
                  <a:gd name="T67" fmla="*/ 1827 h 1848"/>
                  <a:gd name="T68" fmla="*/ 1396 w 1848"/>
                  <a:gd name="T69" fmla="*/ 1569 h 1848"/>
                  <a:gd name="T70" fmla="*/ 1400 w 1848"/>
                  <a:gd name="T71" fmla="*/ 1487 h 1848"/>
                  <a:gd name="T72" fmla="*/ 1487 w 1848"/>
                  <a:gd name="T73" fmla="*/ 1400 h 1848"/>
                  <a:gd name="T74" fmla="*/ 1568 w 1848"/>
                  <a:gd name="T75" fmla="*/ 1396 h 1848"/>
                  <a:gd name="T76" fmla="*/ 1827 w 1848"/>
                  <a:gd name="T77" fmla="*/ 1655 h 1848"/>
                  <a:gd name="T78" fmla="*/ 675 w 1848"/>
                  <a:gd name="T79" fmla="*/ 270 h 1848"/>
                  <a:gd name="T80" fmla="*/ 389 w 1848"/>
                  <a:gd name="T81" fmla="*/ 389 h 1848"/>
                  <a:gd name="T82" fmla="*/ 270 w 1848"/>
                  <a:gd name="T83" fmla="*/ 675 h 1848"/>
                  <a:gd name="T84" fmla="*/ 389 w 1848"/>
                  <a:gd name="T85" fmla="*/ 962 h 1848"/>
                  <a:gd name="T86" fmla="*/ 675 w 1848"/>
                  <a:gd name="T87" fmla="*/ 1080 h 1848"/>
                  <a:gd name="T88" fmla="*/ 961 w 1848"/>
                  <a:gd name="T89" fmla="*/ 962 h 1848"/>
                  <a:gd name="T90" fmla="*/ 961 w 1848"/>
                  <a:gd name="T91" fmla="*/ 389 h 1848"/>
                  <a:gd name="T92" fmla="*/ 675 w 1848"/>
                  <a:gd name="T93" fmla="*/ 270 h 1848"/>
                  <a:gd name="T94" fmla="*/ 675 w 1848"/>
                  <a:gd name="T95" fmla="*/ 1164 h 1848"/>
                  <a:gd name="T96" fmla="*/ 329 w 1848"/>
                  <a:gd name="T97" fmla="*/ 1021 h 1848"/>
                  <a:gd name="T98" fmla="*/ 186 w 1848"/>
                  <a:gd name="T99" fmla="*/ 675 h 1848"/>
                  <a:gd name="T100" fmla="*/ 329 w 1848"/>
                  <a:gd name="T101" fmla="*/ 330 h 1848"/>
                  <a:gd name="T102" fmla="*/ 675 w 1848"/>
                  <a:gd name="T103" fmla="*/ 187 h 1848"/>
                  <a:gd name="T104" fmla="*/ 1021 w 1848"/>
                  <a:gd name="T105" fmla="*/ 330 h 1848"/>
                  <a:gd name="T106" fmla="*/ 1021 w 1848"/>
                  <a:gd name="T107" fmla="*/ 1021 h 1848"/>
                  <a:gd name="T108" fmla="*/ 675 w 1848"/>
                  <a:gd name="T109" fmla="*/ 1164 h 1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48" h="1848">
                    <a:moveTo>
                      <a:pt x="675" y="126"/>
                    </a:moveTo>
                    <a:cubicBezTo>
                      <a:pt x="528" y="126"/>
                      <a:pt x="390" y="183"/>
                      <a:pt x="286" y="287"/>
                    </a:cubicBezTo>
                    <a:cubicBezTo>
                      <a:pt x="183" y="391"/>
                      <a:pt x="126" y="529"/>
                      <a:pt x="126" y="675"/>
                    </a:cubicBezTo>
                    <a:cubicBezTo>
                      <a:pt x="126" y="822"/>
                      <a:pt x="183" y="960"/>
                      <a:pt x="286" y="1064"/>
                    </a:cubicBezTo>
                    <a:cubicBezTo>
                      <a:pt x="390" y="1168"/>
                      <a:pt x="528" y="1225"/>
                      <a:pt x="675" y="1225"/>
                    </a:cubicBezTo>
                    <a:cubicBezTo>
                      <a:pt x="822" y="1225"/>
                      <a:pt x="960" y="1168"/>
                      <a:pt x="1063" y="1064"/>
                    </a:cubicBezTo>
                    <a:cubicBezTo>
                      <a:pt x="1278" y="850"/>
                      <a:pt x="1278" y="501"/>
                      <a:pt x="1063" y="287"/>
                    </a:cubicBezTo>
                    <a:cubicBezTo>
                      <a:pt x="960" y="183"/>
                      <a:pt x="822" y="126"/>
                      <a:pt x="675" y="126"/>
                    </a:cubicBezTo>
                    <a:close/>
                    <a:moveTo>
                      <a:pt x="675" y="1350"/>
                    </a:moveTo>
                    <a:cubicBezTo>
                      <a:pt x="495" y="1350"/>
                      <a:pt x="325" y="1280"/>
                      <a:pt x="198" y="1153"/>
                    </a:cubicBezTo>
                    <a:cubicBezTo>
                      <a:pt x="70" y="1025"/>
                      <a:pt x="0" y="856"/>
                      <a:pt x="0" y="675"/>
                    </a:cubicBezTo>
                    <a:cubicBezTo>
                      <a:pt x="0" y="495"/>
                      <a:pt x="70" y="326"/>
                      <a:pt x="198" y="198"/>
                    </a:cubicBezTo>
                    <a:cubicBezTo>
                      <a:pt x="325" y="71"/>
                      <a:pt x="495" y="0"/>
                      <a:pt x="675" y="0"/>
                    </a:cubicBezTo>
                    <a:cubicBezTo>
                      <a:pt x="855" y="0"/>
                      <a:pt x="1025" y="71"/>
                      <a:pt x="1152" y="198"/>
                    </a:cubicBezTo>
                    <a:cubicBezTo>
                      <a:pt x="1415" y="461"/>
                      <a:pt x="1415" y="889"/>
                      <a:pt x="1152" y="1153"/>
                    </a:cubicBezTo>
                    <a:cubicBezTo>
                      <a:pt x="1025" y="1280"/>
                      <a:pt x="855" y="1350"/>
                      <a:pt x="675" y="1350"/>
                    </a:cubicBezTo>
                    <a:close/>
                    <a:moveTo>
                      <a:pt x="1261" y="1068"/>
                    </a:moveTo>
                    <a:cubicBezTo>
                      <a:pt x="1284" y="1091"/>
                      <a:pt x="1284" y="1130"/>
                      <a:pt x="1261" y="1153"/>
                    </a:cubicBezTo>
                    <a:lnTo>
                      <a:pt x="1153" y="1261"/>
                    </a:lnTo>
                    <a:cubicBezTo>
                      <a:pt x="1129" y="1285"/>
                      <a:pt x="1091" y="1285"/>
                      <a:pt x="1067" y="1261"/>
                    </a:cubicBezTo>
                    <a:lnTo>
                      <a:pt x="1063" y="1257"/>
                    </a:lnTo>
                    <a:cubicBezTo>
                      <a:pt x="1040" y="1234"/>
                      <a:pt x="1040" y="1195"/>
                      <a:pt x="1063" y="1172"/>
                    </a:cubicBezTo>
                    <a:lnTo>
                      <a:pt x="1171" y="1064"/>
                    </a:lnTo>
                    <a:cubicBezTo>
                      <a:pt x="1195" y="1040"/>
                      <a:pt x="1233" y="1040"/>
                      <a:pt x="1257" y="1064"/>
                    </a:cubicBezTo>
                    <a:lnTo>
                      <a:pt x="1261" y="1068"/>
                    </a:lnTo>
                    <a:close/>
                    <a:moveTo>
                      <a:pt x="1401" y="1250"/>
                    </a:moveTo>
                    <a:cubicBezTo>
                      <a:pt x="1442" y="1292"/>
                      <a:pt x="1442" y="1359"/>
                      <a:pt x="1401" y="1401"/>
                    </a:cubicBezTo>
                    <a:cubicBezTo>
                      <a:pt x="1359" y="1443"/>
                      <a:pt x="1291" y="1443"/>
                      <a:pt x="1250" y="1401"/>
                    </a:cubicBezTo>
                    <a:cubicBezTo>
                      <a:pt x="1208" y="1359"/>
                      <a:pt x="1208" y="1292"/>
                      <a:pt x="1250" y="1250"/>
                    </a:cubicBezTo>
                    <a:cubicBezTo>
                      <a:pt x="1291" y="1208"/>
                      <a:pt x="1359" y="1208"/>
                      <a:pt x="1401" y="1250"/>
                    </a:cubicBezTo>
                    <a:close/>
                    <a:moveTo>
                      <a:pt x="1827" y="1655"/>
                    </a:moveTo>
                    <a:cubicBezTo>
                      <a:pt x="1848" y="1676"/>
                      <a:pt x="1846" y="1713"/>
                      <a:pt x="1823" y="1736"/>
                    </a:cubicBezTo>
                    <a:lnTo>
                      <a:pt x="1736" y="1823"/>
                    </a:lnTo>
                    <a:cubicBezTo>
                      <a:pt x="1713" y="1847"/>
                      <a:pt x="1676" y="1848"/>
                      <a:pt x="1654" y="1827"/>
                    </a:cubicBezTo>
                    <a:lnTo>
                      <a:pt x="1396" y="1569"/>
                    </a:lnTo>
                    <a:cubicBezTo>
                      <a:pt x="1375" y="1547"/>
                      <a:pt x="1376" y="1511"/>
                      <a:pt x="1400" y="1487"/>
                    </a:cubicBezTo>
                    <a:lnTo>
                      <a:pt x="1487" y="1400"/>
                    </a:lnTo>
                    <a:cubicBezTo>
                      <a:pt x="1510" y="1377"/>
                      <a:pt x="1547" y="1375"/>
                      <a:pt x="1568" y="1396"/>
                    </a:cubicBezTo>
                    <a:lnTo>
                      <a:pt x="1827" y="1655"/>
                    </a:lnTo>
                    <a:close/>
                    <a:moveTo>
                      <a:pt x="675" y="270"/>
                    </a:moveTo>
                    <a:cubicBezTo>
                      <a:pt x="567" y="270"/>
                      <a:pt x="465" y="312"/>
                      <a:pt x="389" y="389"/>
                    </a:cubicBezTo>
                    <a:cubicBezTo>
                      <a:pt x="312" y="465"/>
                      <a:pt x="270" y="567"/>
                      <a:pt x="270" y="675"/>
                    </a:cubicBezTo>
                    <a:cubicBezTo>
                      <a:pt x="270" y="783"/>
                      <a:pt x="312" y="885"/>
                      <a:pt x="389" y="962"/>
                    </a:cubicBezTo>
                    <a:cubicBezTo>
                      <a:pt x="465" y="1038"/>
                      <a:pt x="567" y="1080"/>
                      <a:pt x="675" y="1080"/>
                    </a:cubicBezTo>
                    <a:cubicBezTo>
                      <a:pt x="783" y="1080"/>
                      <a:pt x="885" y="1038"/>
                      <a:pt x="961" y="962"/>
                    </a:cubicBezTo>
                    <a:cubicBezTo>
                      <a:pt x="1119" y="804"/>
                      <a:pt x="1119" y="547"/>
                      <a:pt x="961" y="389"/>
                    </a:cubicBezTo>
                    <a:cubicBezTo>
                      <a:pt x="885" y="312"/>
                      <a:pt x="783" y="270"/>
                      <a:pt x="675" y="270"/>
                    </a:cubicBezTo>
                    <a:close/>
                    <a:moveTo>
                      <a:pt x="675" y="1164"/>
                    </a:moveTo>
                    <a:cubicBezTo>
                      <a:pt x="544" y="1164"/>
                      <a:pt x="422" y="1113"/>
                      <a:pt x="329" y="1021"/>
                    </a:cubicBezTo>
                    <a:cubicBezTo>
                      <a:pt x="237" y="929"/>
                      <a:pt x="186" y="806"/>
                      <a:pt x="186" y="675"/>
                    </a:cubicBezTo>
                    <a:cubicBezTo>
                      <a:pt x="186" y="545"/>
                      <a:pt x="237" y="422"/>
                      <a:pt x="329" y="330"/>
                    </a:cubicBezTo>
                    <a:cubicBezTo>
                      <a:pt x="422" y="237"/>
                      <a:pt x="544" y="187"/>
                      <a:pt x="675" y="187"/>
                    </a:cubicBezTo>
                    <a:cubicBezTo>
                      <a:pt x="806" y="187"/>
                      <a:pt x="928" y="237"/>
                      <a:pt x="1021" y="330"/>
                    </a:cubicBezTo>
                    <a:cubicBezTo>
                      <a:pt x="1211" y="520"/>
                      <a:pt x="1211" y="830"/>
                      <a:pt x="1021" y="1021"/>
                    </a:cubicBezTo>
                    <a:cubicBezTo>
                      <a:pt x="928" y="1113"/>
                      <a:pt x="806" y="1164"/>
                      <a:pt x="675" y="1164"/>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endParaRPr lang="zh-CN" altLang="en-US">
                  <a:solidFill>
                    <a:srgbClr val="2DB6B9"/>
                  </a:solidFill>
                </a:endParaRPr>
              </a:p>
            </p:txBody>
          </p:sp>
        </p:grpSp>
        <p:grpSp>
          <p:nvGrpSpPr>
            <p:cNvPr id="28" name="组合 27">
              <a:extLst>
                <a:ext uri="{FF2B5EF4-FFF2-40B4-BE49-F238E27FC236}">
                  <a16:creationId xmlns:a16="http://schemas.microsoft.com/office/drawing/2014/main" id="{3C1892C2-958D-4167-8B3D-843690E51163}"/>
                </a:ext>
              </a:extLst>
            </p:cNvPr>
            <p:cNvGrpSpPr/>
            <p:nvPr/>
          </p:nvGrpSpPr>
          <p:grpSpPr>
            <a:xfrm>
              <a:off x="10910162" y="351889"/>
              <a:ext cx="465708" cy="472063"/>
              <a:chOff x="1342896" y="2366362"/>
              <a:chExt cx="2093913" cy="2122488"/>
            </a:xfrm>
            <a:solidFill>
              <a:srgbClr val="0070C0"/>
            </a:solidFill>
          </p:grpSpPr>
          <p:sp>
            <p:nvSpPr>
              <p:cNvPr id="35" name="Freeform 6">
                <a:extLst>
                  <a:ext uri="{FF2B5EF4-FFF2-40B4-BE49-F238E27FC236}">
                    <a16:creationId xmlns:a16="http://schemas.microsoft.com/office/drawing/2014/main" id="{493C87A9-6B9A-479F-8560-B227F807EB16}"/>
                  </a:ext>
                </a:extLst>
              </p:cNvPr>
              <p:cNvSpPr>
                <a:spLocks noEditPoints="1"/>
              </p:cNvSpPr>
              <p:nvPr/>
            </p:nvSpPr>
            <p:spPr bwMode="auto">
              <a:xfrm>
                <a:off x="1342896" y="2366362"/>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prstTxWarp prst="textNoShape">
                  <a:avLst/>
                </a:prstTxWarp>
              </a:bodyPr>
              <a:lstStyle/>
              <a:p>
                <a:endParaRPr lang="zh-CN" altLang="en-US">
                  <a:solidFill>
                    <a:srgbClr val="2DB6B9"/>
                  </a:solidFill>
                </a:endParaRPr>
              </a:p>
            </p:txBody>
          </p:sp>
          <p:grpSp>
            <p:nvGrpSpPr>
              <p:cNvPr id="36" name="组合 35">
                <a:extLst>
                  <a:ext uri="{FF2B5EF4-FFF2-40B4-BE49-F238E27FC236}">
                    <a16:creationId xmlns:a16="http://schemas.microsoft.com/office/drawing/2014/main" id="{77B1CB7E-DFC2-4BB5-AEDB-B13F4F6638C2}"/>
                  </a:ext>
                </a:extLst>
              </p:cNvPr>
              <p:cNvGrpSpPr/>
              <p:nvPr/>
            </p:nvGrpSpPr>
            <p:grpSpPr>
              <a:xfrm>
                <a:off x="1767347" y="2753040"/>
                <a:ext cx="1311950" cy="1299916"/>
                <a:chOff x="4699000" y="4643438"/>
                <a:chExt cx="346075" cy="342900"/>
              </a:xfrm>
              <a:grpFill/>
            </p:grpSpPr>
            <p:sp>
              <p:nvSpPr>
                <p:cNvPr id="37" name="Freeform 20">
                  <a:extLst>
                    <a:ext uri="{FF2B5EF4-FFF2-40B4-BE49-F238E27FC236}">
                      <a16:creationId xmlns:a16="http://schemas.microsoft.com/office/drawing/2014/main" id="{0BF4DA43-C14A-495F-90AB-533CC7510904}"/>
                    </a:ext>
                  </a:extLst>
                </p:cNvPr>
                <p:cNvSpPr>
                  <a:spLocks noEditPoints="1"/>
                </p:cNvSpPr>
                <p:nvPr/>
              </p:nvSpPr>
              <p:spPr bwMode="auto">
                <a:xfrm>
                  <a:off x="4894263" y="4841875"/>
                  <a:ext cx="146050" cy="142875"/>
                </a:xfrm>
                <a:custGeom>
                  <a:avLst/>
                  <a:gdLst>
                    <a:gd name="T0" fmla="*/ 232 w 340"/>
                    <a:gd name="T1" fmla="*/ 183 h 333"/>
                    <a:gd name="T2" fmla="*/ 274 w 340"/>
                    <a:gd name="T3" fmla="*/ 224 h 333"/>
                    <a:gd name="T4" fmla="*/ 232 w 340"/>
                    <a:gd name="T5" fmla="*/ 266 h 333"/>
                    <a:gd name="T6" fmla="*/ 191 w 340"/>
                    <a:gd name="T7" fmla="*/ 224 h 333"/>
                    <a:gd name="T8" fmla="*/ 232 w 340"/>
                    <a:gd name="T9" fmla="*/ 183 h 333"/>
                    <a:gd name="T10" fmla="*/ 75 w 340"/>
                    <a:gd name="T11" fmla="*/ 3 h 333"/>
                    <a:gd name="T12" fmla="*/ 85 w 340"/>
                    <a:gd name="T13" fmla="*/ 24 h 333"/>
                    <a:gd name="T14" fmla="*/ 63 w 340"/>
                    <a:gd name="T15" fmla="*/ 46 h 333"/>
                    <a:gd name="T16" fmla="*/ 42 w 340"/>
                    <a:gd name="T17" fmla="*/ 67 h 333"/>
                    <a:gd name="T18" fmla="*/ 0 w 340"/>
                    <a:gd name="T19" fmla="*/ 94 h 333"/>
                    <a:gd name="T20" fmla="*/ 140 w 340"/>
                    <a:gd name="T21" fmla="*/ 235 h 333"/>
                    <a:gd name="T22" fmla="*/ 207 w 340"/>
                    <a:gd name="T23" fmla="*/ 324 h 333"/>
                    <a:gd name="T24" fmla="*/ 242 w 340"/>
                    <a:gd name="T25" fmla="*/ 333 h 333"/>
                    <a:gd name="T26" fmla="*/ 340 w 340"/>
                    <a:gd name="T27" fmla="*/ 235 h 333"/>
                    <a:gd name="T28" fmla="*/ 330 w 340"/>
                    <a:gd name="T29" fmla="*/ 199 h 333"/>
                    <a:gd name="T30" fmla="*/ 242 w 340"/>
                    <a:gd name="T31" fmla="*/ 133 h 333"/>
                    <a:gd name="T32" fmla="*/ 109 w 340"/>
                    <a:gd name="T33" fmla="*/ 0 h 333"/>
                    <a:gd name="T34" fmla="*/ 96 w 340"/>
                    <a:gd name="T35" fmla="*/ 13 h 333"/>
                    <a:gd name="T36" fmla="*/ 75 w 340"/>
                    <a:gd name="T37" fmla="*/ 3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0" h="333">
                      <a:moveTo>
                        <a:pt x="232" y="183"/>
                      </a:moveTo>
                      <a:cubicBezTo>
                        <a:pt x="255" y="183"/>
                        <a:pt x="274" y="201"/>
                        <a:pt x="274" y="224"/>
                      </a:cubicBezTo>
                      <a:cubicBezTo>
                        <a:pt x="274" y="247"/>
                        <a:pt x="255" y="266"/>
                        <a:pt x="232" y="266"/>
                      </a:cubicBezTo>
                      <a:cubicBezTo>
                        <a:pt x="210" y="266"/>
                        <a:pt x="191" y="247"/>
                        <a:pt x="191" y="224"/>
                      </a:cubicBezTo>
                      <a:cubicBezTo>
                        <a:pt x="191" y="201"/>
                        <a:pt x="210" y="183"/>
                        <a:pt x="232" y="183"/>
                      </a:cubicBezTo>
                      <a:close/>
                      <a:moveTo>
                        <a:pt x="75" y="3"/>
                      </a:moveTo>
                      <a:lnTo>
                        <a:pt x="85" y="24"/>
                      </a:lnTo>
                      <a:lnTo>
                        <a:pt x="63" y="46"/>
                      </a:lnTo>
                      <a:lnTo>
                        <a:pt x="42" y="67"/>
                      </a:lnTo>
                      <a:cubicBezTo>
                        <a:pt x="30" y="79"/>
                        <a:pt x="15" y="88"/>
                        <a:pt x="0" y="94"/>
                      </a:cubicBezTo>
                      <a:lnTo>
                        <a:pt x="140" y="235"/>
                      </a:lnTo>
                      <a:lnTo>
                        <a:pt x="207" y="324"/>
                      </a:lnTo>
                      <a:lnTo>
                        <a:pt x="242" y="333"/>
                      </a:lnTo>
                      <a:lnTo>
                        <a:pt x="340" y="235"/>
                      </a:lnTo>
                      <a:lnTo>
                        <a:pt x="330" y="199"/>
                      </a:lnTo>
                      <a:lnTo>
                        <a:pt x="242" y="133"/>
                      </a:lnTo>
                      <a:lnTo>
                        <a:pt x="109" y="0"/>
                      </a:lnTo>
                      <a:lnTo>
                        <a:pt x="96" y="13"/>
                      </a:lnTo>
                      <a:lnTo>
                        <a:pt x="75" y="3"/>
                      </a:ln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rgbClr val="21A3D0"/>
                    </a:solidFill>
                    <a:latin typeface="Arial"/>
                    <a:ea typeface="微软雅黑"/>
                  </a:endParaRPr>
                </a:p>
              </p:txBody>
            </p:sp>
            <p:sp>
              <p:nvSpPr>
                <p:cNvPr id="48" name="Freeform 21">
                  <a:extLst>
                    <a:ext uri="{FF2B5EF4-FFF2-40B4-BE49-F238E27FC236}">
                      <a16:creationId xmlns:a16="http://schemas.microsoft.com/office/drawing/2014/main" id="{25B9FCC4-C38F-4645-A2F8-0D56E6B9161A}"/>
                    </a:ext>
                  </a:extLst>
                </p:cNvPr>
                <p:cNvSpPr>
                  <a:spLocks/>
                </p:cNvSpPr>
                <p:nvPr/>
              </p:nvSpPr>
              <p:spPr bwMode="auto">
                <a:xfrm>
                  <a:off x="4699000" y="4643438"/>
                  <a:ext cx="153987" cy="153988"/>
                </a:xfrm>
                <a:custGeom>
                  <a:avLst/>
                  <a:gdLst>
                    <a:gd name="T0" fmla="*/ 288 w 354"/>
                    <a:gd name="T1" fmla="*/ 281 h 355"/>
                    <a:gd name="T2" fmla="*/ 311 w 354"/>
                    <a:gd name="T3" fmla="*/ 258 h 355"/>
                    <a:gd name="T4" fmla="*/ 332 w 354"/>
                    <a:gd name="T5" fmla="*/ 269 h 355"/>
                    <a:gd name="T6" fmla="*/ 321 w 354"/>
                    <a:gd name="T7" fmla="*/ 248 h 355"/>
                    <a:gd name="T8" fmla="*/ 344 w 354"/>
                    <a:gd name="T9" fmla="*/ 225 h 355"/>
                    <a:gd name="T10" fmla="*/ 346 w 354"/>
                    <a:gd name="T11" fmla="*/ 223 h 355"/>
                    <a:gd name="T12" fmla="*/ 354 w 354"/>
                    <a:gd name="T13" fmla="*/ 185 h 355"/>
                    <a:gd name="T14" fmla="*/ 170 w 354"/>
                    <a:gd name="T15" fmla="*/ 1 h 355"/>
                    <a:gd name="T16" fmla="*/ 153 w 354"/>
                    <a:gd name="T17" fmla="*/ 17 h 355"/>
                    <a:gd name="T18" fmla="*/ 222 w 354"/>
                    <a:gd name="T19" fmla="*/ 127 h 355"/>
                    <a:gd name="T20" fmla="*/ 126 w 354"/>
                    <a:gd name="T21" fmla="*/ 223 h 355"/>
                    <a:gd name="T22" fmla="*/ 16 w 354"/>
                    <a:gd name="T23" fmla="*/ 154 h 355"/>
                    <a:gd name="T24" fmla="*/ 0 w 354"/>
                    <a:gd name="T25" fmla="*/ 171 h 355"/>
                    <a:gd name="T26" fmla="*/ 184 w 354"/>
                    <a:gd name="T27" fmla="*/ 355 h 355"/>
                    <a:gd name="T28" fmla="*/ 237 w 354"/>
                    <a:gd name="T29" fmla="*/ 340 h 355"/>
                    <a:gd name="T30" fmla="*/ 240 w 354"/>
                    <a:gd name="T31" fmla="*/ 344 h 355"/>
                    <a:gd name="T32" fmla="*/ 268 w 354"/>
                    <a:gd name="T33" fmla="*/ 301 h 355"/>
                    <a:gd name="T34" fmla="*/ 288 w 354"/>
                    <a:gd name="T35" fmla="*/ 28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4" h="355">
                      <a:moveTo>
                        <a:pt x="288" y="281"/>
                      </a:moveTo>
                      <a:lnTo>
                        <a:pt x="311" y="258"/>
                      </a:lnTo>
                      <a:lnTo>
                        <a:pt x="332" y="269"/>
                      </a:lnTo>
                      <a:lnTo>
                        <a:pt x="321" y="248"/>
                      </a:lnTo>
                      <a:lnTo>
                        <a:pt x="344" y="225"/>
                      </a:lnTo>
                      <a:lnTo>
                        <a:pt x="346" y="223"/>
                      </a:lnTo>
                      <a:cubicBezTo>
                        <a:pt x="351" y="210"/>
                        <a:pt x="354" y="197"/>
                        <a:pt x="354" y="185"/>
                      </a:cubicBezTo>
                      <a:cubicBezTo>
                        <a:pt x="354" y="91"/>
                        <a:pt x="264" y="0"/>
                        <a:pt x="170" y="1"/>
                      </a:cubicBezTo>
                      <a:cubicBezTo>
                        <a:pt x="170" y="1"/>
                        <a:pt x="159" y="11"/>
                        <a:pt x="153" y="17"/>
                      </a:cubicBezTo>
                      <a:cubicBezTo>
                        <a:pt x="229" y="93"/>
                        <a:pt x="222" y="80"/>
                        <a:pt x="222" y="127"/>
                      </a:cubicBezTo>
                      <a:cubicBezTo>
                        <a:pt x="222" y="164"/>
                        <a:pt x="162" y="223"/>
                        <a:pt x="126" y="223"/>
                      </a:cubicBezTo>
                      <a:cubicBezTo>
                        <a:pt x="78" y="223"/>
                        <a:pt x="93" y="231"/>
                        <a:pt x="16" y="154"/>
                      </a:cubicBezTo>
                      <a:cubicBezTo>
                        <a:pt x="10" y="160"/>
                        <a:pt x="0" y="171"/>
                        <a:pt x="0" y="171"/>
                      </a:cubicBezTo>
                      <a:cubicBezTo>
                        <a:pt x="1" y="265"/>
                        <a:pt x="90" y="355"/>
                        <a:pt x="184" y="355"/>
                      </a:cubicBezTo>
                      <a:cubicBezTo>
                        <a:pt x="201" y="355"/>
                        <a:pt x="219" y="349"/>
                        <a:pt x="237" y="340"/>
                      </a:cubicBezTo>
                      <a:lnTo>
                        <a:pt x="240" y="344"/>
                      </a:lnTo>
                      <a:cubicBezTo>
                        <a:pt x="246" y="328"/>
                        <a:pt x="255" y="314"/>
                        <a:pt x="268" y="301"/>
                      </a:cubicBezTo>
                      <a:lnTo>
                        <a:pt x="288" y="281"/>
                      </a:ln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rgbClr val="21A3D0"/>
                    </a:solidFill>
                    <a:latin typeface="Arial"/>
                    <a:ea typeface="微软雅黑"/>
                  </a:endParaRPr>
                </a:p>
              </p:txBody>
            </p:sp>
            <p:sp>
              <p:nvSpPr>
                <p:cNvPr id="49" name="Freeform 22">
                  <a:extLst>
                    <a:ext uri="{FF2B5EF4-FFF2-40B4-BE49-F238E27FC236}">
                      <a16:creationId xmlns:a16="http://schemas.microsoft.com/office/drawing/2014/main" id="{1522E2C4-269B-4FB5-B69E-8B2D3BC1F4B5}"/>
                    </a:ext>
                  </a:extLst>
                </p:cNvPr>
                <p:cNvSpPr>
                  <a:spLocks/>
                </p:cNvSpPr>
                <p:nvPr/>
              </p:nvSpPr>
              <p:spPr bwMode="auto">
                <a:xfrm>
                  <a:off x="4699000" y="4643438"/>
                  <a:ext cx="346075" cy="342900"/>
                </a:xfrm>
                <a:custGeom>
                  <a:avLst/>
                  <a:gdLst>
                    <a:gd name="T0" fmla="*/ 771 w 800"/>
                    <a:gd name="T1" fmla="*/ 76 h 791"/>
                    <a:gd name="T2" fmla="*/ 716 w 800"/>
                    <a:gd name="T3" fmla="*/ 22 h 791"/>
                    <a:gd name="T4" fmla="*/ 663 w 800"/>
                    <a:gd name="T5" fmla="*/ 0 h 791"/>
                    <a:gd name="T6" fmla="*/ 610 w 800"/>
                    <a:gd name="T7" fmla="*/ 22 h 791"/>
                    <a:gd name="T8" fmla="*/ 376 w 800"/>
                    <a:gd name="T9" fmla="*/ 256 h 791"/>
                    <a:gd name="T10" fmla="*/ 366 w 800"/>
                    <a:gd name="T11" fmla="*/ 302 h 791"/>
                    <a:gd name="T12" fmla="*/ 335 w 800"/>
                    <a:gd name="T13" fmla="*/ 315 h 791"/>
                    <a:gd name="T14" fmla="*/ 320 w 800"/>
                    <a:gd name="T15" fmla="*/ 312 h 791"/>
                    <a:gd name="T16" fmla="*/ 300 w 800"/>
                    <a:gd name="T17" fmla="*/ 332 h 791"/>
                    <a:gd name="T18" fmla="*/ 300 w 800"/>
                    <a:gd name="T19" fmla="*/ 438 h 791"/>
                    <a:gd name="T20" fmla="*/ 303 w 800"/>
                    <a:gd name="T21" fmla="*/ 442 h 791"/>
                    <a:gd name="T22" fmla="*/ 120 w 800"/>
                    <a:gd name="T23" fmla="*/ 625 h 791"/>
                    <a:gd name="T24" fmla="*/ 72 w 800"/>
                    <a:gd name="T25" fmla="*/ 643 h 791"/>
                    <a:gd name="T26" fmla="*/ 0 w 800"/>
                    <a:gd name="T27" fmla="*/ 745 h 791"/>
                    <a:gd name="T28" fmla="*/ 46 w 800"/>
                    <a:gd name="T29" fmla="*/ 791 h 791"/>
                    <a:gd name="T30" fmla="*/ 148 w 800"/>
                    <a:gd name="T31" fmla="*/ 720 h 791"/>
                    <a:gd name="T32" fmla="*/ 166 w 800"/>
                    <a:gd name="T33" fmla="*/ 670 h 791"/>
                    <a:gd name="T34" fmla="*/ 349 w 800"/>
                    <a:gd name="T35" fmla="*/ 487 h 791"/>
                    <a:gd name="T36" fmla="*/ 355 w 800"/>
                    <a:gd name="T37" fmla="*/ 493 h 791"/>
                    <a:gd name="T38" fmla="*/ 407 w 800"/>
                    <a:gd name="T39" fmla="*/ 515 h 791"/>
                    <a:gd name="T40" fmla="*/ 460 w 800"/>
                    <a:gd name="T41" fmla="*/ 493 h 791"/>
                    <a:gd name="T42" fmla="*/ 481 w 800"/>
                    <a:gd name="T43" fmla="*/ 472 h 791"/>
                    <a:gd name="T44" fmla="*/ 490 w 800"/>
                    <a:gd name="T45" fmla="*/ 426 h 791"/>
                    <a:gd name="T46" fmla="*/ 522 w 800"/>
                    <a:gd name="T47" fmla="*/ 414 h 791"/>
                    <a:gd name="T48" fmla="*/ 536 w 800"/>
                    <a:gd name="T49" fmla="*/ 417 h 791"/>
                    <a:gd name="T50" fmla="*/ 771 w 800"/>
                    <a:gd name="T51" fmla="*/ 182 h 791"/>
                    <a:gd name="T52" fmla="*/ 771 w 800"/>
                    <a:gd name="T53" fmla="*/ 76 h 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00" h="791">
                      <a:moveTo>
                        <a:pt x="771" y="76"/>
                      </a:moveTo>
                      <a:lnTo>
                        <a:pt x="716" y="22"/>
                      </a:lnTo>
                      <a:cubicBezTo>
                        <a:pt x="701" y="7"/>
                        <a:pt x="682" y="0"/>
                        <a:pt x="663" y="0"/>
                      </a:cubicBezTo>
                      <a:cubicBezTo>
                        <a:pt x="644" y="0"/>
                        <a:pt x="625" y="7"/>
                        <a:pt x="610" y="22"/>
                      </a:cubicBezTo>
                      <a:lnTo>
                        <a:pt x="376" y="256"/>
                      </a:lnTo>
                      <a:cubicBezTo>
                        <a:pt x="383" y="270"/>
                        <a:pt x="378" y="291"/>
                        <a:pt x="366" y="302"/>
                      </a:cubicBezTo>
                      <a:cubicBezTo>
                        <a:pt x="359" y="310"/>
                        <a:pt x="346" y="315"/>
                        <a:pt x="335" y="315"/>
                      </a:cubicBezTo>
                      <a:cubicBezTo>
                        <a:pt x="330" y="315"/>
                        <a:pt x="325" y="314"/>
                        <a:pt x="320" y="312"/>
                      </a:cubicBezTo>
                      <a:lnTo>
                        <a:pt x="300" y="332"/>
                      </a:lnTo>
                      <a:cubicBezTo>
                        <a:pt x="271" y="361"/>
                        <a:pt x="271" y="409"/>
                        <a:pt x="300" y="438"/>
                      </a:cubicBezTo>
                      <a:lnTo>
                        <a:pt x="303" y="442"/>
                      </a:lnTo>
                      <a:lnTo>
                        <a:pt x="120" y="625"/>
                      </a:lnTo>
                      <a:lnTo>
                        <a:pt x="72" y="643"/>
                      </a:lnTo>
                      <a:lnTo>
                        <a:pt x="0" y="745"/>
                      </a:lnTo>
                      <a:lnTo>
                        <a:pt x="46" y="791"/>
                      </a:lnTo>
                      <a:lnTo>
                        <a:pt x="148" y="720"/>
                      </a:lnTo>
                      <a:lnTo>
                        <a:pt x="166" y="670"/>
                      </a:lnTo>
                      <a:lnTo>
                        <a:pt x="349" y="487"/>
                      </a:lnTo>
                      <a:lnTo>
                        <a:pt x="355" y="493"/>
                      </a:lnTo>
                      <a:cubicBezTo>
                        <a:pt x="369" y="507"/>
                        <a:pt x="388" y="515"/>
                        <a:pt x="407" y="515"/>
                      </a:cubicBezTo>
                      <a:cubicBezTo>
                        <a:pt x="426" y="515"/>
                        <a:pt x="446" y="507"/>
                        <a:pt x="460" y="493"/>
                      </a:cubicBezTo>
                      <a:lnTo>
                        <a:pt x="481" y="472"/>
                      </a:lnTo>
                      <a:cubicBezTo>
                        <a:pt x="474" y="458"/>
                        <a:pt x="479" y="437"/>
                        <a:pt x="490" y="426"/>
                      </a:cubicBezTo>
                      <a:cubicBezTo>
                        <a:pt x="498" y="419"/>
                        <a:pt x="510" y="414"/>
                        <a:pt x="522" y="414"/>
                      </a:cubicBezTo>
                      <a:cubicBezTo>
                        <a:pt x="527" y="414"/>
                        <a:pt x="532" y="415"/>
                        <a:pt x="536" y="417"/>
                      </a:cubicBezTo>
                      <a:lnTo>
                        <a:pt x="771" y="182"/>
                      </a:lnTo>
                      <a:cubicBezTo>
                        <a:pt x="800" y="153"/>
                        <a:pt x="800" y="106"/>
                        <a:pt x="771" y="76"/>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solidFill>
                      <a:srgbClr val="21A3D0"/>
                    </a:solidFill>
                    <a:latin typeface="Arial"/>
                    <a:ea typeface="微软雅黑"/>
                  </a:endParaRPr>
                </a:p>
              </p:txBody>
            </p:sp>
          </p:grpSp>
        </p:grpSp>
        <p:grpSp>
          <p:nvGrpSpPr>
            <p:cNvPr id="29" name="组合 28">
              <a:extLst>
                <a:ext uri="{FF2B5EF4-FFF2-40B4-BE49-F238E27FC236}">
                  <a16:creationId xmlns:a16="http://schemas.microsoft.com/office/drawing/2014/main" id="{412FBAF9-34D1-4B2B-AC14-67A5660263A4}"/>
                </a:ext>
              </a:extLst>
            </p:cNvPr>
            <p:cNvGrpSpPr/>
            <p:nvPr/>
          </p:nvGrpSpPr>
          <p:grpSpPr>
            <a:xfrm>
              <a:off x="11501159" y="351889"/>
              <a:ext cx="465708" cy="472063"/>
              <a:chOff x="4910385" y="-2248866"/>
              <a:chExt cx="2093913" cy="2122488"/>
            </a:xfrm>
            <a:solidFill>
              <a:srgbClr val="0070C0"/>
            </a:solidFill>
          </p:grpSpPr>
          <p:sp>
            <p:nvSpPr>
              <p:cNvPr id="30" name="Freeform 6">
                <a:extLst>
                  <a:ext uri="{FF2B5EF4-FFF2-40B4-BE49-F238E27FC236}">
                    <a16:creationId xmlns:a16="http://schemas.microsoft.com/office/drawing/2014/main" id="{A2F3C026-7BBF-4269-B2CE-9B5002AF29F2}"/>
                  </a:ext>
                </a:extLst>
              </p:cNvPr>
              <p:cNvSpPr>
                <a:spLocks noEditPoints="1"/>
              </p:cNvSpPr>
              <p:nvPr/>
            </p:nvSpPr>
            <p:spPr bwMode="auto">
              <a:xfrm>
                <a:off x="4910385" y="-2248866"/>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prstTxWarp prst="textNoShape">
                  <a:avLst/>
                </a:prstTxWarp>
              </a:bodyPr>
              <a:lstStyle/>
              <a:p>
                <a:endParaRPr lang="zh-CN" altLang="en-US">
                  <a:solidFill>
                    <a:srgbClr val="2DB6B9"/>
                  </a:solidFill>
                </a:endParaRPr>
              </a:p>
            </p:txBody>
          </p:sp>
          <p:sp>
            <p:nvSpPr>
              <p:cNvPr id="34" name="Freeform 5">
                <a:extLst>
                  <a:ext uri="{FF2B5EF4-FFF2-40B4-BE49-F238E27FC236}">
                    <a16:creationId xmlns:a16="http://schemas.microsoft.com/office/drawing/2014/main" id="{411EEBD1-0F08-42FF-9A0A-6FC95FAC5033}"/>
                  </a:ext>
                </a:extLst>
              </p:cNvPr>
              <p:cNvSpPr>
                <a:spLocks noEditPoints="1"/>
              </p:cNvSpPr>
              <p:nvPr/>
            </p:nvSpPr>
            <p:spPr bwMode="auto">
              <a:xfrm>
                <a:off x="5341463" y="-1826020"/>
                <a:ext cx="1381847" cy="1227579"/>
              </a:xfrm>
              <a:custGeom>
                <a:avLst/>
                <a:gdLst>
                  <a:gd name="T0" fmla="*/ 746 w 1802"/>
                  <a:gd name="T1" fmla="*/ 524 h 1618"/>
                  <a:gd name="T2" fmla="*/ 223 w 1802"/>
                  <a:gd name="T3" fmla="*/ 599 h 1618"/>
                  <a:gd name="T4" fmla="*/ 223 w 1802"/>
                  <a:gd name="T5" fmla="*/ 383 h 1618"/>
                  <a:gd name="T6" fmla="*/ 1059 w 1802"/>
                  <a:gd name="T7" fmla="*/ 458 h 1618"/>
                  <a:gd name="T8" fmla="*/ 223 w 1802"/>
                  <a:gd name="T9" fmla="*/ 383 h 1618"/>
                  <a:gd name="T10" fmla="*/ 1059 w 1802"/>
                  <a:gd name="T11" fmla="*/ 241 h 1618"/>
                  <a:gd name="T12" fmla="*/ 223 w 1802"/>
                  <a:gd name="T13" fmla="*/ 317 h 1618"/>
                  <a:gd name="T14" fmla="*/ 0 w 1802"/>
                  <a:gd name="T15" fmla="*/ 1182 h 1618"/>
                  <a:gd name="T16" fmla="*/ 202 w 1802"/>
                  <a:gd name="T17" fmla="*/ 1455 h 1618"/>
                  <a:gd name="T18" fmla="*/ 1283 w 1802"/>
                  <a:gd name="T19" fmla="*/ 1548 h 1618"/>
                  <a:gd name="T20" fmla="*/ 1198 w 1802"/>
                  <a:gd name="T21" fmla="*/ 1219 h 1618"/>
                  <a:gd name="T22" fmla="*/ 382 w 1802"/>
                  <a:gd name="T23" fmla="*/ 1228 h 1618"/>
                  <a:gd name="T24" fmla="*/ 298 w 1802"/>
                  <a:gd name="T25" fmla="*/ 1320 h 1618"/>
                  <a:gd name="T26" fmla="*/ 84 w 1802"/>
                  <a:gd name="T27" fmla="*/ 1164 h 1618"/>
                  <a:gd name="T28" fmla="*/ 1198 w 1802"/>
                  <a:gd name="T29" fmla="*/ 85 h 1618"/>
                  <a:gd name="T30" fmla="*/ 1283 w 1802"/>
                  <a:gd name="T31" fmla="*/ 840 h 1618"/>
                  <a:gd name="T32" fmla="*/ 0 w 1802"/>
                  <a:gd name="T33" fmla="*/ 0 h 1618"/>
                  <a:gd name="T34" fmla="*/ 302 w 1802"/>
                  <a:gd name="T35" fmla="*/ 1398 h 1618"/>
                  <a:gd name="T36" fmla="*/ 972 w 1802"/>
                  <a:gd name="T37" fmla="*/ 1492 h 1618"/>
                  <a:gd name="T38" fmla="*/ 302 w 1802"/>
                  <a:gd name="T39" fmla="*/ 1398 h 1618"/>
                  <a:gd name="T40" fmla="*/ 1442 w 1802"/>
                  <a:gd name="T41" fmla="*/ 1062 h 1618"/>
                  <a:gd name="T42" fmla="*/ 993 w 1802"/>
                  <a:gd name="T43" fmla="*/ 851 h 1618"/>
                  <a:gd name="T44" fmla="*/ 1783 w 1802"/>
                  <a:gd name="T45" fmla="*/ 1547 h 1618"/>
                  <a:gd name="T46" fmla="*/ 1604 w 1802"/>
                  <a:gd name="T47" fmla="*/ 1057 h 1618"/>
                  <a:gd name="T48" fmla="*/ 1387 w 1802"/>
                  <a:gd name="T49" fmla="*/ 940 h 1618"/>
                  <a:gd name="T50" fmla="*/ 1393 w 1802"/>
                  <a:gd name="T51" fmla="*/ 863 h 1618"/>
                  <a:gd name="T52" fmla="*/ 1333 w 1802"/>
                  <a:gd name="T53" fmla="*/ 914 h 1618"/>
                  <a:gd name="T54" fmla="*/ 1360 w 1802"/>
                  <a:gd name="T55" fmla="*/ 951 h 1618"/>
                  <a:gd name="T56" fmla="*/ 1549 w 1802"/>
                  <a:gd name="T57" fmla="*/ 1082 h 1618"/>
                  <a:gd name="T58" fmla="*/ 1681 w 1802"/>
                  <a:gd name="T59" fmla="*/ 1321 h 1618"/>
                  <a:gd name="T60" fmla="*/ 1572 w 1802"/>
                  <a:gd name="T61" fmla="*/ 1171 h 1618"/>
                  <a:gd name="T62" fmla="*/ 1270 w 1802"/>
                  <a:gd name="T63" fmla="*/ 1253 h 1618"/>
                  <a:gd name="T64" fmla="*/ 1696 w 1802"/>
                  <a:gd name="T65" fmla="*/ 1610 h 1618"/>
                  <a:gd name="T66" fmla="*/ 1069 w 1802"/>
                  <a:gd name="T67" fmla="*/ 618 h 1618"/>
                  <a:gd name="T68" fmla="*/ 823 w 1802"/>
                  <a:gd name="T69" fmla="*/ 496 h 1618"/>
                  <a:gd name="T70" fmla="*/ 1007 w 1802"/>
                  <a:gd name="T71" fmla="*/ 661 h 1618"/>
                  <a:gd name="T72" fmla="*/ 941 w 1802"/>
                  <a:gd name="T73" fmla="*/ 716 h 1618"/>
                  <a:gd name="T74" fmla="*/ 810 w 1802"/>
                  <a:gd name="T75" fmla="*/ 507 h 1618"/>
                  <a:gd name="T76" fmla="*/ 889 w 1802"/>
                  <a:gd name="T77" fmla="*/ 770 h 1618"/>
                  <a:gd name="T78" fmla="*/ 1111 w 1802"/>
                  <a:gd name="T79" fmla="*/ 712 h 1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02" h="1618">
                    <a:moveTo>
                      <a:pt x="223" y="524"/>
                    </a:moveTo>
                    <a:lnTo>
                      <a:pt x="746" y="524"/>
                    </a:lnTo>
                    <a:lnTo>
                      <a:pt x="746" y="599"/>
                    </a:lnTo>
                    <a:lnTo>
                      <a:pt x="223" y="599"/>
                    </a:lnTo>
                    <a:lnTo>
                      <a:pt x="223" y="524"/>
                    </a:lnTo>
                    <a:close/>
                    <a:moveTo>
                      <a:pt x="223" y="383"/>
                    </a:moveTo>
                    <a:lnTo>
                      <a:pt x="1059" y="383"/>
                    </a:lnTo>
                    <a:lnTo>
                      <a:pt x="1059" y="458"/>
                    </a:lnTo>
                    <a:lnTo>
                      <a:pt x="223" y="458"/>
                    </a:lnTo>
                    <a:lnTo>
                      <a:pt x="223" y="383"/>
                    </a:lnTo>
                    <a:close/>
                    <a:moveTo>
                      <a:pt x="223" y="241"/>
                    </a:moveTo>
                    <a:lnTo>
                      <a:pt x="1059" y="241"/>
                    </a:lnTo>
                    <a:lnTo>
                      <a:pt x="1059" y="317"/>
                    </a:lnTo>
                    <a:lnTo>
                      <a:pt x="223" y="317"/>
                    </a:lnTo>
                    <a:lnTo>
                      <a:pt x="223" y="241"/>
                    </a:lnTo>
                    <a:close/>
                    <a:moveTo>
                      <a:pt x="0" y="1182"/>
                    </a:moveTo>
                    <a:cubicBezTo>
                      <a:pt x="0" y="1254"/>
                      <a:pt x="9" y="1311"/>
                      <a:pt x="54" y="1369"/>
                    </a:cubicBezTo>
                    <a:cubicBezTo>
                      <a:pt x="92" y="1419"/>
                      <a:pt x="140" y="1446"/>
                      <a:pt x="202" y="1455"/>
                    </a:cubicBezTo>
                    <a:lnTo>
                      <a:pt x="1206" y="1612"/>
                    </a:lnTo>
                    <a:cubicBezTo>
                      <a:pt x="1248" y="1618"/>
                      <a:pt x="1283" y="1590"/>
                      <a:pt x="1283" y="1548"/>
                    </a:cubicBezTo>
                    <a:lnTo>
                      <a:pt x="1283" y="1335"/>
                    </a:lnTo>
                    <a:cubicBezTo>
                      <a:pt x="1254" y="1299"/>
                      <a:pt x="1226" y="1259"/>
                      <a:pt x="1198" y="1219"/>
                    </a:cubicBezTo>
                    <a:lnTo>
                      <a:pt x="1198" y="1490"/>
                    </a:lnTo>
                    <a:lnTo>
                      <a:pt x="382" y="1228"/>
                    </a:lnTo>
                    <a:cubicBezTo>
                      <a:pt x="372" y="1225"/>
                      <a:pt x="361" y="1229"/>
                      <a:pt x="356" y="1239"/>
                    </a:cubicBezTo>
                    <a:cubicBezTo>
                      <a:pt x="339" y="1273"/>
                      <a:pt x="319" y="1304"/>
                      <a:pt x="298" y="1320"/>
                    </a:cubicBezTo>
                    <a:cubicBezTo>
                      <a:pt x="239" y="1366"/>
                      <a:pt x="166" y="1357"/>
                      <a:pt x="121" y="1299"/>
                    </a:cubicBezTo>
                    <a:cubicBezTo>
                      <a:pt x="88" y="1256"/>
                      <a:pt x="84" y="1215"/>
                      <a:pt x="84" y="1164"/>
                    </a:cubicBezTo>
                    <a:lnTo>
                      <a:pt x="84" y="85"/>
                    </a:lnTo>
                    <a:lnTo>
                      <a:pt x="1198" y="85"/>
                    </a:lnTo>
                    <a:lnTo>
                      <a:pt x="1198" y="751"/>
                    </a:lnTo>
                    <a:lnTo>
                      <a:pt x="1283" y="840"/>
                    </a:lnTo>
                    <a:lnTo>
                      <a:pt x="1283" y="0"/>
                    </a:lnTo>
                    <a:lnTo>
                      <a:pt x="0" y="0"/>
                    </a:lnTo>
                    <a:lnTo>
                      <a:pt x="0" y="1182"/>
                    </a:lnTo>
                    <a:close/>
                    <a:moveTo>
                      <a:pt x="302" y="1398"/>
                    </a:moveTo>
                    <a:lnTo>
                      <a:pt x="970" y="1503"/>
                    </a:lnTo>
                    <a:cubicBezTo>
                      <a:pt x="977" y="1504"/>
                      <a:pt x="980" y="1494"/>
                      <a:pt x="972" y="1492"/>
                    </a:cubicBezTo>
                    <a:lnTo>
                      <a:pt x="390" y="1305"/>
                    </a:lnTo>
                    <a:cubicBezTo>
                      <a:pt x="364" y="1349"/>
                      <a:pt x="344" y="1371"/>
                      <a:pt x="302" y="1398"/>
                    </a:cubicBezTo>
                    <a:close/>
                    <a:moveTo>
                      <a:pt x="1131" y="735"/>
                    </a:moveTo>
                    <a:lnTo>
                      <a:pt x="1442" y="1062"/>
                    </a:lnTo>
                    <a:lnTo>
                      <a:pt x="1264" y="1213"/>
                    </a:lnTo>
                    <a:lnTo>
                      <a:pt x="993" y="851"/>
                    </a:lnTo>
                    <a:lnTo>
                      <a:pt x="1131" y="735"/>
                    </a:lnTo>
                    <a:close/>
                    <a:moveTo>
                      <a:pt x="1783" y="1547"/>
                    </a:moveTo>
                    <a:cubicBezTo>
                      <a:pt x="1788" y="1530"/>
                      <a:pt x="1791" y="1511"/>
                      <a:pt x="1793" y="1489"/>
                    </a:cubicBezTo>
                    <a:cubicBezTo>
                      <a:pt x="1802" y="1343"/>
                      <a:pt x="1781" y="1146"/>
                      <a:pt x="1604" y="1057"/>
                    </a:cubicBezTo>
                    <a:cubicBezTo>
                      <a:pt x="1550" y="1030"/>
                      <a:pt x="1446" y="989"/>
                      <a:pt x="1408" y="959"/>
                    </a:cubicBezTo>
                    <a:cubicBezTo>
                      <a:pt x="1399" y="952"/>
                      <a:pt x="1392" y="946"/>
                      <a:pt x="1387" y="940"/>
                    </a:cubicBezTo>
                    <a:cubicBezTo>
                      <a:pt x="1392" y="939"/>
                      <a:pt x="1397" y="937"/>
                      <a:pt x="1401" y="933"/>
                    </a:cubicBezTo>
                    <a:cubicBezTo>
                      <a:pt x="1418" y="919"/>
                      <a:pt x="1414" y="888"/>
                      <a:pt x="1393" y="863"/>
                    </a:cubicBezTo>
                    <a:cubicBezTo>
                      <a:pt x="1373" y="838"/>
                      <a:pt x="1342" y="830"/>
                      <a:pt x="1325" y="844"/>
                    </a:cubicBezTo>
                    <a:cubicBezTo>
                      <a:pt x="1309" y="858"/>
                      <a:pt x="1312" y="890"/>
                      <a:pt x="1333" y="914"/>
                    </a:cubicBezTo>
                    <a:cubicBezTo>
                      <a:pt x="1338" y="920"/>
                      <a:pt x="1343" y="925"/>
                      <a:pt x="1349" y="929"/>
                    </a:cubicBezTo>
                    <a:cubicBezTo>
                      <a:pt x="1351" y="937"/>
                      <a:pt x="1355" y="944"/>
                      <a:pt x="1360" y="951"/>
                    </a:cubicBezTo>
                    <a:cubicBezTo>
                      <a:pt x="1367" y="963"/>
                      <a:pt x="1379" y="975"/>
                      <a:pt x="1394" y="986"/>
                    </a:cubicBezTo>
                    <a:cubicBezTo>
                      <a:pt x="1436" y="1019"/>
                      <a:pt x="1494" y="1051"/>
                      <a:pt x="1549" y="1082"/>
                    </a:cubicBezTo>
                    <a:cubicBezTo>
                      <a:pt x="1666" y="1148"/>
                      <a:pt x="1695" y="1231"/>
                      <a:pt x="1700" y="1321"/>
                    </a:cubicBezTo>
                    <a:cubicBezTo>
                      <a:pt x="1701" y="1334"/>
                      <a:pt x="1694" y="1341"/>
                      <a:pt x="1681" y="1321"/>
                    </a:cubicBezTo>
                    <a:cubicBezTo>
                      <a:pt x="1677" y="1316"/>
                      <a:pt x="1673" y="1310"/>
                      <a:pt x="1670" y="1305"/>
                    </a:cubicBezTo>
                    <a:cubicBezTo>
                      <a:pt x="1643" y="1261"/>
                      <a:pt x="1610" y="1216"/>
                      <a:pt x="1572" y="1171"/>
                    </a:cubicBezTo>
                    <a:cubicBezTo>
                      <a:pt x="1542" y="1136"/>
                      <a:pt x="1512" y="1104"/>
                      <a:pt x="1481" y="1075"/>
                    </a:cubicBezTo>
                    <a:lnTo>
                      <a:pt x="1270" y="1253"/>
                    </a:lnTo>
                    <a:cubicBezTo>
                      <a:pt x="1293" y="1288"/>
                      <a:pt x="1320" y="1324"/>
                      <a:pt x="1350" y="1359"/>
                    </a:cubicBezTo>
                    <a:cubicBezTo>
                      <a:pt x="1476" y="1508"/>
                      <a:pt x="1615" y="1606"/>
                      <a:pt x="1696" y="1610"/>
                    </a:cubicBezTo>
                    <a:cubicBezTo>
                      <a:pt x="1739" y="1613"/>
                      <a:pt x="1770" y="1585"/>
                      <a:pt x="1783" y="1547"/>
                    </a:cubicBezTo>
                    <a:close/>
                    <a:moveTo>
                      <a:pt x="1069" y="618"/>
                    </a:moveTo>
                    <a:lnTo>
                      <a:pt x="835" y="486"/>
                    </a:lnTo>
                    <a:lnTo>
                      <a:pt x="823" y="496"/>
                    </a:lnTo>
                    <a:lnTo>
                      <a:pt x="953" y="651"/>
                    </a:lnTo>
                    <a:cubicBezTo>
                      <a:pt x="971" y="641"/>
                      <a:pt x="993" y="645"/>
                      <a:pt x="1007" y="661"/>
                    </a:cubicBezTo>
                    <a:cubicBezTo>
                      <a:pt x="1022" y="679"/>
                      <a:pt x="1020" y="706"/>
                      <a:pt x="1002" y="722"/>
                    </a:cubicBezTo>
                    <a:cubicBezTo>
                      <a:pt x="984" y="737"/>
                      <a:pt x="957" y="734"/>
                      <a:pt x="941" y="716"/>
                    </a:cubicBezTo>
                    <a:cubicBezTo>
                      <a:pt x="928" y="700"/>
                      <a:pt x="928" y="677"/>
                      <a:pt x="940" y="662"/>
                    </a:cubicBezTo>
                    <a:lnTo>
                      <a:pt x="810" y="507"/>
                    </a:lnTo>
                    <a:lnTo>
                      <a:pt x="797" y="518"/>
                    </a:lnTo>
                    <a:lnTo>
                      <a:pt x="889" y="770"/>
                    </a:lnTo>
                    <a:lnTo>
                      <a:pt x="974" y="828"/>
                    </a:lnTo>
                    <a:lnTo>
                      <a:pt x="1111" y="712"/>
                    </a:lnTo>
                    <a:lnTo>
                      <a:pt x="1069" y="618"/>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endParaRPr lang="zh-CN" altLang="en-US">
                  <a:solidFill>
                    <a:srgbClr val="21A3D0"/>
                  </a:solidFill>
                </a:endParaRPr>
              </a:p>
            </p:txBody>
          </p:sp>
        </p:grpSp>
      </p:grpSp>
      <p:grpSp>
        <p:nvGrpSpPr>
          <p:cNvPr id="38" name="组合 37">
            <a:extLst>
              <a:ext uri="{FF2B5EF4-FFF2-40B4-BE49-F238E27FC236}">
                <a16:creationId xmlns:a16="http://schemas.microsoft.com/office/drawing/2014/main" id="{02A3D069-E9A5-4754-93CF-C39FC6B7651C}"/>
              </a:ext>
            </a:extLst>
          </p:cNvPr>
          <p:cNvGrpSpPr/>
          <p:nvPr/>
        </p:nvGrpSpPr>
        <p:grpSpPr>
          <a:xfrm>
            <a:off x="1282181" y="1450323"/>
            <a:ext cx="5566899" cy="3324402"/>
            <a:chOff x="4491921" y="2222630"/>
            <a:chExt cx="7863291" cy="4425765"/>
          </a:xfrm>
        </p:grpSpPr>
        <p:sp>
          <p:nvSpPr>
            <p:cNvPr id="39" name="Line 5">
              <a:extLst>
                <a:ext uri="{FF2B5EF4-FFF2-40B4-BE49-F238E27FC236}">
                  <a16:creationId xmlns:a16="http://schemas.microsoft.com/office/drawing/2014/main" id="{4130D976-FF5C-4715-8D84-78FCDE2F03F2}"/>
                </a:ext>
              </a:extLst>
            </p:cNvPr>
            <p:cNvSpPr>
              <a:spLocks noChangeShapeType="1"/>
            </p:cNvSpPr>
            <p:nvPr/>
          </p:nvSpPr>
          <p:spPr bwMode="auto">
            <a:xfrm flipH="1">
              <a:off x="4607806" y="2539682"/>
              <a:ext cx="14460" cy="4108713"/>
            </a:xfrm>
            <a:prstGeom prst="line">
              <a:avLst/>
            </a:prstGeom>
            <a:noFill/>
            <a:ln w="28575">
              <a:solidFill>
                <a:srgbClr val="17406D"/>
              </a:solidFill>
              <a:round/>
              <a:headEnd/>
              <a:tailEnd type="arrow"/>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 typeface="Arial" pitchFamily="34" charset="0"/>
                <a:buNone/>
                <a:tabLst/>
                <a:defRPr/>
              </a:pPr>
              <a:endParaRPr kumimoji="0" lang="zh-CN" altLang="en-US" sz="1800" b="0" i="0" u="none" strike="noStrike" kern="0" cap="none" spc="0" normalizeH="0" baseline="0" noProof="0">
                <a:ln>
                  <a:noFill/>
                </a:ln>
                <a:solidFill>
                  <a:srgbClr val="024C89"/>
                </a:solidFill>
                <a:effectLst/>
                <a:uLnTx/>
                <a:uFillTx/>
                <a:latin typeface="Times New Roman" panose="02020603050405020304" pitchFamily="18" charset="0"/>
                <a:cs typeface="Times New Roman" panose="02020603050405020304" pitchFamily="18" charset="0"/>
              </a:endParaRPr>
            </a:p>
          </p:txBody>
        </p:sp>
        <p:sp>
          <p:nvSpPr>
            <p:cNvPr id="41" name="Oval 7">
              <a:extLst>
                <a:ext uri="{FF2B5EF4-FFF2-40B4-BE49-F238E27FC236}">
                  <a16:creationId xmlns:a16="http://schemas.microsoft.com/office/drawing/2014/main" id="{27E08F75-9B23-4854-99CA-9B03D72C49AE}"/>
                </a:ext>
              </a:extLst>
            </p:cNvPr>
            <p:cNvSpPr>
              <a:spLocks noChangeArrowheads="1"/>
            </p:cNvSpPr>
            <p:nvPr/>
          </p:nvSpPr>
          <p:spPr bwMode="auto">
            <a:xfrm>
              <a:off x="4491921" y="2330133"/>
              <a:ext cx="220663" cy="209550"/>
            </a:xfrm>
            <a:prstGeom prst="ellipse">
              <a:avLst/>
            </a:prstGeom>
            <a:solidFill>
              <a:sysClr val="window" lastClr="FFFFFF"/>
            </a:solidFill>
            <a:ln w="7">
              <a:solidFill>
                <a:srgbClr val="0F6FC6"/>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 typeface="Arial" pitchFamily="34" charset="0"/>
                <a:buNone/>
                <a:tabLst/>
                <a:defRPr/>
              </a:pPr>
              <a:endParaRPr kumimoji="0" lang="zh-CN" altLang="en-US" sz="1800" b="0" i="0" u="none" strike="noStrike" kern="0" cap="none" spc="0" normalizeH="0" baseline="0" noProof="0">
                <a:ln>
                  <a:noFill/>
                </a:ln>
                <a:solidFill>
                  <a:srgbClr val="024C89"/>
                </a:solidFill>
                <a:effectLst/>
                <a:uLnTx/>
                <a:uFillTx/>
                <a:latin typeface="Times New Roman" panose="02020603050405020304" pitchFamily="18" charset="0"/>
                <a:cs typeface="Times New Roman" panose="02020603050405020304" pitchFamily="18" charset="0"/>
              </a:endParaRPr>
            </a:p>
          </p:txBody>
        </p:sp>
        <p:sp>
          <p:nvSpPr>
            <p:cNvPr id="42" name="Oval 8">
              <a:extLst>
                <a:ext uri="{FF2B5EF4-FFF2-40B4-BE49-F238E27FC236}">
                  <a16:creationId xmlns:a16="http://schemas.microsoft.com/office/drawing/2014/main" id="{497E95A5-3575-470C-8B55-2576F49903F6}"/>
                </a:ext>
              </a:extLst>
            </p:cNvPr>
            <p:cNvSpPr>
              <a:spLocks noChangeArrowheads="1"/>
            </p:cNvSpPr>
            <p:nvPr/>
          </p:nvSpPr>
          <p:spPr bwMode="auto">
            <a:xfrm>
              <a:off x="4491921" y="3182622"/>
              <a:ext cx="220663" cy="209550"/>
            </a:xfrm>
            <a:prstGeom prst="ellipse">
              <a:avLst/>
            </a:prstGeom>
            <a:solidFill>
              <a:sysClr val="window" lastClr="FFFFFF"/>
            </a:solidFill>
            <a:ln w="7">
              <a:solidFill>
                <a:srgbClr val="0F6FC6"/>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 typeface="Arial" pitchFamily="34" charset="0"/>
                <a:buNone/>
                <a:tabLst/>
                <a:defRPr/>
              </a:pPr>
              <a:endParaRPr kumimoji="0" lang="zh-CN" altLang="en-US" sz="1800" b="0" i="0" u="none" strike="noStrike" kern="0" cap="none" spc="0" normalizeH="0" baseline="0" noProof="0">
                <a:ln>
                  <a:noFill/>
                </a:ln>
                <a:solidFill>
                  <a:srgbClr val="024C89"/>
                </a:solidFill>
                <a:effectLst/>
                <a:uLnTx/>
                <a:uFillTx/>
                <a:latin typeface="Times New Roman" panose="02020603050405020304" pitchFamily="18" charset="0"/>
                <a:cs typeface="Times New Roman" panose="02020603050405020304" pitchFamily="18" charset="0"/>
              </a:endParaRPr>
            </a:p>
          </p:txBody>
        </p:sp>
        <p:sp>
          <p:nvSpPr>
            <p:cNvPr id="43" name="Oval 9">
              <a:extLst>
                <a:ext uri="{FF2B5EF4-FFF2-40B4-BE49-F238E27FC236}">
                  <a16:creationId xmlns:a16="http://schemas.microsoft.com/office/drawing/2014/main" id="{D59DA989-3D6C-4E64-8323-6780DDB4811C}"/>
                </a:ext>
              </a:extLst>
            </p:cNvPr>
            <p:cNvSpPr>
              <a:spLocks noChangeArrowheads="1"/>
            </p:cNvSpPr>
            <p:nvPr/>
          </p:nvSpPr>
          <p:spPr bwMode="auto">
            <a:xfrm>
              <a:off x="4511934" y="4112110"/>
              <a:ext cx="220663" cy="207963"/>
            </a:xfrm>
            <a:prstGeom prst="ellipse">
              <a:avLst/>
            </a:prstGeom>
            <a:solidFill>
              <a:sysClr val="window" lastClr="FFFFFF"/>
            </a:solidFill>
            <a:ln w="7">
              <a:solidFill>
                <a:srgbClr val="0F6FC6"/>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 typeface="Arial" pitchFamily="34" charset="0"/>
                <a:buNone/>
                <a:tabLst/>
                <a:defRPr/>
              </a:pPr>
              <a:endParaRPr kumimoji="0" lang="zh-CN" altLang="en-US" sz="1800" b="0" i="0" u="none" strike="noStrike" kern="0" cap="none" spc="0" normalizeH="0" baseline="0" noProof="0">
                <a:ln>
                  <a:noFill/>
                </a:ln>
                <a:solidFill>
                  <a:srgbClr val="024C89"/>
                </a:solidFill>
                <a:effectLst/>
                <a:uLnTx/>
                <a:uFillTx/>
                <a:latin typeface="Times New Roman" panose="02020603050405020304" pitchFamily="18" charset="0"/>
                <a:cs typeface="Times New Roman" panose="02020603050405020304" pitchFamily="18" charset="0"/>
              </a:endParaRPr>
            </a:p>
          </p:txBody>
        </p:sp>
        <p:sp>
          <p:nvSpPr>
            <p:cNvPr id="44" name="Oval 10">
              <a:extLst>
                <a:ext uri="{FF2B5EF4-FFF2-40B4-BE49-F238E27FC236}">
                  <a16:creationId xmlns:a16="http://schemas.microsoft.com/office/drawing/2014/main" id="{01930C71-B916-48D2-A308-8B3BFBAD2430}"/>
                </a:ext>
              </a:extLst>
            </p:cNvPr>
            <p:cNvSpPr>
              <a:spLocks noChangeArrowheads="1"/>
            </p:cNvSpPr>
            <p:nvPr/>
          </p:nvSpPr>
          <p:spPr bwMode="auto">
            <a:xfrm>
              <a:off x="4491921" y="5102085"/>
              <a:ext cx="220663" cy="207962"/>
            </a:xfrm>
            <a:prstGeom prst="ellipse">
              <a:avLst/>
            </a:prstGeom>
            <a:solidFill>
              <a:sysClr val="window" lastClr="FFFFFF"/>
            </a:solidFill>
            <a:ln w="7">
              <a:solidFill>
                <a:srgbClr val="0F6FC6"/>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 typeface="Arial" pitchFamily="34" charset="0"/>
                <a:buNone/>
                <a:tabLst/>
                <a:defRPr/>
              </a:pPr>
              <a:endParaRPr kumimoji="0" lang="zh-CN" altLang="en-US" sz="1800" b="0" i="0" u="none" strike="noStrike" kern="0" cap="none" spc="0" normalizeH="0" baseline="0" noProof="0">
                <a:ln>
                  <a:noFill/>
                </a:ln>
                <a:solidFill>
                  <a:srgbClr val="024C89"/>
                </a:solidFill>
                <a:effectLst/>
                <a:uLnTx/>
                <a:uFillTx/>
                <a:latin typeface="Times New Roman" panose="02020603050405020304" pitchFamily="18" charset="0"/>
                <a:cs typeface="Times New Roman" panose="02020603050405020304" pitchFamily="18" charset="0"/>
              </a:endParaRPr>
            </a:p>
          </p:txBody>
        </p:sp>
        <p:sp>
          <p:nvSpPr>
            <p:cNvPr id="45" name="Oval 11">
              <a:extLst>
                <a:ext uri="{FF2B5EF4-FFF2-40B4-BE49-F238E27FC236}">
                  <a16:creationId xmlns:a16="http://schemas.microsoft.com/office/drawing/2014/main" id="{11599F10-C162-4E75-9A14-C4509FE4C10E}"/>
                </a:ext>
              </a:extLst>
            </p:cNvPr>
            <p:cNvSpPr>
              <a:spLocks noChangeArrowheads="1"/>
            </p:cNvSpPr>
            <p:nvPr/>
          </p:nvSpPr>
          <p:spPr bwMode="auto">
            <a:xfrm>
              <a:off x="4500619" y="5814128"/>
              <a:ext cx="220663" cy="209550"/>
            </a:xfrm>
            <a:prstGeom prst="ellipse">
              <a:avLst/>
            </a:prstGeom>
            <a:solidFill>
              <a:sysClr val="window" lastClr="FFFFFF"/>
            </a:solidFill>
            <a:ln w="7">
              <a:solidFill>
                <a:srgbClr val="0F6FC6"/>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 typeface="Arial" pitchFamily="34" charset="0"/>
                <a:buNone/>
                <a:tabLst/>
                <a:defRPr/>
              </a:pPr>
              <a:endParaRPr kumimoji="0" lang="zh-CN" altLang="en-US" sz="1800" b="0" i="0" u="none" strike="noStrike" kern="0" cap="none" spc="0" normalizeH="0" baseline="0" noProof="0">
                <a:ln>
                  <a:noFill/>
                </a:ln>
                <a:solidFill>
                  <a:srgbClr val="024C89"/>
                </a:solidFill>
                <a:effectLst/>
                <a:uLnTx/>
                <a:uFillTx/>
                <a:latin typeface="Times New Roman" panose="02020603050405020304" pitchFamily="18" charset="0"/>
                <a:cs typeface="Times New Roman" panose="02020603050405020304" pitchFamily="18" charset="0"/>
              </a:endParaRPr>
            </a:p>
          </p:txBody>
        </p:sp>
        <p:sp>
          <p:nvSpPr>
            <p:cNvPr id="56" name="TextBox 54">
              <a:extLst>
                <a:ext uri="{FF2B5EF4-FFF2-40B4-BE49-F238E27FC236}">
                  <a16:creationId xmlns:a16="http://schemas.microsoft.com/office/drawing/2014/main" id="{DF083A96-7E01-4CC4-BE7C-59D85E0C43C0}"/>
                </a:ext>
              </a:extLst>
            </p:cNvPr>
            <p:cNvSpPr txBox="1">
              <a:spLocks noChangeArrowheads="1"/>
            </p:cNvSpPr>
            <p:nvPr/>
          </p:nvSpPr>
          <p:spPr bwMode="auto">
            <a:xfrm>
              <a:off x="4882444" y="2222630"/>
              <a:ext cx="1992998" cy="40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r>
                <a:rPr lang="en-US" altLang="zh-CN" b="1" dirty="0">
                  <a:solidFill>
                    <a:srgbClr val="002060"/>
                  </a:solidFill>
                  <a:latin typeface="Times New Roman" panose="02020603050405020304" pitchFamily="18" charset="0"/>
                  <a:ea typeface="+mn-ea"/>
                  <a:cs typeface="Times New Roman" panose="02020603050405020304" pitchFamily="18" charset="0"/>
                </a:rPr>
                <a:t>2026.01-2026.02</a:t>
              </a:r>
              <a:endParaRPr lang="zh-CN" altLang="en-US" b="1" dirty="0">
                <a:solidFill>
                  <a:srgbClr val="002060"/>
                </a:solidFill>
                <a:latin typeface="Times New Roman" panose="02020603050405020304" pitchFamily="18" charset="0"/>
                <a:ea typeface="+mn-ea"/>
                <a:cs typeface="Times New Roman" panose="02020603050405020304" pitchFamily="18" charset="0"/>
              </a:endParaRPr>
            </a:p>
          </p:txBody>
        </p:sp>
        <p:sp>
          <p:nvSpPr>
            <p:cNvPr id="58" name="TextBox 57">
              <a:extLst>
                <a:ext uri="{FF2B5EF4-FFF2-40B4-BE49-F238E27FC236}">
                  <a16:creationId xmlns:a16="http://schemas.microsoft.com/office/drawing/2014/main" id="{25DFE3FD-FB85-4BA0-A253-0084039B70F1}"/>
                </a:ext>
              </a:extLst>
            </p:cNvPr>
            <p:cNvSpPr txBox="1">
              <a:spLocks noChangeArrowheads="1"/>
            </p:cNvSpPr>
            <p:nvPr/>
          </p:nvSpPr>
          <p:spPr bwMode="auto">
            <a:xfrm>
              <a:off x="4876096" y="3055883"/>
              <a:ext cx="1992998" cy="40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r>
                <a:rPr lang="en-US" altLang="zh-CN" b="1" dirty="0">
                  <a:solidFill>
                    <a:srgbClr val="002060"/>
                  </a:solidFill>
                  <a:latin typeface="Times New Roman" panose="02020603050405020304" pitchFamily="18" charset="0"/>
                  <a:ea typeface="+mn-ea"/>
                  <a:cs typeface="Times New Roman" panose="02020603050405020304" pitchFamily="18" charset="0"/>
                </a:rPr>
                <a:t>2026.03-2026.07</a:t>
              </a:r>
              <a:endParaRPr lang="zh-CN" altLang="en-US" b="1" dirty="0">
                <a:solidFill>
                  <a:srgbClr val="002060"/>
                </a:solidFill>
                <a:latin typeface="Times New Roman" panose="02020603050405020304" pitchFamily="18" charset="0"/>
                <a:ea typeface="+mn-ea"/>
                <a:cs typeface="Times New Roman" panose="02020603050405020304" pitchFamily="18" charset="0"/>
              </a:endParaRPr>
            </a:p>
          </p:txBody>
        </p:sp>
        <p:sp>
          <p:nvSpPr>
            <p:cNvPr id="59" name="TextBox 60">
              <a:extLst>
                <a:ext uri="{FF2B5EF4-FFF2-40B4-BE49-F238E27FC236}">
                  <a16:creationId xmlns:a16="http://schemas.microsoft.com/office/drawing/2014/main" id="{FAF28E97-51C3-46E7-AA71-2FBF1FCB786F}"/>
                </a:ext>
              </a:extLst>
            </p:cNvPr>
            <p:cNvSpPr txBox="1">
              <a:spLocks noChangeArrowheads="1"/>
            </p:cNvSpPr>
            <p:nvPr/>
          </p:nvSpPr>
          <p:spPr bwMode="auto">
            <a:xfrm>
              <a:off x="4882446" y="4008092"/>
              <a:ext cx="1992998" cy="40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r>
                <a:rPr lang="en-US" altLang="zh-CN" b="1" dirty="0">
                  <a:solidFill>
                    <a:srgbClr val="002060"/>
                  </a:solidFill>
                  <a:latin typeface="Times New Roman" panose="02020603050405020304" pitchFamily="18" charset="0"/>
                  <a:ea typeface="+mn-ea"/>
                  <a:cs typeface="Times New Roman" panose="02020603050405020304" pitchFamily="18" charset="0"/>
                </a:rPr>
                <a:t>2026.08-2026.12</a:t>
              </a:r>
              <a:endParaRPr lang="zh-CN" altLang="en-US" b="1" dirty="0">
                <a:solidFill>
                  <a:srgbClr val="002060"/>
                </a:solidFill>
                <a:latin typeface="Times New Roman" panose="02020603050405020304" pitchFamily="18" charset="0"/>
                <a:ea typeface="+mn-ea"/>
                <a:cs typeface="Times New Roman" panose="02020603050405020304" pitchFamily="18" charset="0"/>
              </a:endParaRPr>
            </a:p>
          </p:txBody>
        </p:sp>
        <p:sp>
          <p:nvSpPr>
            <p:cNvPr id="60" name="TextBox 63">
              <a:extLst>
                <a:ext uri="{FF2B5EF4-FFF2-40B4-BE49-F238E27FC236}">
                  <a16:creationId xmlns:a16="http://schemas.microsoft.com/office/drawing/2014/main" id="{D7A777CB-2026-4DFD-A08A-CC60B390EBF3}"/>
                </a:ext>
              </a:extLst>
            </p:cNvPr>
            <p:cNvSpPr txBox="1">
              <a:spLocks noChangeArrowheads="1"/>
            </p:cNvSpPr>
            <p:nvPr/>
          </p:nvSpPr>
          <p:spPr bwMode="auto">
            <a:xfrm>
              <a:off x="4882446" y="4970826"/>
              <a:ext cx="1992998" cy="40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r>
                <a:rPr lang="en-US" altLang="zh-CN" b="1" dirty="0">
                  <a:solidFill>
                    <a:srgbClr val="002060"/>
                  </a:solidFill>
                  <a:latin typeface="Times New Roman" panose="02020603050405020304" pitchFamily="18" charset="0"/>
                  <a:ea typeface="+mn-ea"/>
                  <a:cs typeface="Times New Roman" panose="02020603050405020304" pitchFamily="18" charset="0"/>
                </a:rPr>
                <a:t>2027.01-2027.03</a:t>
              </a:r>
              <a:endParaRPr lang="zh-CN" altLang="en-US" b="1" dirty="0">
                <a:solidFill>
                  <a:srgbClr val="002060"/>
                </a:solidFill>
                <a:latin typeface="Times New Roman" panose="02020603050405020304" pitchFamily="18" charset="0"/>
                <a:ea typeface="+mn-ea"/>
                <a:cs typeface="Times New Roman" panose="02020603050405020304" pitchFamily="18" charset="0"/>
              </a:endParaRPr>
            </a:p>
          </p:txBody>
        </p:sp>
        <p:sp>
          <p:nvSpPr>
            <p:cNvPr id="61" name="TextBox 66">
              <a:extLst>
                <a:ext uri="{FF2B5EF4-FFF2-40B4-BE49-F238E27FC236}">
                  <a16:creationId xmlns:a16="http://schemas.microsoft.com/office/drawing/2014/main" id="{B7499CD2-00C5-4C5A-BEB8-875A74A3F5E1}"/>
                </a:ext>
              </a:extLst>
            </p:cNvPr>
            <p:cNvSpPr txBox="1">
              <a:spLocks noChangeArrowheads="1"/>
            </p:cNvSpPr>
            <p:nvPr/>
          </p:nvSpPr>
          <p:spPr bwMode="auto">
            <a:xfrm>
              <a:off x="4882445" y="5699069"/>
              <a:ext cx="887113" cy="35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r>
                <a:rPr lang="en-US" altLang="zh-CN" b="1" dirty="0">
                  <a:solidFill>
                    <a:srgbClr val="002060"/>
                  </a:solidFill>
                  <a:latin typeface="Times New Roman" panose="02020603050405020304" pitchFamily="18" charset="0"/>
                  <a:ea typeface="+mn-ea"/>
                  <a:cs typeface="Times New Roman" panose="02020603050405020304" pitchFamily="18" charset="0"/>
                </a:rPr>
                <a:t>2022.05</a:t>
              </a:r>
              <a:endParaRPr lang="zh-CN" altLang="en-US" b="1" dirty="0">
                <a:solidFill>
                  <a:srgbClr val="002060"/>
                </a:solidFill>
                <a:latin typeface="Times New Roman" panose="02020603050405020304" pitchFamily="18" charset="0"/>
                <a:ea typeface="+mn-ea"/>
                <a:cs typeface="Times New Roman" panose="02020603050405020304" pitchFamily="18" charset="0"/>
              </a:endParaRPr>
            </a:p>
          </p:txBody>
        </p:sp>
        <p:sp>
          <p:nvSpPr>
            <p:cNvPr id="62" name="TextBox 68">
              <a:extLst>
                <a:ext uri="{FF2B5EF4-FFF2-40B4-BE49-F238E27FC236}">
                  <a16:creationId xmlns:a16="http://schemas.microsoft.com/office/drawing/2014/main" id="{95932AA7-113F-4A50-8405-5DF6C78B2F5E}"/>
                </a:ext>
              </a:extLst>
            </p:cNvPr>
            <p:cNvSpPr txBox="1">
              <a:spLocks noChangeArrowheads="1"/>
            </p:cNvSpPr>
            <p:nvPr/>
          </p:nvSpPr>
          <p:spPr bwMode="auto">
            <a:xfrm>
              <a:off x="4891972" y="2552644"/>
              <a:ext cx="7058610" cy="40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r>
                <a:rPr lang="zh-CN" altLang="en-US" b="1" dirty="0">
                  <a:solidFill>
                    <a:srgbClr val="333333"/>
                  </a:solidFill>
                  <a:latin typeface="宋体" panose="02010600030101010101" pitchFamily="2" charset="-122"/>
                  <a:cs typeface="Times New Roman" panose="02020603050405020304" pitchFamily="18" charset="0"/>
                </a:rPr>
                <a:t>文献调研，搭建数据处理与深度学习代码框架，验证基线模型。</a:t>
              </a:r>
            </a:p>
          </p:txBody>
        </p:sp>
        <p:sp>
          <p:nvSpPr>
            <p:cNvPr id="63" name="TextBox 69">
              <a:extLst>
                <a:ext uri="{FF2B5EF4-FFF2-40B4-BE49-F238E27FC236}">
                  <a16:creationId xmlns:a16="http://schemas.microsoft.com/office/drawing/2014/main" id="{1DBC7E56-A338-452B-8B5B-08069A13643C}"/>
                </a:ext>
              </a:extLst>
            </p:cNvPr>
            <p:cNvSpPr txBox="1">
              <a:spLocks noChangeArrowheads="1"/>
            </p:cNvSpPr>
            <p:nvPr/>
          </p:nvSpPr>
          <p:spPr bwMode="auto">
            <a:xfrm>
              <a:off x="4891972" y="3430533"/>
              <a:ext cx="6867524" cy="40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endParaRPr lang="zh-CN" altLang="en-US" dirty="0">
                <a:solidFill>
                  <a:srgbClr val="333333"/>
                </a:solidFill>
                <a:latin typeface="Times New Roman" panose="02020603050405020304" pitchFamily="18" charset="0"/>
                <a:ea typeface="+mn-ea"/>
                <a:cs typeface="Times New Roman" panose="02020603050405020304" pitchFamily="18" charset="0"/>
              </a:endParaRPr>
            </a:p>
          </p:txBody>
        </p:sp>
        <p:sp>
          <p:nvSpPr>
            <p:cNvPr id="64" name="TextBox 70">
              <a:extLst>
                <a:ext uri="{FF2B5EF4-FFF2-40B4-BE49-F238E27FC236}">
                  <a16:creationId xmlns:a16="http://schemas.microsoft.com/office/drawing/2014/main" id="{F5A91AA0-BFE2-4002-857B-97809536BA76}"/>
                </a:ext>
              </a:extLst>
            </p:cNvPr>
            <p:cNvSpPr txBox="1">
              <a:spLocks noChangeArrowheads="1"/>
            </p:cNvSpPr>
            <p:nvPr/>
          </p:nvSpPr>
          <p:spPr bwMode="auto">
            <a:xfrm>
              <a:off x="4855460" y="4320073"/>
              <a:ext cx="7499752" cy="696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r>
                <a:rPr lang="zh-CN" altLang="en-US" b="1" dirty="0">
                  <a:solidFill>
                    <a:srgbClr val="333333"/>
                  </a:solidFill>
                  <a:latin typeface="宋体" panose="02010600030101010101" pitchFamily="2" charset="-122"/>
                  <a:cs typeface="Times New Roman" panose="02020603050405020304" pitchFamily="18" charset="0"/>
                </a:rPr>
                <a:t>开展大规模的可解释性分析实验。批量生成</a:t>
              </a:r>
              <a:r>
                <a:rPr lang="en-US" altLang="zh-CN" b="1" dirty="0">
                  <a:solidFill>
                    <a:srgbClr val="333333"/>
                  </a:solidFill>
                  <a:latin typeface="宋体" panose="02010600030101010101" pitchFamily="2" charset="-122"/>
                  <a:cs typeface="Times New Roman" panose="02020603050405020304" pitchFamily="18" charset="0"/>
                </a:rPr>
                <a:t>Grad-CAM</a:t>
              </a:r>
              <a:r>
                <a:rPr lang="zh-CN" altLang="en-US" b="1" dirty="0">
                  <a:solidFill>
                    <a:srgbClr val="333333"/>
                  </a:solidFill>
                  <a:latin typeface="宋体" panose="02010600030101010101" pitchFamily="2" charset="-122"/>
                  <a:cs typeface="Times New Roman" panose="02020603050405020304" pitchFamily="18" charset="0"/>
                </a:rPr>
                <a:t>热力图，统计敏感特征的频带分布，结合声学理论撰写物理机理分析章节。</a:t>
              </a:r>
            </a:p>
          </p:txBody>
        </p:sp>
        <p:sp>
          <p:nvSpPr>
            <p:cNvPr id="65" name="TextBox 71">
              <a:extLst>
                <a:ext uri="{FF2B5EF4-FFF2-40B4-BE49-F238E27FC236}">
                  <a16:creationId xmlns:a16="http://schemas.microsoft.com/office/drawing/2014/main" id="{2DBB165A-280E-4480-BD43-D34CCA01ED57}"/>
                </a:ext>
              </a:extLst>
            </p:cNvPr>
            <p:cNvSpPr txBox="1">
              <a:spLocks noChangeArrowheads="1"/>
            </p:cNvSpPr>
            <p:nvPr/>
          </p:nvSpPr>
          <p:spPr bwMode="auto">
            <a:xfrm>
              <a:off x="4876096" y="5373728"/>
              <a:ext cx="6265864" cy="40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r>
                <a:rPr lang="zh-CN" altLang="en-US" b="1" dirty="0">
                  <a:solidFill>
                    <a:srgbClr val="333333"/>
                  </a:solidFill>
                  <a:latin typeface="宋体" panose="02010600030101010101" pitchFamily="2" charset="-122"/>
                  <a:cs typeface="Times New Roman" panose="02020603050405020304" pitchFamily="18" charset="0"/>
                </a:rPr>
                <a:t>整理实验数据与图表，撰写硕士学位论文，准备答辩。</a:t>
              </a:r>
            </a:p>
          </p:txBody>
        </p:sp>
        <p:sp>
          <p:nvSpPr>
            <p:cNvPr id="66" name="TextBox 72">
              <a:extLst>
                <a:ext uri="{FF2B5EF4-FFF2-40B4-BE49-F238E27FC236}">
                  <a16:creationId xmlns:a16="http://schemas.microsoft.com/office/drawing/2014/main" id="{22C1A10F-AB65-4448-B05C-FC5DA05964F7}"/>
                </a:ext>
              </a:extLst>
            </p:cNvPr>
            <p:cNvSpPr txBox="1">
              <a:spLocks noChangeArrowheads="1"/>
            </p:cNvSpPr>
            <p:nvPr/>
          </p:nvSpPr>
          <p:spPr bwMode="auto">
            <a:xfrm>
              <a:off x="4855460" y="6054507"/>
              <a:ext cx="6265864" cy="40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r>
                <a:rPr lang="zh-CN" altLang="en-US" b="1" dirty="0">
                  <a:solidFill>
                    <a:srgbClr val="333333"/>
                  </a:solidFill>
                  <a:latin typeface="宋体" panose="02010600030101010101" pitchFamily="2" charset="-122"/>
                  <a:cs typeface="Times New Roman" panose="02020603050405020304" pitchFamily="18" charset="0"/>
                </a:rPr>
                <a:t>准备毕业答辩</a:t>
              </a:r>
            </a:p>
          </p:txBody>
        </p:sp>
      </p:grpSp>
      <p:sp>
        <p:nvSpPr>
          <p:cNvPr id="67" name="TextBox 68">
            <a:extLst>
              <a:ext uri="{FF2B5EF4-FFF2-40B4-BE49-F238E27FC236}">
                <a16:creationId xmlns:a16="http://schemas.microsoft.com/office/drawing/2014/main" id="{F34A4D26-0803-41D0-8DCA-40DDCE33FA92}"/>
              </a:ext>
            </a:extLst>
          </p:cNvPr>
          <p:cNvSpPr txBox="1">
            <a:spLocks noChangeArrowheads="1"/>
          </p:cNvSpPr>
          <p:nvPr/>
        </p:nvSpPr>
        <p:spPr bwMode="auto">
          <a:xfrm>
            <a:off x="1566992" y="2328822"/>
            <a:ext cx="47079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r>
              <a:rPr lang="zh-CN" altLang="en-US" b="1" dirty="0">
                <a:solidFill>
                  <a:srgbClr val="333333"/>
                </a:solidFill>
                <a:latin typeface="宋体" panose="02010600030101010101" pitchFamily="2" charset="-122"/>
                <a:cs typeface="Times New Roman" panose="02020603050405020304" pitchFamily="18" charset="0"/>
              </a:rPr>
              <a:t>优化</a:t>
            </a:r>
            <a:r>
              <a:rPr lang="en-US" altLang="zh-CN" b="1" dirty="0">
                <a:solidFill>
                  <a:srgbClr val="333333"/>
                </a:solidFill>
                <a:latin typeface="宋体" panose="02010600030101010101" pitchFamily="2" charset="-122"/>
                <a:cs typeface="Times New Roman" panose="02020603050405020304" pitchFamily="18" charset="0"/>
              </a:rPr>
              <a:t>FFT</a:t>
            </a:r>
            <a:r>
              <a:rPr lang="zh-CN" altLang="en-US" b="1" dirty="0">
                <a:solidFill>
                  <a:srgbClr val="333333"/>
                </a:solidFill>
                <a:latin typeface="宋体" panose="02010600030101010101" pitchFamily="2" charset="-122"/>
                <a:cs typeface="Times New Roman" panose="02020603050405020304" pitchFamily="18" charset="0"/>
              </a:rPr>
              <a:t>频谱回归模型，调整超参数（如</a:t>
            </a:r>
            <a:r>
              <a:rPr lang="en-US" altLang="zh-CN" b="1" dirty="0">
                <a:solidFill>
                  <a:srgbClr val="333333"/>
                </a:solidFill>
                <a:latin typeface="宋体" panose="02010600030101010101" pitchFamily="2" charset="-122"/>
                <a:cs typeface="Times New Roman" panose="02020603050405020304" pitchFamily="18" charset="0"/>
              </a:rPr>
              <a:t>FFT</a:t>
            </a:r>
            <a:r>
              <a:rPr lang="zh-CN" altLang="en-US" b="1" dirty="0">
                <a:solidFill>
                  <a:srgbClr val="333333"/>
                </a:solidFill>
                <a:latin typeface="宋体" panose="02010600030101010101" pitchFamily="2" charset="-122"/>
                <a:cs typeface="Times New Roman" panose="02020603050405020304" pitchFamily="18" charset="0"/>
              </a:rPr>
              <a:t>系数截断长度、</a:t>
            </a:r>
            <a:r>
              <a:rPr lang="en-US" altLang="zh-CN" b="1" dirty="0">
                <a:solidFill>
                  <a:srgbClr val="333333"/>
                </a:solidFill>
                <a:latin typeface="宋体" panose="02010600030101010101" pitchFamily="2" charset="-122"/>
                <a:cs typeface="Times New Roman" panose="02020603050405020304" pitchFamily="18" charset="0"/>
              </a:rPr>
              <a:t>Loss</a:t>
            </a:r>
            <a:r>
              <a:rPr lang="zh-CN" altLang="en-US" b="1" dirty="0">
                <a:solidFill>
                  <a:srgbClr val="333333"/>
                </a:solidFill>
                <a:latin typeface="宋体" panose="02010600030101010101" pitchFamily="2" charset="-122"/>
                <a:cs typeface="Times New Roman" panose="02020603050405020304" pitchFamily="18" charset="0"/>
              </a:rPr>
              <a:t>权重），进一步提升预测精度，解决局部过拟合问题。</a:t>
            </a:r>
          </a:p>
        </p:txBody>
      </p:sp>
    </p:spTree>
    <p:extLst>
      <p:ext uri="{BB962C8B-B14F-4D97-AF65-F5344CB8AC3E}">
        <p14:creationId xmlns:p14="http://schemas.microsoft.com/office/powerpoint/2010/main" val="1313988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C3FED5E-4EE0-464C-8613-10B209C0AD37}"/>
              </a:ext>
            </a:extLst>
          </p:cNvPr>
          <p:cNvSpPr>
            <a:spLocks noGrp="1"/>
          </p:cNvSpPr>
          <p:nvPr>
            <p:ph type="sldNum" sz="quarter" idx="12"/>
          </p:nvPr>
        </p:nvSpPr>
        <p:spPr/>
        <p:txBody>
          <a:bodyPr/>
          <a:lstStyle/>
          <a:p>
            <a:r>
              <a:rPr lang="en-US" altLang="zh-CN" dirty="0"/>
              <a:t>14</a:t>
            </a:r>
            <a:endParaRPr lang="zh-CN" altLang="en-US" dirty="0"/>
          </a:p>
        </p:txBody>
      </p:sp>
      <p:sp>
        <p:nvSpPr>
          <p:cNvPr id="31" name="矩形 30">
            <a:extLst>
              <a:ext uri="{FF2B5EF4-FFF2-40B4-BE49-F238E27FC236}">
                <a16:creationId xmlns:a16="http://schemas.microsoft.com/office/drawing/2014/main" id="{9E096731-F0CE-4A94-A6AC-C8D83AC53AD5}"/>
              </a:ext>
            </a:extLst>
          </p:cNvPr>
          <p:cNvSpPr/>
          <p:nvPr/>
        </p:nvSpPr>
        <p:spPr>
          <a:xfrm>
            <a:off x="580526" y="78941"/>
            <a:ext cx="1556007" cy="453912"/>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prstClr val="white"/>
                </a:solidFill>
                <a:latin typeface="Verdana"/>
                <a:ea typeface="微软雅黑" panose="020B0503020204020204" pitchFamily="34" charset="-122"/>
              </a:rPr>
              <a:t>5</a:t>
            </a:r>
            <a:r>
              <a:rPr kumimoji="0" lang="en-US" altLang="zh-CN"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 </a:t>
            </a:r>
            <a:r>
              <a:rPr kumimoji="0" lang="zh-CN" altLang="en-US" sz="1800" b="0" i="0" u="none" strike="noStrike" kern="1200" cap="none" spc="0" normalizeH="0" baseline="0" noProof="0" dirty="0">
                <a:ln>
                  <a:noFill/>
                </a:ln>
                <a:solidFill>
                  <a:prstClr val="white"/>
                </a:solidFill>
                <a:effectLst/>
                <a:uLnTx/>
                <a:uFillTx/>
                <a:latin typeface="Verdana"/>
                <a:ea typeface="微软雅黑" panose="020B0503020204020204" pitchFamily="34" charset="-122"/>
                <a:cs typeface="+mn-cs"/>
              </a:rPr>
              <a:t>预期结果</a:t>
            </a:r>
          </a:p>
        </p:txBody>
      </p:sp>
      <p:sp>
        <p:nvSpPr>
          <p:cNvPr id="32" name="矩形 31">
            <a:extLst>
              <a:ext uri="{FF2B5EF4-FFF2-40B4-BE49-F238E27FC236}">
                <a16:creationId xmlns:a16="http://schemas.microsoft.com/office/drawing/2014/main" id="{2F8FD3CB-7F8C-4B1D-8D1F-A8CCDA39C31E}"/>
              </a:ext>
            </a:extLst>
          </p:cNvPr>
          <p:cNvSpPr/>
          <p:nvPr/>
        </p:nvSpPr>
        <p:spPr>
          <a:xfrm>
            <a:off x="7504622" y="334640"/>
            <a:ext cx="1556007" cy="438581"/>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pic>
        <p:nvPicPr>
          <p:cNvPr id="33" name="图片 32">
            <a:extLst>
              <a:ext uri="{FF2B5EF4-FFF2-40B4-BE49-F238E27FC236}">
                <a16:creationId xmlns:a16="http://schemas.microsoft.com/office/drawing/2014/main" id="{0AA6B4D6-54B4-437C-B073-F634492D7B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0771" y="-22611"/>
            <a:ext cx="1083229" cy="1074896"/>
          </a:xfrm>
          <a:prstGeom prst="ellipse">
            <a:avLst/>
          </a:prstGeom>
        </p:spPr>
      </p:pic>
      <p:sp>
        <p:nvSpPr>
          <p:cNvPr id="36" name="TextBox 21">
            <a:extLst>
              <a:ext uri="{FF2B5EF4-FFF2-40B4-BE49-F238E27FC236}">
                <a16:creationId xmlns:a16="http://schemas.microsoft.com/office/drawing/2014/main" id="{B1F555B5-5439-4A2F-844E-8098162BE0E0}"/>
              </a:ext>
            </a:extLst>
          </p:cNvPr>
          <p:cNvSpPr txBox="1"/>
          <p:nvPr/>
        </p:nvSpPr>
        <p:spPr>
          <a:xfrm>
            <a:off x="540166" y="3410530"/>
            <a:ext cx="872180" cy="430887"/>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algn="ctr"/>
            <a:r>
              <a:rPr lang="zh-CN" altLang="en-US" sz="2800" b="1"/>
              <a:t>总结</a:t>
            </a:r>
            <a:endParaRPr lang="zh-CN" altLang="en-US" sz="2800" b="1" dirty="0"/>
          </a:p>
        </p:txBody>
      </p:sp>
      <p:grpSp>
        <p:nvGrpSpPr>
          <p:cNvPr id="3" name="组合 2">
            <a:extLst>
              <a:ext uri="{FF2B5EF4-FFF2-40B4-BE49-F238E27FC236}">
                <a16:creationId xmlns:a16="http://schemas.microsoft.com/office/drawing/2014/main" id="{AD4C9C3B-9EEE-E51E-4299-A61936F3171B}"/>
              </a:ext>
            </a:extLst>
          </p:cNvPr>
          <p:cNvGrpSpPr/>
          <p:nvPr/>
        </p:nvGrpSpPr>
        <p:grpSpPr>
          <a:xfrm>
            <a:off x="741639" y="1804591"/>
            <a:ext cx="6890115" cy="2036826"/>
            <a:chOff x="1146589" y="1163131"/>
            <a:chExt cx="7178504" cy="2077554"/>
          </a:xfrm>
        </p:grpSpPr>
        <p:sp>
          <p:nvSpPr>
            <p:cNvPr id="4" name="Freeform 5">
              <a:extLst>
                <a:ext uri="{FF2B5EF4-FFF2-40B4-BE49-F238E27FC236}">
                  <a16:creationId xmlns:a16="http://schemas.microsoft.com/office/drawing/2014/main" id="{1FE68DEC-72BB-84E9-0A56-F030C4727DDA}"/>
                </a:ext>
              </a:extLst>
            </p:cNvPr>
            <p:cNvSpPr>
              <a:spLocks/>
            </p:cNvSpPr>
            <p:nvPr/>
          </p:nvSpPr>
          <p:spPr bwMode="auto">
            <a:xfrm>
              <a:off x="1146589" y="1464683"/>
              <a:ext cx="1294027" cy="11879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 name="TextBox 21">
              <a:extLst>
                <a:ext uri="{FF2B5EF4-FFF2-40B4-BE49-F238E27FC236}">
                  <a16:creationId xmlns:a16="http://schemas.microsoft.com/office/drawing/2014/main" id="{839A675C-52DA-8065-CFEC-94EC48B1E8A1}"/>
                </a:ext>
              </a:extLst>
            </p:cNvPr>
            <p:cNvSpPr txBox="1"/>
            <p:nvPr/>
          </p:nvSpPr>
          <p:spPr>
            <a:xfrm>
              <a:off x="1324038" y="1627773"/>
              <a:ext cx="908685" cy="879006"/>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algn="ctr"/>
              <a:r>
                <a:rPr lang="zh-CN" altLang="en-US" sz="2800" b="1" dirty="0"/>
                <a:t>预期成果</a:t>
              </a:r>
            </a:p>
          </p:txBody>
        </p:sp>
        <p:sp>
          <p:nvSpPr>
            <p:cNvPr id="6" name="Freeform 5">
              <a:extLst>
                <a:ext uri="{FF2B5EF4-FFF2-40B4-BE49-F238E27FC236}">
                  <a16:creationId xmlns:a16="http://schemas.microsoft.com/office/drawing/2014/main" id="{DA39706B-D041-5C26-CEFE-9B74AA45FEDA}"/>
                </a:ext>
              </a:extLst>
            </p:cNvPr>
            <p:cNvSpPr>
              <a:spLocks/>
            </p:cNvSpPr>
            <p:nvPr/>
          </p:nvSpPr>
          <p:spPr bwMode="auto">
            <a:xfrm>
              <a:off x="2505485" y="1322144"/>
              <a:ext cx="547516" cy="1483176"/>
            </a:xfrm>
            <a:custGeom>
              <a:avLst/>
              <a:gdLst>
                <a:gd name="T0" fmla="*/ 1999 w 3544"/>
                <a:gd name="T1" fmla="*/ 9150 h 14563"/>
                <a:gd name="T2" fmla="*/ 1999 w 3544"/>
                <a:gd name="T3" fmla="*/ 12306 h 14563"/>
                <a:gd name="T4" fmla="*/ 2353 w 3544"/>
                <a:gd name="T5" fmla="*/ 13628 h 14563"/>
                <a:gd name="T6" fmla="*/ 3544 w 3544"/>
                <a:gd name="T7" fmla="*/ 14112 h 14563"/>
                <a:gd name="T8" fmla="*/ 3544 w 3544"/>
                <a:gd name="T9" fmla="*/ 14563 h 14563"/>
                <a:gd name="T10" fmla="*/ 1933 w 3544"/>
                <a:gd name="T11" fmla="*/ 14016 h 14563"/>
                <a:gd name="T12" fmla="*/ 1419 w 3544"/>
                <a:gd name="T13" fmla="*/ 12050 h 14563"/>
                <a:gd name="T14" fmla="*/ 1419 w 3544"/>
                <a:gd name="T15" fmla="*/ 9279 h 14563"/>
                <a:gd name="T16" fmla="*/ 1160 w 3544"/>
                <a:gd name="T17" fmla="*/ 8022 h 14563"/>
                <a:gd name="T18" fmla="*/ 0 w 3544"/>
                <a:gd name="T19" fmla="*/ 7475 h 14563"/>
                <a:gd name="T20" fmla="*/ 0 w 3544"/>
                <a:gd name="T21" fmla="*/ 7088 h 14563"/>
                <a:gd name="T22" fmla="*/ 1127 w 3544"/>
                <a:gd name="T23" fmla="*/ 6571 h 14563"/>
                <a:gd name="T24" fmla="*/ 1419 w 3544"/>
                <a:gd name="T25" fmla="*/ 5284 h 14563"/>
                <a:gd name="T26" fmla="*/ 1419 w 3544"/>
                <a:gd name="T27" fmla="*/ 2513 h 14563"/>
                <a:gd name="T28" fmla="*/ 1933 w 3544"/>
                <a:gd name="T29" fmla="*/ 547 h 14563"/>
                <a:gd name="T30" fmla="*/ 3544 w 3544"/>
                <a:gd name="T31" fmla="*/ 0 h 14563"/>
                <a:gd name="T32" fmla="*/ 3544 w 3544"/>
                <a:gd name="T33" fmla="*/ 451 h 14563"/>
                <a:gd name="T34" fmla="*/ 2353 w 3544"/>
                <a:gd name="T35" fmla="*/ 902 h 14563"/>
                <a:gd name="T36" fmla="*/ 1999 w 3544"/>
                <a:gd name="T37" fmla="*/ 2254 h 14563"/>
                <a:gd name="T38" fmla="*/ 1999 w 3544"/>
                <a:gd name="T39" fmla="*/ 5413 h 14563"/>
                <a:gd name="T40" fmla="*/ 580 w 3544"/>
                <a:gd name="T41" fmla="*/ 7275 h 14563"/>
                <a:gd name="T42" fmla="*/ 580 w 3544"/>
                <a:gd name="T43" fmla="*/ 7304 h 14563"/>
                <a:gd name="T44" fmla="*/ 1999 w 3544"/>
                <a:gd name="T45" fmla="*/ 9150 h 14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7" name="组合 6">
              <a:extLst>
                <a:ext uri="{FF2B5EF4-FFF2-40B4-BE49-F238E27FC236}">
                  <a16:creationId xmlns:a16="http://schemas.microsoft.com/office/drawing/2014/main" id="{52811F87-214E-A8A7-1D20-B0A8C45FFCCA}"/>
                </a:ext>
              </a:extLst>
            </p:cNvPr>
            <p:cNvGrpSpPr/>
            <p:nvPr/>
          </p:nvGrpSpPr>
          <p:grpSpPr>
            <a:xfrm>
              <a:off x="3074987" y="1163131"/>
              <a:ext cx="5250106" cy="680830"/>
              <a:chOff x="2976886" y="1484152"/>
              <a:chExt cx="5250106" cy="680830"/>
            </a:xfrm>
          </p:grpSpPr>
          <p:sp>
            <p:nvSpPr>
              <p:cNvPr id="15" name="圆角矩形 24">
                <a:extLst>
                  <a:ext uri="{FF2B5EF4-FFF2-40B4-BE49-F238E27FC236}">
                    <a16:creationId xmlns:a16="http://schemas.microsoft.com/office/drawing/2014/main" id="{B9D49B2B-CBDE-BDAB-9B6D-A46238C0189C}"/>
                  </a:ext>
                </a:extLst>
              </p:cNvPr>
              <p:cNvSpPr/>
              <p:nvPr/>
            </p:nvSpPr>
            <p:spPr>
              <a:xfrm>
                <a:off x="2976886" y="1484152"/>
                <a:ext cx="5250106" cy="68083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TextBox 28">
                <a:extLst>
                  <a:ext uri="{FF2B5EF4-FFF2-40B4-BE49-F238E27FC236}">
                    <a16:creationId xmlns:a16="http://schemas.microsoft.com/office/drawing/2014/main" id="{E77241BF-C101-3F4E-81A0-A0F3DFF7D2C7}"/>
                  </a:ext>
                </a:extLst>
              </p:cNvPr>
              <p:cNvSpPr txBox="1"/>
              <p:nvPr/>
            </p:nvSpPr>
            <p:spPr>
              <a:xfrm>
                <a:off x="3133875" y="1500626"/>
                <a:ext cx="4695854" cy="607783"/>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marL="342900" indent="-342900">
                  <a:lnSpc>
                    <a:spcPct val="150000"/>
                  </a:lnSpc>
                  <a:buAutoNum type="arabicParenBoth"/>
                </a:pPr>
                <a:r>
                  <a:rPr lang="zh-CN" altLang="en-US" sz="1400" dirty="0">
                    <a:solidFill>
                      <a:schemeClr val="bg1"/>
                    </a:solidFill>
                    <a:latin typeface="宋体" panose="02010600030101010101" pitchFamily="2" charset="-122"/>
                    <a:ea typeface="宋体" panose="02010600030101010101" pitchFamily="2" charset="-122"/>
                    <a:cs typeface="Times New Roman" panose="02020603050405020304" pitchFamily="18" charset="0"/>
                  </a:rPr>
                  <a:t>一套完整的声波测井窜槽智能检测软件代码库</a:t>
                </a:r>
                <a:endParaRPr lang="en-US" altLang="zh-CN" sz="1400" dirty="0">
                  <a:solidFill>
                    <a:schemeClr val="bg1"/>
                  </a:solidFill>
                  <a:latin typeface="宋体" panose="02010600030101010101" pitchFamily="2" charset="-122"/>
                  <a:ea typeface="宋体" panose="02010600030101010101" pitchFamily="2" charset="-122"/>
                  <a:cs typeface="Times New Roman" panose="02020603050405020304" pitchFamily="18" charset="0"/>
                </a:endParaRPr>
              </a:p>
              <a:p>
                <a:pPr>
                  <a:lnSpc>
                    <a:spcPct val="150000"/>
                  </a:lnSpc>
                </a:pPr>
                <a:r>
                  <a:rPr lang="en-US" altLang="zh-CN" sz="1400" dirty="0">
                    <a:solidFill>
                      <a:schemeClr val="bg1"/>
                    </a:solidFill>
                    <a:latin typeface="宋体" panose="02010600030101010101" pitchFamily="2" charset="-122"/>
                    <a:ea typeface="宋体" panose="02010600030101010101" pitchFamily="2" charset="-122"/>
                    <a:cs typeface="Times New Roman" panose="02020603050405020304" pitchFamily="18" charset="0"/>
                  </a:rPr>
                  <a:t>	</a:t>
                </a:r>
                <a:r>
                  <a:rPr lang="zh-CN" altLang="en-US" sz="1400" dirty="0">
                    <a:solidFill>
                      <a:schemeClr val="bg1"/>
                    </a:solidFill>
                    <a:latin typeface="宋体" panose="02010600030101010101" pitchFamily="2" charset="-122"/>
                    <a:ea typeface="宋体" panose="02010600030101010101" pitchFamily="2" charset="-122"/>
                    <a:cs typeface="Times New Roman" panose="02020603050405020304" pitchFamily="18" charset="0"/>
                  </a:rPr>
                  <a:t>（包含预处理、训练、可视化模块）</a:t>
                </a:r>
                <a:endParaRPr lang="en-US" altLang="zh-CN" sz="1400" dirty="0">
                  <a:solidFill>
                    <a:schemeClr val="bg1"/>
                  </a:solidFill>
                  <a:latin typeface="宋体" panose="02010600030101010101" pitchFamily="2" charset="-122"/>
                  <a:ea typeface="宋体" panose="02010600030101010101" pitchFamily="2" charset="-122"/>
                  <a:cs typeface="Times New Roman" panose="02020603050405020304" pitchFamily="18" charset="0"/>
                </a:endParaRPr>
              </a:p>
            </p:txBody>
          </p:sp>
        </p:grpSp>
        <p:sp>
          <p:nvSpPr>
            <p:cNvPr id="8" name="TextBox 29">
              <a:extLst>
                <a:ext uri="{FF2B5EF4-FFF2-40B4-BE49-F238E27FC236}">
                  <a16:creationId xmlns:a16="http://schemas.microsoft.com/office/drawing/2014/main" id="{A68B33C4-49CB-24FB-5CA9-394F3710D5D8}"/>
                </a:ext>
              </a:extLst>
            </p:cNvPr>
            <p:cNvSpPr txBox="1"/>
            <p:nvPr/>
          </p:nvSpPr>
          <p:spPr>
            <a:xfrm>
              <a:off x="3877592" y="3073973"/>
              <a:ext cx="3456384" cy="1667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r>
                <a:rPr lang="zh-CN" altLang="en-US" sz="1200" dirty="0">
                  <a:solidFill>
                    <a:schemeClr val="bg1"/>
                  </a:solidFill>
                </a:rPr>
                <a:t>总结性观点之三，条目根据您的需求请酌情增减。</a:t>
              </a:r>
              <a:endParaRPr lang="en-US" altLang="zh-CN" sz="1200" dirty="0">
                <a:solidFill>
                  <a:schemeClr val="bg1"/>
                </a:solidFill>
              </a:endParaRPr>
            </a:p>
          </p:txBody>
        </p:sp>
        <p:grpSp>
          <p:nvGrpSpPr>
            <p:cNvPr id="9" name="组合 8">
              <a:extLst>
                <a:ext uri="{FF2B5EF4-FFF2-40B4-BE49-F238E27FC236}">
                  <a16:creationId xmlns:a16="http://schemas.microsoft.com/office/drawing/2014/main" id="{E96F8F57-6022-69AF-1E6B-73DDF9B0251A}"/>
                </a:ext>
              </a:extLst>
            </p:cNvPr>
            <p:cNvGrpSpPr/>
            <p:nvPr/>
          </p:nvGrpSpPr>
          <p:grpSpPr>
            <a:xfrm>
              <a:off x="3063995" y="1987943"/>
              <a:ext cx="5250106" cy="389281"/>
              <a:chOff x="2944084" y="1169138"/>
              <a:chExt cx="5250106" cy="389281"/>
            </a:xfrm>
          </p:grpSpPr>
          <p:sp>
            <p:nvSpPr>
              <p:cNvPr id="13" name="圆角矩形 24">
                <a:extLst>
                  <a:ext uri="{FF2B5EF4-FFF2-40B4-BE49-F238E27FC236}">
                    <a16:creationId xmlns:a16="http://schemas.microsoft.com/office/drawing/2014/main" id="{94875E5D-1FCA-BB80-4A14-2B1DD445F23C}"/>
                  </a:ext>
                </a:extLst>
              </p:cNvPr>
              <p:cNvSpPr/>
              <p:nvPr/>
            </p:nvSpPr>
            <p:spPr>
              <a:xfrm>
                <a:off x="2944084" y="1169138"/>
                <a:ext cx="5250106" cy="3892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28">
                <a:extLst>
                  <a:ext uri="{FF2B5EF4-FFF2-40B4-BE49-F238E27FC236}">
                    <a16:creationId xmlns:a16="http://schemas.microsoft.com/office/drawing/2014/main" id="{68E83BD6-342E-EBF4-3F5D-548BB7E9B4C3}"/>
                  </a:ext>
                </a:extLst>
              </p:cNvPr>
              <p:cNvSpPr txBox="1"/>
              <p:nvPr/>
            </p:nvSpPr>
            <p:spPr>
              <a:xfrm>
                <a:off x="3112065" y="1219339"/>
                <a:ext cx="2241715" cy="287966"/>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50000"/>
                  </a:lnSpc>
                </a:pPr>
                <a:r>
                  <a:rPr lang="en-US" altLang="zh-CN" sz="1400" dirty="0">
                    <a:solidFill>
                      <a:schemeClr val="bg1"/>
                    </a:solidFill>
                    <a:latin typeface="宋体" panose="02010600030101010101" pitchFamily="2" charset="-122"/>
                    <a:ea typeface="宋体" panose="02010600030101010101" pitchFamily="2" charset="-122"/>
                    <a:cs typeface="Times New Roman" panose="02020603050405020304" pitchFamily="18" charset="0"/>
                  </a:rPr>
                  <a:t>(2)	</a:t>
                </a:r>
                <a:r>
                  <a:rPr lang="zh-CN" altLang="en-US" sz="1400" dirty="0">
                    <a:solidFill>
                      <a:schemeClr val="bg1"/>
                    </a:solidFill>
                    <a:latin typeface="宋体" panose="02010600030101010101" pitchFamily="2" charset="-122"/>
                    <a:ea typeface="宋体" panose="02010600030101010101" pitchFamily="2" charset="-122"/>
                    <a:cs typeface="Times New Roman" panose="02020603050405020304" pitchFamily="18" charset="0"/>
                  </a:rPr>
                  <a:t>发表高水平论文</a:t>
                </a:r>
                <a:r>
                  <a:rPr lang="en-US" altLang="zh-CN" sz="1400" dirty="0">
                    <a:solidFill>
                      <a:schemeClr val="bg1"/>
                    </a:solidFill>
                    <a:latin typeface="宋体" panose="02010600030101010101" pitchFamily="2" charset="-122"/>
                    <a:ea typeface="宋体" panose="02010600030101010101" pitchFamily="2" charset="-122"/>
                    <a:cs typeface="Times New Roman" panose="02020603050405020304" pitchFamily="18" charset="0"/>
                  </a:rPr>
                  <a:t>1</a:t>
                </a:r>
                <a:r>
                  <a:rPr lang="zh-CN" altLang="en-US" sz="1400" dirty="0">
                    <a:solidFill>
                      <a:schemeClr val="bg1"/>
                    </a:solidFill>
                    <a:latin typeface="宋体" panose="02010600030101010101" pitchFamily="2" charset="-122"/>
                    <a:ea typeface="宋体" panose="02010600030101010101" pitchFamily="2" charset="-122"/>
                    <a:cs typeface="Times New Roman" panose="02020603050405020304" pitchFamily="18" charset="0"/>
                  </a:rPr>
                  <a:t>篇</a:t>
                </a:r>
                <a:endParaRPr lang="en-US" altLang="zh-CN" sz="1400" dirty="0">
                  <a:solidFill>
                    <a:schemeClr val="bg1"/>
                  </a:solidFill>
                  <a:latin typeface="Times New Roman" panose="02020603050405020304" pitchFamily="18" charset="0"/>
                  <a:cs typeface="Times New Roman" panose="02020603050405020304" pitchFamily="18" charset="0"/>
                </a:endParaRPr>
              </a:p>
            </p:txBody>
          </p:sp>
        </p:grpSp>
        <p:grpSp>
          <p:nvGrpSpPr>
            <p:cNvPr id="10" name="组合 9">
              <a:extLst>
                <a:ext uri="{FF2B5EF4-FFF2-40B4-BE49-F238E27FC236}">
                  <a16:creationId xmlns:a16="http://schemas.microsoft.com/office/drawing/2014/main" id="{8F91DEF5-4B1D-6D34-2CB0-707118700795}"/>
                </a:ext>
              </a:extLst>
            </p:cNvPr>
            <p:cNvGrpSpPr/>
            <p:nvPr/>
          </p:nvGrpSpPr>
          <p:grpSpPr>
            <a:xfrm>
              <a:off x="3074987" y="2551136"/>
              <a:ext cx="5228120" cy="389281"/>
              <a:chOff x="2955076" y="650430"/>
              <a:chExt cx="5228120" cy="389281"/>
            </a:xfrm>
          </p:grpSpPr>
          <p:sp>
            <p:nvSpPr>
              <p:cNvPr id="11" name="圆角矩形 24">
                <a:extLst>
                  <a:ext uri="{FF2B5EF4-FFF2-40B4-BE49-F238E27FC236}">
                    <a16:creationId xmlns:a16="http://schemas.microsoft.com/office/drawing/2014/main" id="{F750F7E1-1C0B-5FC7-87C4-0FB637B64E93}"/>
                  </a:ext>
                </a:extLst>
              </p:cNvPr>
              <p:cNvSpPr/>
              <p:nvPr/>
            </p:nvSpPr>
            <p:spPr>
              <a:xfrm>
                <a:off x="2955076" y="650430"/>
                <a:ext cx="5228120" cy="3892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28">
                <a:extLst>
                  <a:ext uri="{FF2B5EF4-FFF2-40B4-BE49-F238E27FC236}">
                    <a16:creationId xmlns:a16="http://schemas.microsoft.com/office/drawing/2014/main" id="{C6645DA1-10B7-D8C7-7A7E-FD48B8260780}"/>
                  </a:ext>
                </a:extLst>
              </p:cNvPr>
              <p:cNvSpPr txBox="1"/>
              <p:nvPr/>
            </p:nvSpPr>
            <p:spPr>
              <a:xfrm>
                <a:off x="3112066" y="679064"/>
                <a:ext cx="1613214" cy="278156"/>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50000"/>
                  </a:lnSpc>
                </a:pPr>
                <a:r>
                  <a:rPr lang="en-US" altLang="zh-CN" sz="1400">
                    <a:solidFill>
                      <a:schemeClr val="bg1"/>
                    </a:solidFill>
                    <a:latin typeface="宋体" panose="02010600030101010101" pitchFamily="2" charset="-122"/>
                    <a:ea typeface="宋体" panose="02010600030101010101" pitchFamily="2" charset="-122"/>
                    <a:cs typeface="Times New Roman" panose="02020603050405020304" pitchFamily="18" charset="0"/>
                  </a:rPr>
                  <a:t>(3)	</a:t>
                </a:r>
                <a:r>
                  <a:rPr lang="zh-CN" altLang="en-US" sz="1400">
                    <a:solidFill>
                      <a:schemeClr val="bg1"/>
                    </a:solidFill>
                    <a:latin typeface="宋体" panose="02010600030101010101" pitchFamily="2" charset="-122"/>
                    <a:ea typeface="宋体" panose="02010600030101010101" pitchFamily="2" charset="-122"/>
                    <a:cs typeface="Times New Roman" panose="02020603050405020304" pitchFamily="18" charset="0"/>
                  </a:rPr>
                  <a:t>完成毕业论文</a:t>
                </a:r>
                <a:endParaRPr lang="en-US" altLang="zh-CN" sz="1400" dirty="0">
                  <a:solidFill>
                    <a:schemeClr val="bg1"/>
                  </a:solidFill>
                  <a:latin typeface="宋体" panose="02010600030101010101" pitchFamily="2" charset="-122"/>
                  <a:ea typeface="宋体" panose="02010600030101010101" pitchFamily="2" charset="-122"/>
                  <a:cs typeface="Times New Roman" panose="02020603050405020304" pitchFamily="18" charset="0"/>
                </a:endParaRPr>
              </a:p>
            </p:txBody>
          </p:sp>
        </p:grpSp>
      </p:grpSp>
    </p:spTree>
    <p:extLst>
      <p:ext uri="{BB962C8B-B14F-4D97-AF65-F5344CB8AC3E}">
        <p14:creationId xmlns:p14="http://schemas.microsoft.com/office/powerpoint/2010/main" val="469713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4871F336-037F-461E-80B7-C3CB9C708906}"/>
              </a:ext>
            </a:extLst>
          </p:cNvPr>
          <p:cNvSpPr/>
          <p:nvPr/>
        </p:nvSpPr>
        <p:spPr>
          <a:xfrm>
            <a:off x="9600" y="2203161"/>
            <a:ext cx="9133237" cy="142504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B5E5F3F0-8784-433E-9474-D9B75ACC3807}"/>
              </a:ext>
            </a:extLst>
          </p:cNvPr>
          <p:cNvSpPr/>
          <p:nvPr/>
        </p:nvSpPr>
        <p:spPr>
          <a:xfrm>
            <a:off x="0" y="861773"/>
            <a:ext cx="9133236" cy="1328230"/>
          </a:xfrm>
          <a:prstGeom prst="rect">
            <a:avLst/>
          </a:prstGeom>
          <a:solidFill>
            <a:srgbClr val="012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2901947" y="1482069"/>
            <a:ext cx="3974274" cy="561692"/>
          </a:xfrm>
          <a:prstGeom prst="rect">
            <a:avLst/>
          </a:prstGeom>
        </p:spPr>
        <p:txBody>
          <a:bodyPr wrap="square" lIns="68580" tIns="34290" rIns="68580" bIns="34290">
            <a:spAutoFit/>
          </a:bodyPr>
          <a:lstStyle/>
          <a:p>
            <a:r>
              <a:rPr lang="zh-CN" altLang="en-US" sz="3200" b="1">
                <a:solidFill>
                  <a:schemeClr val="bg1"/>
                </a:solidFill>
                <a:latin typeface="宋体" panose="02010600030101010101" pitchFamily="2" charset="-122"/>
                <a:ea typeface="宋体" panose="02010600030101010101" pitchFamily="2" charset="-122"/>
              </a:rPr>
              <a:t>演示完毕 感谢聆听</a:t>
            </a:r>
            <a:endParaRPr lang="zh-CN" altLang="en-US" sz="3200" b="1" dirty="0">
              <a:solidFill>
                <a:schemeClr val="bg1"/>
              </a:solidFill>
              <a:latin typeface="宋体" panose="02010600030101010101" pitchFamily="2" charset="-122"/>
              <a:ea typeface="宋体" panose="02010600030101010101" pitchFamily="2" charset="-122"/>
            </a:endParaRPr>
          </a:p>
        </p:txBody>
      </p:sp>
      <p:sp>
        <p:nvSpPr>
          <p:cNvPr id="14" name="Freeform 5"/>
          <p:cNvSpPr>
            <a:spLocks noEditPoints="1"/>
          </p:cNvSpPr>
          <p:nvPr/>
        </p:nvSpPr>
        <p:spPr bwMode="auto">
          <a:xfrm>
            <a:off x="9600" y="1164127"/>
            <a:ext cx="1790977" cy="2869814"/>
          </a:xfrm>
          <a:custGeom>
            <a:avLst/>
            <a:gdLst>
              <a:gd name="T0" fmla="*/ 0 w 7449"/>
              <a:gd name="T1" fmla="*/ 0 h 11906"/>
              <a:gd name="T2" fmla="*/ 7449 w 7449"/>
              <a:gd name="T3" fmla="*/ 4223 h 11906"/>
              <a:gd name="T4" fmla="*/ 0 w 7449"/>
              <a:gd name="T5" fmla="*/ 4223 h 11906"/>
              <a:gd name="T6" fmla="*/ 0 w 7449"/>
              <a:gd name="T7" fmla="*/ 0 h 11906"/>
              <a:gd name="T8" fmla="*/ 7449 w 7449"/>
              <a:gd name="T9" fmla="*/ 4302 h 11906"/>
              <a:gd name="T10" fmla="*/ 0 w 7449"/>
              <a:gd name="T11" fmla="*/ 8525 h 11906"/>
              <a:gd name="T12" fmla="*/ 0 w 7449"/>
              <a:gd name="T13" fmla="*/ 4302 h 11906"/>
              <a:gd name="T14" fmla="*/ 7449 w 7449"/>
              <a:gd name="T15" fmla="*/ 4302 h 11906"/>
              <a:gd name="T16" fmla="*/ 2857 w 7449"/>
              <a:gd name="T17" fmla="*/ 10038 h 11906"/>
              <a:gd name="T18" fmla="*/ 5 w 7449"/>
              <a:gd name="T19" fmla="*/ 11903 h 11906"/>
              <a:gd name="T20" fmla="*/ 0 w 7449"/>
              <a:gd name="T21" fmla="*/ 11906 h 11906"/>
              <a:gd name="T22" fmla="*/ 0 w 7449"/>
              <a:gd name="T23" fmla="*/ 8789 h 11906"/>
              <a:gd name="T24" fmla="*/ 2857 w 7449"/>
              <a:gd name="T25" fmla="*/ 7136 h 11906"/>
              <a:gd name="T26" fmla="*/ 2857 w 7449"/>
              <a:gd name="T27" fmla="*/ 10038 h 1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49" h="11906">
                <a:moveTo>
                  <a:pt x="0" y="0"/>
                </a:moveTo>
                <a:lnTo>
                  <a:pt x="7449" y="4223"/>
                </a:lnTo>
                <a:lnTo>
                  <a:pt x="0" y="4223"/>
                </a:lnTo>
                <a:lnTo>
                  <a:pt x="0" y="0"/>
                </a:lnTo>
                <a:close/>
                <a:moveTo>
                  <a:pt x="7449" y="4302"/>
                </a:moveTo>
                <a:lnTo>
                  <a:pt x="0" y="8525"/>
                </a:lnTo>
                <a:lnTo>
                  <a:pt x="0" y="4302"/>
                </a:lnTo>
                <a:lnTo>
                  <a:pt x="7449" y="4302"/>
                </a:lnTo>
                <a:close/>
                <a:moveTo>
                  <a:pt x="2857" y="10038"/>
                </a:moveTo>
                <a:cubicBezTo>
                  <a:pt x="2537" y="11326"/>
                  <a:pt x="721" y="11825"/>
                  <a:pt x="5" y="11903"/>
                </a:cubicBezTo>
                <a:lnTo>
                  <a:pt x="0" y="11906"/>
                </a:lnTo>
                <a:lnTo>
                  <a:pt x="0" y="8789"/>
                </a:lnTo>
                <a:lnTo>
                  <a:pt x="2857" y="7136"/>
                </a:lnTo>
                <a:lnTo>
                  <a:pt x="2857" y="10038"/>
                </a:lnTo>
                <a:close/>
              </a:path>
            </a:pathLst>
          </a:custGeom>
          <a:solidFill>
            <a:schemeClr val="accent1"/>
          </a:solidFill>
          <a:ln w="5" cap="flat">
            <a:solidFill>
              <a:srgbClr val="24211D"/>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6"/>
          <p:cNvSpPr>
            <a:spLocks noEditPoints="1"/>
          </p:cNvSpPr>
          <p:nvPr/>
        </p:nvSpPr>
        <p:spPr bwMode="auto">
          <a:xfrm>
            <a:off x="1722420" y="2203161"/>
            <a:ext cx="137114" cy="1694253"/>
          </a:xfrm>
          <a:custGeom>
            <a:avLst/>
            <a:gdLst>
              <a:gd name="T0" fmla="*/ 246 w 571"/>
              <a:gd name="T1" fmla="*/ 0 h 7028"/>
              <a:gd name="T2" fmla="*/ 246 w 571"/>
              <a:gd name="T3" fmla="*/ 2716 h 7028"/>
              <a:gd name="T4" fmla="*/ 178 w 571"/>
              <a:gd name="T5" fmla="*/ 2816 h 7028"/>
              <a:gd name="T6" fmla="*/ 286 w 571"/>
              <a:gd name="T7" fmla="*/ 2924 h 7028"/>
              <a:gd name="T8" fmla="*/ 394 w 571"/>
              <a:gd name="T9" fmla="*/ 2816 h 7028"/>
              <a:gd name="T10" fmla="*/ 325 w 571"/>
              <a:gd name="T11" fmla="*/ 2716 h 7028"/>
              <a:gd name="T12" fmla="*/ 325 w 571"/>
              <a:gd name="T13" fmla="*/ 0 h 7028"/>
              <a:gd name="T14" fmla="*/ 246 w 571"/>
              <a:gd name="T15" fmla="*/ 0 h 7028"/>
              <a:gd name="T16" fmla="*/ 0 w 571"/>
              <a:gd name="T17" fmla="*/ 3749 h 7028"/>
              <a:gd name="T18" fmla="*/ 571 w 571"/>
              <a:gd name="T19" fmla="*/ 3749 h 7028"/>
              <a:gd name="T20" fmla="*/ 571 w 571"/>
              <a:gd name="T21" fmla="*/ 3790 h 7028"/>
              <a:gd name="T22" fmla="*/ 0 w 571"/>
              <a:gd name="T23" fmla="*/ 3790 h 7028"/>
              <a:gd name="T24" fmla="*/ 0 w 571"/>
              <a:gd name="T25" fmla="*/ 3749 h 7028"/>
              <a:gd name="T26" fmla="*/ 0 w 571"/>
              <a:gd name="T27" fmla="*/ 3323 h 7028"/>
              <a:gd name="T28" fmla="*/ 0 w 571"/>
              <a:gd name="T29" fmla="*/ 3323 h 7028"/>
              <a:gd name="T30" fmla="*/ 0 w 571"/>
              <a:gd name="T31" fmla="*/ 3323 h 7028"/>
              <a:gd name="T32" fmla="*/ 286 w 571"/>
              <a:gd name="T33" fmla="*/ 3037 h 7028"/>
              <a:gd name="T34" fmla="*/ 571 w 571"/>
              <a:gd name="T35" fmla="*/ 3323 h 7028"/>
              <a:gd name="T36" fmla="*/ 571 w 571"/>
              <a:gd name="T37" fmla="*/ 3323 h 7028"/>
              <a:gd name="T38" fmla="*/ 571 w 571"/>
              <a:gd name="T39" fmla="*/ 3323 h 7028"/>
              <a:gd name="T40" fmla="*/ 571 w 571"/>
              <a:gd name="T41" fmla="*/ 3683 h 7028"/>
              <a:gd name="T42" fmla="*/ 0 w 571"/>
              <a:gd name="T43" fmla="*/ 3683 h 7028"/>
              <a:gd name="T44" fmla="*/ 0 w 571"/>
              <a:gd name="T45" fmla="*/ 3323 h 7028"/>
              <a:gd name="T46" fmla="*/ 37 w 571"/>
              <a:gd name="T47" fmla="*/ 3885 h 7028"/>
              <a:gd name="T48" fmla="*/ 0 w 571"/>
              <a:gd name="T49" fmla="*/ 3885 h 7028"/>
              <a:gd name="T50" fmla="*/ 0 w 571"/>
              <a:gd name="T51" fmla="*/ 7028 h 7028"/>
              <a:gd name="T52" fmla="*/ 37 w 571"/>
              <a:gd name="T53" fmla="*/ 7028 h 7028"/>
              <a:gd name="T54" fmla="*/ 37 w 571"/>
              <a:gd name="T55" fmla="*/ 3885 h 7028"/>
              <a:gd name="T56" fmla="*/ 126 w 571"/>
              <a:gd name="T57" fmla="*/ 3885 h 7028"/>
              <a:gd name="T58" fmla="*/ 89 w 571"/>
              <a:gd name="T59" fmla="*/ 3885 h 7028"/>
              <a:gd name="T60" fmla="*/ 89 w 571"/>
              <a:gd name="T61" fmla="*/ 7028 h 7028"/>
              <a:gd name="T62" fmla="*/ 126 w 571"/>
              <a:gd name="T63" fmla="*/ 7028 h 7028"/>
              <a:gd name="T64" fmla="*/ 126 w 571"/>
              <a:gd name="T65" fmla="*/ 3885 h 7028"/>
              <a:gd name="T66" fmla="*/ 215 w 571"/>
              <a:gd name="T67" fmla="*/ 3885 h 7028"/>
              <a:gd name="T68" fmla="*/ 178 w 571"/>
              <a:gd name="T69" fmla="*/ 3885 h 7028"/>
              <a:gd name="T70" fmla="*/ 178 w 571"/>
              <a:gd name="T71" fmla="*/ 7028 h 7028"/>
              <a:gd name="T72" fmla="*/ 215 w 571"/>
              <a:gd name="T73" fmla="*/ 7028 h 7028"/>
              <a:gd name="T74" fmla="*/ 215 w 571"/>
              <a:gd name="T75" fmla="*/ 3885 h 7028"/>
              <a:gd name="T76" fmla="*/ 304 w 571"/>
              <a:gd name="T77" fmla="*/ 3885 h 7028"/>
              <a:gd name="T78" fmla="*/ 267 w 571"/>
              <a:gd name="T79" fmla="*/ 3885 h 7028"/>
              <a:gd name="T80" fmla="*/ 267 w 571"/>
              <a:gd name="T81" fmla="*/ 7028 h 7028"/>
              <a:gd name="T82" fmla="*/ 304 w 571"/>
              <a:gd name="T83" fmla="*/ 7028 h 7028"/>
              <a:gd name="T84" fmla="*/ 304 w 571"/>
              <a:gd name="T85" fmla="*/ 3885 h 7028"/>
              <a:gd name="T86" fmla="*/ 393 w 571"/>
              <a:gd name="T87" fmla="*/ 3885 h 7028"/>
              <a:gd name="T88" fmla="*/ 356 w 571"/>
              <a:gd name="T89" fmla="*/ 3885 h 7028"/>
              <a:gd name="T90" fmla="*/ 356 w 571"/>
              <a:gd name="T91" fmla="*/ 7028 h 7028"/>
              <a:gd name="T92" fmla="*/ 393 w 571"/>
              <a:gd name="T93" fmla="*/ 7028 h 7028"/>
              <a:gd name="T94" fmla="*/ 393 w 571"/>
              <a:gd name="T95" fmla="*/ 3885 h 7028"/>
              <a:gd name="T96" fmla="*/ 482 w 571"/>
              <a:gd name="T97" fmla="*/ 3885 h 7028"/>
              <a:gd name="T98" fmla="*/ 445 w 571"/>
              <a:gd name="T99" fmla="*/ 3885 h 7028"/>
              <a:gd name="T100" fmla="*/ 445 w 571"/>
              <a:gd name="T101" fmla="*/ 7028 h 7028"/>
              <a:gd name="T102" fmla="*/ 482 w 571"/>
              <a:gd name="T103" fmla="*/ 7028 h 7028"/>
              <a:gd name="T104" fmla="*/ 482 w 571"/>
              <a:gd name="T105" fmla="*/ 3885 h 7028"/>
              <a:gd name="T106" fmla="*/ 571 w 571"/>
              <a:gd name="T107" fmla="*/ 3885 h 7028"/>
              <a:gd name="T108" fmla="*/ 534 w 571"/>
              <a:gd name="T109" fmla="*/ 3885 h 7028"/>
              <a:gd name="T110" fmla="*/ 534 w 571"/>
              <a:gd name="T111" fmla="*/ 7028 h 7028"/>
              <a:gd name="T112" fmla="*/ 571 w 571"/>
              <a:gd name="T113" fmla="*/ 7028 h 7028"/>
              <a:gd name="T114" fmla="*/ 571 w 571"/>
              <a:gd name="T115" fmla="*/ 3885 h 7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1" h="7028">
                <a:moveTo>
                  <a:pt x="246" y="0"/>
                </a:moveTo>
                <a:lnTo>
                  <a:pt x="246" y="2716"/>
                </a:lnTo>
                <a:cubicBezTo>
                  <a:pt x="206" y="2731"/>
                  <a:pt x="178" y="2770"/>
                  <a:pt x="178" y="2816"/>
                </a:cubicBezTo>
                <a:cubicBezTo>
                  <a:pt x="178" y="2876"/>
                  <a:pt x="226" y="2924"/>
                  <a:pt x="286" y="2924"/>
                </a:cubicBezTo>
                <a:cubicBezTo>
                  <a:pt x="345" y="2924"/>
                  <a:pt x="394" y="2876"/>
                  <a:pt x="394" y="2816"/>
                </a:cubicBezTo>
                <a:cubicBezTo>
                  <a:pt x="394" y="2770"/>
                  <a:pt x="365" y="2731"/>
                  <a:pt x="325" y="2716"/>
                </a:cubicBezTo>
                <a:lnTo>
                  <a:pt x="325" y="0"/>
                </a:lnTo>
                <a:lnTo>
                  <a:pt x="246" y="0"/>
                </a:lnTo>
                <a:close/>
                <a:moveTo>
                  <a:pt x="0" y="3749"/>
                </a:moveTo>
                <a:lnTo>
                  <a:pt x="571" y="3749"/>
                </a:lnTo>
                <a:lnTo>
                  <a:pt x="571" y="3790"/>
                </a:lnTo>
                <a:lnTo>
                  <a:pt x="0" y="3790"/>
                </a:lnTo>
                <a:lnTo>
                  <a:pt x="0" y="3749"/>
                </a:lnTo>
                <a:close/>
                <a:moveTo>
                  <a:pt x="0" y="3323"/>
                </a:moveTo>
                <a:lnTo>
                  <a:pt x="0" y="3323"/>
                </a:lnTo>
                <a:lnTo>
                  <a:pt x="0" y="3323"/>
                </a:lnTo>
                <a:cubicBezTo>
                  <a:pt x="0" y="3165"/>
                  <a:pt x="128" y="3037"/>
                  <a:pt x="286" y="3037"/>
                </a:cubicBezTo>
                <a:cubicBezTo>
                  <a:pt x="443" y="3037"/>
                  <a:pt x="571" y="3165"/>
                  <a:pt x="571" y="3323"/>
                </a:cubicBezTo>
                <a:lnTo>
                  <a:pt x="571" y="3323"/>
                </a:lnTo>
                <a:lnTo>
                  <a:pt x="571" y="3323"/>
                </a:lnTo>
                <a:lnTo>
                  <a:pt x="571" y="3683"/>
                </a:lnTo>
                <a:lnTo>
                  <a:pt x="0" y="3683"/>
                </a:lnTo>
                <a:lnTo>
                  <a:pt x="0" y="3323"/>
                </a:lnTo>
                <a:close/>
                <a:moveTo>
                  <a:pt x="37" y="3885"/>
                </a:moveTo>
                <a:lnTo>
                  <a:pt x="0" y="3885"/>
                </a:lnTo>
                <a:lnTo>
                  <a:pt x="0" y="7028"/>
                </a:lnTo>
                <a:lnTo>
                  <a:pt x="37" y="7028"/>
                </a:lnTo>
                <a:lnTo>
                  <a:pt x="37" y="3885"/>
                </a:lnTo>
                <a:close/>
                <a:moveTo>
                  <a:pt x="126" y="3885"/>
                </a:moveTo>
                <a:lnTo>
                  <a:pt x="89" y="3885"/>
                </a:lnTo>
                <a:lnTo>
                  <a:pt x="89" y="7028"/>
                </a:lnTo>
                <a:lnTo>
                  <a:pt x="126" y="7028"/>
                </a:lnTo>
                <a:lnTo>
                  <a:pt x="126" y="3885"/>
                </a:lnTo>
                <a:close/>
                <a:moveTo>
                  <a:pt x="215" y="3885"/>
                </a:moveTo>
                <a:lnTo>
                  <a:pt x="178" y="3885"/>
                </a:lnTo>
                <a:lnTo>
                  <a:pt x="178" y="7028"/>
                </a:lnTo>
                <a:lnTo>
                  <a:pt x="215" y="7028"/>
                </a:lnTo>
                <a:lnTo>
                  <a:pt x="215" y="3885"/>
                </a:lnTo>
                <a:close/>
                <a:moveTo>
                  <a:pt x="304" y="3885"/>
                </a:moveTo>
                <a:lnTo>
                  <a:pt x="267" y="3885"/>
                </a:lnTo>
                <a:lnTo>
                  <a:pt x="267" y="7028"/>
                </a:lnTo>
                <a:lnTo>
                  <a:pt x="304" y="7028"/>
                </a:lnTo>
                <a:lnTo>
                  <a:pt x="304" y="3885"/>
                </a:lnTo>
                <a:close/>
                <a:moveTo>
                  <a:pt x="393" y="3885"/>
                </a:moveTo>
                <a:lnTo>
                  <a:pt x="356" y="3885"/>
                </a:lnTo>
                <a:lnTo>
                  <a:pt x="356" y="7028"/>
                </a:lnTo>
                <a:lnTo>
                  <a:pt x="393" y="7028"/>
                </a:lnTo>
                <a:lnTo>
                  <a:pt x="393" y="3885"/>
                </a:lnTo>
                <a:close/>
                <a:moveTo>
                  <a:pt x="482" y="3885"/>
                </a:moveTo>
                <a:lnTo>
                  <a:pt x="445" y="3885"/>
                </a:lnTo>
                <a:lnTo>
                  <a:pt x="445" y="7028"/>
                </a:lnTo>
                <a:lnTo>
                  <a:pt x="482" y="7028"/>
                </a:lnTo>
                <a:lnTo>
                  <a:pt x="482" y="3885"/>
                </a:lnTo>
                <a:close/>
                <a:moveTo>
                  <a:pt x="571" y="3885"/>
                </a:moveTo>
                <a:lnTo>
                  <a:pt x="534" y="3885"/>
                </a:lnTo>
                <a:lnTo>
                  <a:pt x="534" y="7028"/>
                </a:lnTo>
                <a:lnTo>
                  <a:pt x="571" y="7028"/>
                </a:lnTo>
                <a:lnTo>
                  <a:pt x="571" y="388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2" name="组合 1">
            <a:extLst>
              <a:ext uri="{FF2B5EF4-FFF2-40B4-BE49-F238E27FC236}">
                <a16:creationId xmlns:a16="http://schemas.microsoft.com/office/drawing/2014/main" id="{AF32C28F-DCB7-4072-9C18-D518B48B8669}"/>
              </a:ext>
            </a:extLst>
          </p:cNvPr>
          <p:cNvGrpSpPr/>
          <p:nvPr/>
        </p:nvGrpSpPr>
        <p:grpSpPr>
          <a:xfrm>
            <a:off x="4120527" y="2571750"/>
            <a:ext cx="1664558" cy="603336"/>
            <a:chOff x="3975241" y="3217380"/>
            <a:chExt cx="1664558" cy="603336"/>
          </a:xfrm>
        </p:grpSpPr>
        <p:sp>
          <p:nvSpPr>
            <p:cNvPr id="20" name="TextBox 5"/>
            <p:cNvSpPr txBox="1"/>
            <p:nvPr/>
          </p:nvSpPr>
          <p:spPr>
            <a:xfrm>
              <a:off x="3975241" y="3536023"/>
              <a:ext cx="1664558" cy="284693"/>
            </a:xfrm>
            <a:prstGeom prst="rect">
              <a:avLst/>
            </a:prstGeom>
            <a:noFill/>
          </p:spPr>
          <p:txBody>
            <a:bodyPr wrap="none" lIns="68580" tIns="34290" rIns="68580" bIns="34290" rtlCol="0">
              <a:spAutoFit/>
            </a:bodyPr>
            <a:lstStyle/>
            <a:p>
              <a:r>
                <a:rPr lang="zh-CN" altLang="en-US" b="1">
                  <a:solidFill>
                    <a:schemeClr val="bg1"/>
                  </a:solidFill>
                  <a:latin typeface="宋体" panose="02010600030101010101" pitchFamily="2" charset="-122"/>
                  <a:ea typeface="宋体" panose="02010600030101010101" pitchFamily="2" charset="-122"/>
                  <a:cs typeface="微软雅黑"/>
                </a:rPr>
                <a:t>导   师：王华教授</a:t>
              </a:r>
              <a:endParaRPr lang="zh-CN" altLang="en-US" b="1" dirty="0">
                <a:solidFill>
                  <a:schemeClr val="bg1"/>
                </a:solidFill>
                <a:latin typeface="宋体" panose="02010600030101010101" pitchFamily="2" charset="-122"/>
                <a:ea typeface="宋体" panose="02010600030101010101" pitchFamily="2" charset="-122"/>
                <a:cs typeface="微软雅黑"/>
              </a:endParaRPr>
            </a:p>
          </p:txBody>
        </p:sp>
        <p:sp>
          <p:nvSpPr>
            <p:cNvPr id="22" name="矩形 21"/>
            <p:cNvSpPr/>
            <p:nvPr/>
          </p:nvSpPr>
          <p:spPr>
            <a:xfrm>
              <a:off x="4056308" y="3217380"/>
              <a:ext cx="1436646" cy="284693"/>
            </a:xfrm>
            <a:prstGeom prst="rect">
              <a:avLst/>
            </a:prstGeom>
          </p:spPr>
          <p:txBody>
            <a:bodyPr wrap="square" lIns="68580" tIns="34290" rIns="68580" bIns="34290">
              <a:spAutoFit/>
            </a:bodyPr>
            <a:lstStyle/>
            <a:p>
              <a:r>
                <a:rPr kumimoji="1" lang="zh-CN" altLang="en-US" b="1" dirty="0">
                  <a:solidFill>
                    <a:schemeClr val="bg1"/>
                  </a:solidFill>
                  <a:latin typeface="宋体" panose="02010600030101010101" pitchFamily="2" charset="-122"/>
                  <a:ea typeface="宋体" panose="02010600030101010101" pitchFamily="2" charset="-122"/>
                  <a:cs typeface="微软雅黑"/>
                </a:rPr>
                <a:t>答辩人：肖俊</a:t>
              </a:r>
              <a:endParaRPr lang="zh-CN" altLang="en-US" b="1" dirty="0">
                <a:solidFill>
                  <a:schemeClr val="bg1"/>
                </a:solidFill>
                <a:latin typeface="宋体" panose="02010600030101010101" pitchFamily="2" charset="-122"/>
                <a:ea typeface="宋体" panose="02010600030101010101" pitchFamily="2" charset="-122"/>
                <a:cs typeface="微软雅黑"/>
              </a:endParaRPr>
            </a:p>
          </p:txBody>
        </p:sp>
      </p:grpSp>
      <p:pic>
        <p:nvPicPr>
          <p:cNvPr id="13" name="图片 12">
            <a:extLst>
              <a:ext uri="{FF2B5EF4-FFF2-40B4-BE49-F238E27FC236}">
                <a16:creationId xmlns:a16="http://schemas.microsoft.com/office/drawing/2014/main" id="{EADB2130-BA9D-4B15-A891-8DB77DECE8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2467" y="0"/>
            <a:ext cx="1475484" cy="1464133"/>
          </a:xfrm>
          <a:prstGeom prst="ellipse">
            <a:avLst/>
          </a:prstGeom>
        </p:spPr>
      </p:pic>
      <p:sp>
        <p:nvSpPr>
          <p:cNvPr id="16" name="Freeform 5">
            <a:extLst>
              <a:ext uri="{FF2B5EF4-FFF2-40B4-BE49-F238E27FC236}">
                <a16:creationId xmlns:a16="http://schemas.microsoft.com/office/drawing/2014/main" id="{51EC83B3-7E8A-492E-8BEB-633532CCC1F6}"/>
              </a:ext>
            </a:extLst>
          </p:cNvPr>
          <p:cNvSpPr>
            <a:spLocks noEditPoints="1"/>
          </p:cNvSpPr>
          <p:nvPr/>
        </p:nvSpPr>
        <p:spPr bwMode="auto">
          <a:xfrm>
            <a:off x="29729" y="3307098"/>
            <a:ext cx="555624" cy="489479"/>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15589766"/>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第一PPT，www.1ppt.com">
  <a:themeElements>
    <a:clrScheme name="自定义 95">
      <a:dk1>
        <a:sysClr val="windowText" lastClr="000000"/>
      </a:dk1>
      <a:lt1>
        <a:sysClr val="window" lastClr="FFFFFF"/>
      </a:lt1>
      <a:dk2>
        <a:srgbClr val="3F3F3F"/>
      </a:dk2>
      <a:lt2>
        <a:srgbClr val="E3DED1"/>
      </a:lt2>
      <a:accent1>
        <a:srgbClr val="071F65"/>
      </a:accent1>
      <a:accent2>
        <a:srgbClr val="7F7F7F"/>
      </a:accent2>
      <a:accent3>
        <a:srgbClr val="414456"/>
      </a:accent3>
      <a:accent4>
        <a:srgbClr val="444455"/>
      </a:accent4>
      <a:accent5>
        <a:srgbClr val="444455"/>
      </a:accent5>
      <a:accent6>
        <a:srgbClr val="7F7F7F"/>
      </a:accent6>
      <a:hlink>
        <a:srgbClr val="002060"/>
      </a:hlink>
      <a:folHlink>
        <a:srgbClr val="B26B02"/>
      </a:folHlink>
    </a:clrScheme>
    <a:fontScheme name="自定义 1">
      <a:majorFont>
        <a:latin typeface="Arial Black"/>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ct val="130000"/>
          </a:lnSpc>
          <a:defRPr dirty="0" smtClean="0">
            <a:latin typeface="Times New Roman" panose="02020603050405020304" pitchFamily="18" charset="0"/>
            <a:ea typeface="宋体" panose="02010600030101010101" pitchFamily="2"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A000120140627A33KPBG</Template>
  <TotalTime>25283</TotalTime>
  <Words>2232</Words>
  <Application>Microsoft Office PowerPoint</Application>
  <PresentationFormat>全屏显示(16:9)</PresentationFormat>
  <Paragraphs>184</Paragraphs>
  <Slides>16</Slides>
  <Notes>11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宋体</vt:lpstr>
      <vt:lpstr>幼圆</vt:lpstr>
      <vt:lpstr>微软雅黑</vt:lpstr>
      <vt:lpstr>Arial</vt:lpstr>
      <vt:lpstr>Arial Black</vt:lpstr>
      <vt:lpstr>Calibri</vt:lpstr>
      <vt:lpstr>Times New Roman</vt:lpstr>
      <vt:lpstr>Times New Roman Bold</vt:lpstr>
      <vt:lpstr>Verdana</vt:lpstr>
      <vt:lpstr>Wingdings 2</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蓝色实用开题报告</dc:title>
  <dc:creator>第一PPT</dc:creator>
  <cp:keywords>www.1ppt.com</cp:keywords>
  <dc:description>www.1ppt.com</dc:description>
  <cp:lastModifiedBy>Jun Xiao</cp:lastModifiedBy>
  <cp:revision>796</cp:revision>
  <dcterms:created xsi:type="dcterms:W3CDTF">2014-06-03T07:56:23Z</dcterms:created>
  <dcterms:modified xsi:type="dcterms:W3CDTF">2025-11-25T12:35:22Z</dcterms:modified>
</cp:coreProperties>
</file>